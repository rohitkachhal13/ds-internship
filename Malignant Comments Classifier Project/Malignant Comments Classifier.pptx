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7" r:id="rId2"/>
    <p:sldId id="256" r:id="rId3"/>
    <p:sldId id="279" r:id="rId4"/>
    <p:sldId id="276" r:id="rId5"/>
    <p:sldId id="257" r:id="rId6"/>
    <p:sldId id="258" r:id="rId7"/>
    <p:sldId id="262" r:id="rId8"/>
    <p:sldId id="286" r:id="rId9"/>
    <p:sldId id="287" r:id="rId10"/>
    <p:sldId id="288" r:id="rId11"/>
    <p:sldId id="289" r:id="rId12"/>
    <p:sldId id="293" r:id="rId13"/>
    <p:sldId id="292" r:id="rId14"/>
    <p:sldId id="290" r:id="rId15"/>
    <p:sldId id="291" r:id="rId16"/>
    <p:sldId id="294" r:id="rId17"/>
    <p:sldId id="295" r:id="rId18"/>
    <p:sldId id="27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91"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10-Apr-22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10-Apr-22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10-Apr-22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10-Apr-22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10-Apr-22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10-Apr-22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10-Apr-22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10-Apr-22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10-Apr-22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10-Apr-22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10-Apr-22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10-Apr-22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10-Apr-22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10-Apr-22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10-Apr-22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10-Apr-22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10-Apr-22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10-Apr-22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CC65F2B-0827-4778-9267-CC640BF8A202}"/>
              </a:ext>
            </a:extLst>
          </p:cNvPr>
          <p:cNvSpPr txBox="1"/>
          <p:nvPr/>
        </p:nvSpPr>
        <p:spPr>
          <a:xfrm>
            <a:off x="470325" y="3878159"/>
            <a:ext cx="11251349" cy="1200329"/>
          </a:xfrm>
          <a:prstGeom prst="rect">
            <a:avLst/>
          </a:prstGeom>
          <a:noFill/>
        </p:spPr>
        <p:txBody>
          <a:bodyPr wrap="square" rtlCol="0">
            <a:spAutoFit/>
          </a:bodyPr>
          <a:lstStyle/>
          <a:p>
            <a:pPr algn="ctr"/>
            <a:r>
              <a:rPr lang="en-IN" sz="3600" b="1" i="1" u="sng" dirty="0">
                <a:solidFill>
                  <a:schemeClr val="bg1"/>
                </a:solidFill>
                <a:latin typeface="Comic Sans MS" panose="030F0702030302020204" pitchFamily="66" charset="0"/>
              </a:rPr>
              <a:t>Malignant Comments                        Classifier</a:t>
            </a:r>
            <a:endParaRPr lang="en-US" sz="3600" b="1" i="1" u="sng" dirty="0">
              <a:solidFill>
                <a:schemeClr val="bg1"/>
              </a:solidFill>
              <a:latin typeface="Comic Sans MS" panose="030F0702030302020204" pitchFamily="66" charset="0"/>
            </a:endParaRPr>
          </a:p>
        </p:txBody>
      </p:sp>
      <p:pic>
        <p:nvPicPr>
          <p:cNvPr id="4" name="Picture 3">
            <a:extLst>
              <a:ext uri="{FF2B5EF4-FFF2-40B4-BE49-F238E27FC236}">
                <a16:creationId xmlns:a16="http://schemas.microsoft.com/office/drawing/2014/main" id="{FADF5D5E-42D2-41ED-8510-DC54DF520E88}"/>
              </a:ext>
            </a:extLst>
          </p:cNvPr>
          <p:cNvPicPr>
            <a:picLocks noChangeAspect="1"/>
          </p:cNvPicPr>
          <p:nvPr/>
        </p:nvPicPr>
        <p:blipFill>
          <a:blip r:embed="rId2"/>
          <a:stretch>
            <a:fillRect/>
          </a:stretch>
        </p:blipFill>
        <p:spPr>
          <a:xfrm>
            <a:off x="4015409" y="848138"/>
            <a:ext cx="4174434" cy="3030021"/>
          </a:xfrm>
          <a:prstGeom prst="rect">
            <a:avLst/>
          </a:prstGeom>
        </p:spPr>
      </p:pic>
    </p:spTree>
    <p:extLst>
      <p:ext uri="{BB962C8B-B14F-4D97-AF65-F5344CB8AC3E}">
        <p14:creationId xmlns:p14="http://schemas.microsoft.com/office/powerpoint/2010/main" val="248985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609600" y="1536174"/>
            <a:ext cx="10972800" cy="4924425"/>
          </a:xfrm>
          <a:prstGeom prst="rect">
            <a:avLst/>
          </a:prstGeom>
          <a:noFill/>
        </p:spPr>
        <p:txBody>
          <a:bodyPr wrap="square" rtlCol="0">
            <a:spAutoFit/>
          </a:bodyPr>
          <a:lstStyle/>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The proliferation of social media enables people to express their opinions widely online. However, at the same time, this has resulted in the emergence of conflict and hate, making online environments uninviting for users. Although researchers have found that hate is a problem across multiple platforms, there is a lack of models for online hate detection.</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Online hate, described as abusive language, aggression, cyberbullying, hatefulness and many others has been identified as a major threat on online social media platforms. Social media platforms are the most prominent grounds for such toxic behaviour.</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There has been a remarkable increase in the cases of cyberbullying and trolls on various social media platforms. Many celebrities and influences are facing backlashes from people and have to come across hateful and offensive comments. This can take a toll on anyone and affect them mentally leading to depression, mental illness, self-hatred and suicidal thoughts.</a:t>
            </a:r>
          </a:p>
          <a:p>
            <a:pPr algn="r"/>
            <a:endParaRPr lang="en-IN" sz="2000" dirty="0">
              <a:solidFill>
                <a:schemeClr val="bg1"/>
              </a:solidFill>
              <a:latin typeface="Cooper Black" panose="0208090404030B020404" pitchFamily="18" charset="0"/>
            </a:endParaRPr>
          </a:p>
          <a:p>
            <a:pPr algn="r"/>
            <a:r>
              <a:rPr lang="en-IN" sz="1400" dirty="0">
                <a:solidFill>
                  <a:schemeClr val="bg1"/>
                </a:solidFill>
                <a:latin typeface="Cooper Black" panose="0208090404030B020404" pitchFamily="18" charset="0"/>
              </a:rPr>
              <a:t>Continued……………</a:t>
            </a:r>
          </a:p>
        </p:txBody>
      </p:sp>
      <p:sp>
        <p:nvSpPr>
          <p:cNvPr id="2" name="TextBox 1">
            <a:extLst>
              <a:ext uri="{FF2B5EF4-FFF2-40B4-BE49-F238E27FC236}">
                <a16:creationId xmlns:a16="http://schemas.microsoft.com/office/drawing/2014/main" id="{10B2EC31-14AB-4BDC-9434-9A1120EFBF68}"/>
              </a:ext>
            </a:extLst>
          </p:cNvPr>
          <p:cNvSpPr txBox="1"/>
          <p:nvPr/>
        </p:nvSpPr>
        <p:spPr>
          <a:xfrm>
            <a:off x="3670851" y="689113"/>
            <a:ext cx="4664766"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Problem Statement</a:t>
            </a:r>
          </a:p>
        </p:txBody>
      </p:sp>
    </p:spTree>
    <p:extLst>
      <p:ext uri="{BB962C8B-B14F-4D97-AF65-F5344CB8AC3E}">
        <p14:creationId xmlns:p14="http://schemas.microsoft.com/office/powerpoint/2010/main" val="168057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612648" y="1536192"/>
            <a:ext cx="10972800" cy="2862322"/>
          </a:xfrm>
          <a:prstGeom prst="rect">
            <a:avLst/>
          </a:prstGeom>
          <a:noFill/>
        </p:spPr>
        <p:txBody>
          <a:bodyPr wrap="square" rtlCol="0">
            <a:spAutoFit/>
          </a:bodyPr>
          <a:lstStyle/>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Internet comments are bastions of hatred and vitriol. While online anonymity has provided a new outlet for aggression and hate speech, machine learning can be used to fight it. The problem we sought to solve was the tagging of internet comments that are aggressive towards other users. This means that insults to third parties such as celebrities will be tagged as unoffensive, but “u are an idiot” is clearly offensive.</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Our goal is to build a prototype of online hate and abuse comment classifier which can used to classify hate and offensive comments so that it can be controlled and restricted from spreading hatred and cyberbullying.</a:t>
            </a:r>
          </a:p>
        </p:txBody>
      </p:sp>
    </p:spTree>
    <p:extLst>
      <p:ext uri="{BB962C8B-B14F-4D97-AF65-F5344CB8AC3E}">
        <p14:creationId xmlns:p14="http://schemas.microsoft.com/office/powerpoint/2010/main" val="3094263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35D087-26C0-4ABF-B1C9-499F78B02BBB}"/>
              </a:ext>
            </a:extLst>
          </p:cNvPr>
          <p:cNvSpPr txBox="1"/>
          <p:nvPr/>
        </p:nvSpPr>
        <p:spPr>
          <a:xfrm>
            <a:off x="612648" y="1536192"/>
            <a:ext cx="10972800" cy="3477875"/>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159571 rows and 8 columns in the train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6 column which are of int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2 columns which are of object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is no null value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‘Id’ contains id of each row which is not useful for model. So, drop it.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Now the trained dataset contains 159571 rows and 7 columns.</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153164 rows and 2 columns in the test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Both these columns are of object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is no null value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‘Id’ contains id of each row which is not useful for model. So, drop it.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Now the test dataset contains 153164 rows and 1 column.</a:t>
            </a:r>
          </a:p>
        </p:txBody>
      </p:sp>
      <p:sp>
        <p:nvSpPr>
          <p:cNvPr id="3" name="TextBox 2">
            <a:extLst>
              <a:ext uri="{FF2B5EF4-FFF2-40B4-BE49-F238E27FC236}">
                <a16:creationId xmlns:a16="http://schemas.microsoft.com/office/drawing/2014/main" id="{D46FCADB-A7A9-4916-A89B-435233D38131}"/>
              </a:ext>
            </a:extLst>
          </p:cNvPr>
          <p:cNvSpPr txBox="1"/>
          <p:nvPr/>
        </p:nvSpPr>
        <p:spPr>
          <a:xfrm>
            <a:off x="3749040"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About Dataset</a:t>
            </a:r>
            <a:endParaRPr lang="en-US" sz="2000" b="1" i="1" u="sng"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4273992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F53017-EE09-4E94-9328-740E511741D1}"/>
              </a:ext>
            </a:extLst>
          </p:cNvPr>
          <p:cNvSpPr txBox="1"/>
          <p:nvPr/>
        </p:nvSpPr>
        <p:spPr>
          <a:xfrm>
            <a:off x="3749040"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Exploratory Data Analysis</a:t>
            </a:r>
          </a:p>
        </p:txBody>
      </p:sp>
      <p:sp>
        <p:nvSpPr>
          <p:cNvPr id="7" name="TextBox 6">
            <a:extLst>
              <a:ext uri="{FF2B5EF4-FFF2-40B4-BE49-F238E27FC236}">
                <a16:creationId xmlns:a16="http://schemas.microsoft.com/office/drawing/2014/main" id="{31594385-502D-4552-9A19-2C768D54D27B}"/>
              </a:ext>
            </a:extLst>
          </p:cNvPr>
          <p:cNvSpPr txBox="1"/>
          <p:nvPr/>
        </p:nvSpPr>
        <p:spPr>
          <a:xfrm>
            <a:off x="536098" y="1332859"/>
            <a:ext cx="6976050" cy="461665"/>
          </a:xfrm>
          <a:prstGeom prst="rect">
            <a:avLst/>
          </a:prstGeom>
          <a:noFill/>
        </p:spPr>
        <p:txBody>
          <a:bodyPr wrap="square" rtlCol="0">
            <a:spAutoFit/>
          </a:bodyPr>
          <a:lstStyle/>
          <a:p>
            <a:r>
              <a:rPr lang="en-US" sz="2400" b="1" i="1" u="sng" dirty="0">
                <a:solidFill>
                  <a:schemeClr val="bg1"/>
                </a:solidFill>
                <a:latin typeface="Comic Sans MS" panose="030F0702030302020204" pitchFamily="66" charset="0"/>
              </a:rPr>
              <a:t>a).Univariate Analysis</a:t>
            </a:r>
            <a:r>
              <a:rPr lang="en-US" sz="2400" b="1" i="1" dirty="0">
                <a:solidFill>
                  <a:schemeClr val="bg1"/>
                </a:solidFill>
                <a:latin typeface="Comic Sans MS" panose="030F0702030302020204" pitchFamily="66" charset="0"/>
              </a:rPr>
              <a:t>:</a:t>
            </a:r>
          </a:p>
        </p:txBody>
      </p:sp>
      <p:pic>
        <p:nvPicPr>
          <p:cNvPr id="5" name="Picture 4">
            <a:extLst>
              <a:ext uri="{FF2B5EF4-FFF2-40B4-BE49-F238E27FC236}">
                <a16:creationId xmlns:a16="http://schemas.microsoft.com/office/drawing/2014/main" id="{0B0EE64B-5073-4210-9DDA-FF28D891BE10}"/>
              </a:ext>
            </a:extLst>
          </p:cNvPr>
          <p:cNvPicPr>
            <a:picLocks noChangeAspect="1"/>
          </p:cNvPicPr>
          <p:nvPr/>
        </p:nvPicPr>
        <p:blipFill>
          <a:blip r:embed="rId2"/>
          <a:stretch>
            <a:fillRect/>
          </a:stretch>
        </p:blipFill>
        <p:spPr>
          <a:xfrm>
            <a:off x="536098" y="1794524"/>
            <a:ext cx="11119804" cy="4540016"/>
          </a:xfrm>
          <a:prstGeom prst="rect">
            <a:avLst/>
          </a:prstGeom>
        </p:spPr>
      </p:pic>
    </p:spTree>
    <p:extLst>
      <p:ext uri="{BB962C8B-B14F-4D97-AF65-F5344CB8AC3E}">
        <p14:creationId xmlns:p14="http://schemas.microsoft.com/office/powerpoint/2010/main" val="767133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FAD42B4-C288-4AA1-B048-86C26609B5E2}"/>
              </a:ext>
            </a:extLst>
          </p:cNvPr>
          <p:cNvPicPr>
            <a:picLocks noChangeAspect="1"/>
          </p:cNvPicPr>
          <p:nvPr/>
        </p:nvPicPr>
        <p:blipFill>
          <a:blip r:embed="rId2"/>
          <a:stretch>
            <a:fillRect/>
          </a:stretch>
        </p:blipFill>
        <p:spPr>
          <a:xfrm>
            <a:off x="517989" y="1494669"/>
            <a:ext cx="5578011" cy="3365079"/>
          </a:xfrm>
          <a:prstGeom prst="rect">
            <a:avLst/>
          </a:prstGeom>
        </p:spPr>
      </p:pic>
      <p:pic>
        <p:nvPicPr>
          <p:cNvPr id="8" name="Picture 7">
            <a:extLst>
              <a:ext uri="{FF2B5EF4-FFF2-40B4-BE49-F238E27FC236}">
                <a16:creationId xmlns:a16="http://schemas.microsoft.com/office/drawing/2014/main" id="{997ACBD5-5B5A-43BA-95C7-84E3B1671A84}"/>
              </a:ext>
            </a:extLst>
          </p:cNvPr>
          <p:cNvPicPr>
            <a:picLocks noChangeAspect="1"/>
          </p:cNvPicPr>
          <p:nvPr/>
        </p:nvPicPr>
        <p:blipFill>
          <a:blip r:embed="rId3"/>
          <a:stretch>
            <a:fillRect/>
          </a:stretch>
        </p:blipFill>
        <p:spPr>
          <a:xfrm>
            <a:off x="6095999" y="1494668"/>
            <a:ext cx="5578011" cy="3365079"/>
          </a:xfrm>
          <a:prstGeom prst="rect">
            <a:avLst/>
          </a:prstGeom>
        </p:spPr>
      </p:pic>
    </p:spTree>
    <p:extLst>
      <p:ext uri="{BB962C8B-B14F-4D97-AF65-F5344CB8AC3E}">
        <p14:creationId xmlns:p14="http://schemas.microsoft.com/office/powerpoint/2010/main" val="3633412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B930DC-5B14-49F0-AC83-AF6BD57DF4E7}"/>
              </a:ext>
            </a:extLst>
          </p:cNvPr>
          <p:cNvSpPr txBox="1"/>
          <p:nvPr/>
        </p:nvSpPr>
        <p:spPr>
          <a:xfrm>
            <a:off x="3749039" y="685800"/>
            <a:ext cx="6154615"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Correlation matrix using Heatmap</a:t>
            </a:r>
          </a:p>
        </p:txBody>
      </p:sp>
      <p:pic>
        <p:nvPicPr>
          <p:cNvPr id="3" name="Picture 2">
            <a:extLst>
              <a:ext uri="{FF2B5EF4-FFF2-40B4-BE49-F238E27FC236}">
                <a16:creationId xmlns:a16="http://schemas.microsoft.com/office/drawing/2014/main" id="{4C1E05AA-2E4D-4EBF-868E-05ABC35A2305}"/>
              </a:ext>
            </a:extLst>
          </p:cNvPr>
          <p:cNvPicPr>
            <a:picLocks noChangeAspect="1"/>
          </p:cNvPicPr>
          <p:nvPr/>
        </p:nvPicPr>
        <p:blipFill>
          <a:blip r:embed="rId2"/>
          <a:stretch>
            <a:fillRect/>
          </a:stretch>
        </p:blipFill>
        <p:spPr>
          <a:xfrm>
            <a:off x="511777" y="1209020"/>
            <a:ext cx="11136884" cy="5138771"/>
          </a:xfrm>
          <a:prstGeom prst="rect">
            <a:avLst/>
          </a:prstGeom>
        </p:spPr>
      </p:pic>
    </p:spTree>
    <p:extLst>
      <p:ext uri="{BB962C8B-B14F-4D97-AF65-F5344CB8AC3E}">
        <p14:creationId xmlns:p14="http://schemas.microsoft.com/office/powerpoint/2010/main" val="1342785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2A0BAE-6939-4038-A9E6-80C833745D1E}"/>
              </a:ext>
            </a:extLst>
          </p:cNvPr>
          <p:cNvSpPr/>
          <p:nvPr/>
        </p:nvSpPr>
        <p:spPr>
          <a:xfrm>
            <a:off x="4476586" y="3691578"/>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Dealing with Outliers</a:t>
            </a:r>
          </a:p>
        </p:txBody>
      </p:sp>
      <p:sp>
        <p:nvSpPr>
          <p:cNvPr id="11" name="Rectangle 10">
            <a:extLst>
              <a:ext uri="{FF2B5EF4-FFF2-40B4-BE49-F238E27FC236}">
                <a16:creationId xmlns:a16="http://schemas.microsoft.com/office/drawing/2014/main" id="{5081BA6B-47E6-4CC3-A0B5-458C677FA04B}"/>
              </a:ext>
            </a:extLst>
          </p:cNvPr>
          <p:cNvSpPr/>
          <p:nvPr/>
        </p:nvSpPr>
        <p:spPr>
          <a:xfrm>
            <a:off x="4465983" y="4782312"/>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Dealing with Skewness</a:t>
            </a:r>
          </a:p>
        </p:txBody>
      </p:sp>
      <p:sp>
        <p:nvSpPr>
          <p:cNvPr id="12" name="Rectangle 11">
            <a:extLst>
              <a:ext uri="{FF2B5EF4-FFF2-40B4-BE49-F238E27FC236}">
                <a16:creationId xmlns:a16="http://schemas.microsoft.com/office/drawing/2014/main" id="{66074C3A-1E77-4F99-B91C-6EE620E69344}"/>
              </a:ext>
            </a:extLst>
          </p:cNvPr>
          <p:cNvSpPr/>
          <p:nvPr/>
        </p:nvSpPr>
        <p:spPr>
          <a:xfrm>
            <a:off x="4476586" y="1536191"/>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Data Processing</a:t>
            </a:r>
          </a:p>
        </p:txBody>
      </p:sp>
      <p:sp>
        <p:nvSpPr>
          <p:cNvPr id="13" name="Rectangle 12">
            <a:extLst>
              <a:ext uri="{FF2B5EF4-FFF2-40B4-BE49-F238E27FC236}">
                <a16:creationId xmlns:a16="http://schemas.microsoft.com/office/drawing/2014/main" id="{1EF8C724-6DA9-4C8C-8A07-57C13467CC92}"/>
              </a:ext>
            </a:extLst>
          </p:cNvPr>
          <p:cNvSpPr/>
          <p:nvPr/>
        </p:nvSpPr>
        <p:spPr>
          <a:xfrm>
            <a:off x="4465983" y="2626925"/>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Data Cleaning</a:t>
            </a:r>
          </a:p>
        </p:txBody>
      </p:sp>
      <p:cxnSp>
        <p:nvCxnSpPr>
          <p:cNvPr id="14" name="Straight Arrow Connector 13">
            <a:extLst>
              <a:ext uri="{FF2B5EF4-FFF2-40B4-BE49-F238E27FC236}">
                <a16:creationId xmlns:a16="http://schemas.microsoft.com/office/drawing/2014/main" id="{D7514CE0-3061-4B05-84EC-5606D5085901}"/>
              </a:ext>
            </a:extLst>
          </p:cNvPr>
          <p:cNvCxnSpPr>
            <a:stCxn id="4" idx="2"/>
            <a:endCxn id="11" idx="0"/>
          </p:cNvCxnSpPr>
          <p:nvPr/>
        </p:nvCxnSpPr>
        <p:spPr>
          <a:xfrm flipH="1">
            <a:off x="5857461" y="4340933"/>
            <a:ext cx="10603" cy="44137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BEEF51B-3FC1-486D-8A58-9D5231918164}"/>
              </a:ext>
            </a:extLst>
          </p:cNvPr>
          <p:cNvCxnSpPr/>
          <p:nvPr/>
        </p:nvCxnSpPr>
        <p:spPr>
          <a:xfrm>
            <a:off x="5862762" y="3263738"/>
            <a:ext cx="0" cy="4323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A1AE66A-0240-4394-8480-0C02F5DDDD7D}"/>
              </a:ext>
            </a:extLst>
          </p:cNvPr>
          <p:cNvCxnSpPr/>
          <p:nvPr/>
        </p:nvCxnSpPr>
        <p:spPr>
          <a:xfrm>
            <a:off x="5857461" y="4345446"/>
            <a:ext cx="0" cy="4323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CCD4738-8820-431B-909C-F05C92F8D0B4}"/>
              </a:ext>
            </a:extLst>
          </p:cNvPr>
          <p:cNvSpPr txBox="1"/>
          <p:nvPr/>
        </p:nvSpPr>
        <p:spPr>
          <a:xfrm>
            <a:off x="7490129" y="3691578"/>
            <a:ext cx="3670852" cy="276999"/>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Outliers are not present.</a:t>
            </a:r>
          </a:p>
        </p:txBody>
      </p:sp>
      <p:sp>
        <p:nvSpPr>
          <p:cNvPr id="24" name="TextBox 23">
            <a:extLst>
              <a:ext uri="{FF2B5EF4-FFF2-40B4-BE49-F238E27FC236}">
                <a16:creationId xmlns:a16="http://schemas.microsoft.com/office/drawing/2014/main" id="{2C7F4091-E587-4C4C-9F2C-1770C98C581D}"/>
              </a:ext>
            </a:extLst>
          </p:cNvPr>
          <p:cNvSpPr txBox="1"/>
          <p:nvPr/>
        </p:nvSpPr>
        <p:spPr>
          <a:xfrm>
            <a:off x="3749040"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Features Engineering</a:t>
            </a:r>
          </a:p>
        </p:txBody>
      </p:sp>
      <p:cxnSp>
        <p:nvCxnSpPr>
          <p:cNvPr id="19" name="Straight Arrow Connector 18">
            <a:extLst>
              <a:ext uri="{FF2B5EF4-FFF2-40B4-BE49-F238E27FC236}">
                <a16:creationId xmlns:a16="http://schemas.microsoft.com/office/drawing/2014/main" id="{67263E01-8856-471C-8E1E-664D8C08FAE2}"/>
              </a:ext>
            </a:extLst>
          </p:cNvPr>
          <p:cNvCxnSpPr/>
          <p:nvPr/>
        </p:nvCxnSpPr>
        <p:spPr>
          <a:xfrm>
            <a:off x="5800478" y="2194572"/>
            <a:ext cx="0" cy="4323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6AB97F4-B18B-4590-8031-060E72A7D059}"/>
              </a:ext>
            </a:extLst>
          </p:cNvPr>
          <p:cNvSpPr txBox="1"/>
          <p:nvPr/>
        </p:nvSpPr>
        <p:spPr>
          <a:xfrm>
            <a:off x="7490129" y="4777799"/>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Skewness is in categorical columns, so no need to worry about it.</a:t>
            </a:r>
          </a:p>
        </p:txBody>
      </p:sp>
    </p:spTree>
    <p:extLst>
      <p:ext uri="{BB962C8B-B14F-4D97-AF65-F5344CB8AC3E}">
        <p14:creationId xmlns:p14="http://schemas.microsoft.com/office/powerpoint/2010/main" val="293449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EEF448-B448-493F-BBBF-67682474F23C}"/>
              </a:ext>
            </a:extLst>
          </p:cNvPr>
          <p:cNvSpPr txBox="1"/>
          <p:nvPr/>
        </p:nvSpPr>
        <p:spPr>
          <a:xfrm>
            <a:off x="3666744"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Model Initiating</a:t>
            </a:r>
          </a:p>
        </p:txBody>
      </p:sp>
      <p:sp>
        <p:nvSpPr>
          <p:cNvPr id="4" name="Rectangle 3">
            <a:extLst>
              <a:ext uri="{FF2B5EF4-FFF2-40B4-BE49-F238E27FC236}">
                <a16:creationId xmlns:a16="http://schemas.microsoft.com/office/drawing/2014/main" id="{9A6AE0D5-2691-4560-B7CB-AEE17B3364BE}"/>
              </a:ext>
            </a:extLst>
          </p:cNvPr>
          <p:cNvSpPr/>
          <p:nvPr/>
        </p:nvSpPr>
        <p:spPr>
          <a:xfrm>
            <a:off x="4618382" y="1536192"/>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Find best Random State </a:t>
            </a:r>
          </a:p>
        </p:txBody>
      </p:sp>
      <p:sp>
        <p:nvSpPr>
          <p:cNvPr id="5" name="Rectangle 4">
            <a:extLst>
              <a:ext uri="{FF2B5EF4-FFF2-40B4-BE49-F238E27FC236}">
                <a16:creationId xmlns:a16="http://schemas.microsoft.com/office/drawing/2014/main" id="{B2476426-E32F-4BF3-A02A-5D91F2AD7ABA}"/>
              </a:ext>
            </a:extLst>
          </p:cNvPr>
          <p:cNvSpPr/>
          <p:nvPr/>
        </p:nvSpPr>
        <p:spPr>
          <a:xfrm>
            <a:off x="4604924" y="3196376"/>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Model Building</a:t>
            </a:r>
          </a:p>
        </p:txBody>
      </p:sp>
      <p:sp>
        <p:nvSpPr>
          <p:cNvPr id="6" name="Rectangle 5">
            <a:extLst>
              <a:ext uri="{FF2B5EF4-FFF2-40B4-BE49-F238E27FC236}">
                <a16:creationId xmlns:a16="http://schemas.microsoft.com/office/drawing/2014/main" id="{7195E926-8D40-494D-A8E3-EB19048A818C}"/>
              </a:ext>
            </a:extLst>
          </p:cNvPr>
          <p:cNvSpPr/>
          <p:nvPr/>
        </p:nvSpPr>
        <p:spPr>
          <a:xfrm>
            <a:off x="4604924" y="4026468"/>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Accuracy Score</a:t>
            </a:r>
          </a:p>
        </p:txBody>
      </p:sp>
      <p:sp>
        <p:nvSpPr>
          <p:cNvPr id="8" name="Rectangle 7">
            <a:extLst>
              <a:ext uri="{FF2B5EF4-FFF2-40B4-BE49-F238E27FC236}">
                <a16:creationId xmlns:a16="http://schemas.microsoft.com/office/drawing/2014/main" id="{132B6DF1-E61E-4918-B9E4-C3601BB9045F}"/>
              </a:ext>
            </a:extLst>
          </p:cNvPr>
          <p:cNvSpPr/>
          <p:nvPr/>
        </p:nvSpPr>
        <p:spPr>
          <a:xfrm>
            <a:off x="4604924" y="5679153"/>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ROC_AUC Curve </a:t>
            </a:r>
          </a:p>
          <a:p>
            <a:pPr algn="ctr"/>
            <a:r>
              <a:rPr lang="en-US" sz="1600" dirty="0">
                <a:solidFill>
                  <a:schemeClr val="bg1"/>
                </a:solidFill>
                <a:latin typeface="Cooper Black" panose="0208090404030B020404" pitchFamily="18" charset="0"/>
              </a:rPr>
              <a:t>&amp; Score</a:t>
            </a:r>
          </a:p>
        </p:txBody>
      </p:sp>
      <p:sp>
        <p:nvSpPr>
          <p:cNvPr id="9" name="Rectangle 8">
            <a:extLst>
              <a:ext uri="{FF2B5EF4-FFF2-40B4-BE49-F238E27FC236}">
                <a16:creationId xmlns:a16="http://schemas.microsoft.com/office/drawing/2014/main" id="{AFEAD6C1-2B13-48DA-95DA-3BF2E75BD258}"/>
              </a:ext>
            </a:extLst>
          </p:cNvPr>
          <p:cNvSpPr/>
          <p:nvPr/>
        </p:nvSpPr>
        <p:spPr>
          <a:xfrm>
            <a:off x="4604924" y="4858133"/>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Cross-Validation Score</a:t>
            </a:r>
          </a:p>
        </p:txBody>
      </p:sp>
      <p:sp>
        <p:nvSpPr>
          <p:cNvPr id="10" name="Rectangle 9">
            <a:extLst>
              <a:ext uri="{FF2B5EF4-FFF2-40B4-BE49-F238E27FC236}">
                <a16:creationId xmlns:a16="http://schemas.microsoft.com/office/drawing/2014/main" id="{8A01072B-4FBF-470F-8EF7-FE2896C53DBE}"/>
              </a:ext>
            </a:extLst>
          </p:cNvPr>
          <p:cNvSpPr/>
          <p:nvPr/>
        </p:nvSpPr>
        <p:spPr>
          <a:xfrm>
            <a:off x="4618382" y="2366284"/>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Split dataset using </a:t>
            </a:r>
            <a:r>
              <a:rPr lang="en-US" sz="1600" dirty="0" err="1">
                <a:solidFill>
                  <a:schemeClr val="bg1"/>
                </a:solidFill>
                <a:latin typeface="Cooper Black" panose="0208090404030B020404" pitchFamily="18" charset="0"/>
              </a:rPr>
              <a:t>Train_Test</a:t>
            </a:r>
            <a:r>
              <a:rPr lang="en-US" sz="1600" dirty="0">
                <a:solidFill>
                  <a:schemeClr val="bg1"/>
                </a:solidFill>
                <a:latin typeface="Cooper Black" panose="0208090404030B020404" pitchFamily="18" charset="0"/>
              </a:rPr>
              <a:t> Split</a:t>
            </a:r>
          </a:p>
        </p:txBody>
      </p:sp>
      <p:cxnSp>
        <p:nvCxnSpPr>
          <p:cNvPr id="11" name="Straight Arrow Connector 10">
            <a:extLst>
              <a:ext uri="{FF2B5EF4-FFF2-40B4-BE49-F238E27FC236}">
                <a16:creationId xmlns:a16="http://schemas.microsoft.com/office/drawing/2014/main" id="{EB3EB430-A950-4B33-B752-2A1E59A45B52}"/>
              </a:ext>
            </a:extLst>
          </p:cNvPr>
          <p:cNvCxnSpPr>
            <a:stCxn id="4" idx="2"/>
            <a:endCxn id="10" idx="0"/>
          </p:cNvCxnSpPr>
          <p:nvPr/>
        </p:nvCxnSpPr>
        <p:spPr>
          <a:xfrm>
            <a:off x="6009860" y="2039112"/>
            <a:ext cx="0" cy="3271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6F6D547-5796-41B3-90C9-7FC5D4FE1259}"/>
              </a:ext>
            </a:extLst>
          </p:cNvPr>
          <p:cNvCxnSpPr/>
          <p:nvPr/>
        </p:nvCxnSpPr>
        <p:spPr>
          <a:xfrm>
            <a:off x="5996402" y="2869204"/>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2AA16DD-827E-4E12-945A-88E1CC45842C}"/>
              </a:ext>
            </a:extLst>
          </p:cNvPr>
          <p:cNvCxnSpPr/>
          <p:nvPr/>
        </p:nvCxnSpPr>
        <p:spPr>
          <a:xfrm>
            <a:off x="5982075" y="3699296"/>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F1A9AD-FAE7-40A6-BEA7-95FAB56FF1EF}"/>
              </a:ext>
            </a:extLst>
          </p:cNvPr>
          <p:cNvCxnSpPr/>
          <p:nvPr/>
        </p:nvCxnSpPr>
        <p:spPr>
          <a:xfrm>
            <a:off x="5982075" y="4529388"/>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241DFAC-6648-4ED4-A8D0-E227FA2894F5}"/>
              </a:ext>
            </a:extLst>
          </p:cNvPr>
          <p:cNvCxnSpPr/>
          <p:nvPr/>
        </p:nvCxnSpPr>
        <p:spPr>
          <a:xfrm>
            <a:off x="6009860" y="5361053"/>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041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73F807-8ED2-45B3-9B00-5D6C79129FC6}"/>
              </a:ext>
            </a:extLst>
          </p:cNvPr>
          <p:cNvSpPr txBox="1"/>
          <p:nvPr/>
        </p:nvSpPr>
        <p:spPr>
          <a:xfrm>
            <a:off x="3749040"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Insights of all Models</a:t>
            </a:r>
          </a:p>
        </p:txBody>
      </p:sp>
      <p:sp>
        <p:nvSpPr>
          <p:cNvPr id="7" name="TextBox 6">
            <a:extLst>
              <a:ext uri="{FF2B5EF4-FFF2-40B4-BE49-F238E27FC236}">
                <a16:creationId xmlns:a16="http://schemas.microsoft.com/office/drawing/2014/main" id="{AD6C75DF-997A-4517-8755-E4882FCA1085}"/>
              </a:ext>
            </a:extLst>
          </p:cNvPr>
          <p:cNvSpPr txBox="1"/>
          <p:nvPr/>
        </p:nvSpPr>
        <p:spPr>
          <a:xfrm>
            <a:off x="9551963" y="5992837"/>
            <a:ext cx="2067951" cy="307777"/>
          </a:xfrm>
          <a:prstGeom prst="rect">
            <a:avLst/>
          </a:prstGeom>
          <a:noFill/>
        </p:spPr>
        <p:txBody>
          <a:bodyPr wrap="square" rtlCol="0">
            <a:spAutoFit/>
          </a:bodyPr>
          <a:lstStyle/>
          <a:p>
            <a:pPr algn="r"/>
            <a:r>
              <a:rPr lang="en-US" sz="1400" dirty="0">
                <a:solidFill>
                  <a:schemeClr val="bg1"/>
                </a:solidFill>
                <a:latin typeface="Cooper Black" panose="0208090404030B020404" pitchFamily="18" charset="0"/>
              </a:rPr>
              <a:t>Continued…………….</a:t>
            </a:r>
          </a:p>
        </p:txBody>
      </p:sp>
      <p:pic>
        <p:nvPicPr>
          <p:cNvPr id="5" name="Picture 4">
            <a:extLst>
              <a:ext uri="{FF2B5EF4-FFF2-40B4-BE49-F238E27FC236}">
                <a16:creationId xmlns:a16="http://schemas.microsoft.com/office/drawing/2014/main" id="{57079567-2A3E-455C-87D9-0839C9F09DD0}"/>
              </a:ext>
            </a:extLst>
          </p:cNvPr>
          <p:cNvPicPr>
            <a:picLocks noChangeAspect="1"/>
          </p:cNvPicPr>
          <p:nvPr/>
        </p:nvPicPr>
        <p:blipFill>
          <a:blip r:embed="rId2"/>
          <a:stretch>
            <a:fillRect/>
          </a:stretch>
        </p:blipFill>
        <p:spPr>
          <a:xfrm>
            <a:off x="1220596" y="1847629"/>
            <a:ext cx="4305561" cy="3426736"/>
          </a:xfrm>
          <a:prstGeom prst="rect">
            <a:avLst/>
          </a:prstGeom>
        </p:spPr>
      </p:pic>
      <p:pic>
        <p:nvPicPr>
          <p:cNvPr id="9" name="Picture 8">
            <a:extLst>
              <a:ext uri="{FF2B5EF4-FFF2-40B4-BE49-F238E27FC236}">
                <a16:creationId xmlns:a16="http://schemas.microsoft.com/office/drawing/2014/main" id="{825A4CD0-8D31-43B4-AF1D-28868563FF41}"/>
              </a:ext>
            </a:extLst>
          </p:cNvPr>
          <p:cNvPicPr>
            <a:picLocks noChangeAspect="1"/>
          </p:cNvPicPr>
          <p:nvPr/>
        </p:nvPicPr>
        <p:blipFill>
          <a:blip r:embed="rId3"/>
          <a:stretch>
            <a:fillRect/>
          </a:stretch>
        </p:blipFill>
        <p:spPr>
          <a:xfrm>
            <a:off x="6562460" y="1847629"/>
            <a:ext cx="4305561" cy="3426736"/>
          </a:xfrm>
          <a:prstGeom prst="rect">
            <a:avLst/>
          </a:prstGeom>
        </p:spPr>
      </p:pic>
    </p:spTree>
    <p:extLst>
      <p:ext uri="{BB962C8B-B14F-4D97-AF65-F5344CB8AC3E}">
        <p14:creationId xmlns:p14="http://schemas.microsoft.com/office/powerpoint/2010/main" val="2186807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18C09645-2FAA-4F27-9785-F6469C109E57}"/>
              </a:ext>
            </a:extLst>
          </p:cNvPr>
          <p:cNvSpPr txBox="1"/>
          <p:nvPr/>
        </p:nvSpPr>
        <p:spPr>
          <a:xfrm>
            <a:off x="9551963" y="5992837"/>
            <a:ext cx="2067951" cy="307777"/>
          </a:xfrm>
          <a:prstGeom prst="rect">
            <a:avLst/>
          </a:prstGeom>
          <a:noFill/>
        </p:spPr>
        <p:txBody>
          <a:bodyPr wrap="square" rtlCol="0">
            <a:spAutoFit/>
          </a:bodyPr>
          <a:lstStyle/>
          <a:p>
            <a:pPr algn="r"/>
            <a:r>
              <a:rPr lang="en-US" sz="1400" dirty="0">
                <a:solidFill>
                  <a:schemeClr val="bg1"/>
                </a:solidFill>
                <a:latin typeface="Cooper Black" panose="0208090404030B020404" pitchFamily="18" charset="0"/>
              </a:rPr>
              <a:t>Continued…………….</a:t>
            </a:r>
          </a:p>
        </p:txBody>
      </p:sp>
      <p:pic>
        <p:nvPicPr>
          <p:cNvPr id="3" name="Picture 2">
            <a:extLst>
              <a:ext uri="{FF2B5EF4-FFF2-40B4-BE49-F238E27FC236}">
                <a16:creationId xmlns:a16="http://schemas.microsoft.com/office/drawing/2014/main" id="{5506801C-2B75-4748-A4E9-0CD3D9DF1044}"/>
              </a:ext>
            </a:extLst>
          </p:cNvPr>
          <p:cNvPicPr>
            <a:picLocks noChangeAspect="1"/>
          </p:cNvPicPr>
          <p:nvPr/>
        </p:nvPicPr>
        <p:blipFill>
          <a:blip r:embed="rId2"/>
          <a:stretch>
            <a:fillRect/>
          </a:stretch>
        </p:blipFill>
        <p:spPr>
          <a:xfrm>
            <a:off x="1707201" y="1866682"/>
            <a:ext cx="4248826" cy="3513700"/>
          </a:xfrm>
          <a:prstGeom prst="rect">
            <a:avLst/>
          </a:prstGeom>
        </p:spPr>
      </p:pic>
      <p:pic>
        <p:nvPicPr>
          <p:cNvPr id="5" name="Picture 4">
            <a:extLst>
              <a:ext uri="{FF2B5EF4-FFF2-40B4-BE49-F238E27FC236}">
                <a16:creationId xmlns:a16="http://schemas.microsoft.com/office/drawing/2014/main" id="{081CF873-C640-4626-B4E3-A8915FC80FE1}"/>
              </a:ext>
            </a:extLst>
          </p:cNvPr>
          <p:cNvPicPr>
            <a:picLocks noChangeAspect="1"/>
          </p:cNvPicPr>
          <p:nvPr/>
        </p:nvPicPr>
        <p:blipFill>
          <a:blip r:embed="rId3"/>
          <a:stretch>
            <a:fillRect/>
          </a:stretch>
        </p:blipFill>
        <p:spPr>
          <a:xfrm>
            <a:off x="6665843" y="1866682"/>
            <a:ext cx="4248826" cy="3513701"/>
          </a:xfrm>
          <a:prstGeom prst="rect">
            <a:avLst/>
          </a:prstGeom>
        </p:spPr>
      </p:pic>
    </p:spTree>
    <p:extLst>
      <p:ext uri="{BB962C8B-B14F-4D97-AF65-F5344CB8AC3E}">
        <p14:creationId xmlns:p14="http://schemas.microsoft.com/office/powerpoint/2010/main" val="20886056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7FD6F71-C60E-4E1E-A3E9-64654CD53094}"/>
              </a:ext>
            </a:extLst>
          </p:cNvPr>
          <p:cNvSpPr txBox="1"/>
          <p:nvPr/>
        </p:nvSpPr>
        <p:spPr>
          <a:xfrm>
            <a:off x="9551963" y="5992837"/>
            <a:ext cx="2067951" cy="307777"/>
          </a:xfrm>
          <a:prstGeom prst="rect">
            <a:avLst/>
          </a:prstGeom>
          <a:noFill/>
        </p:spPr>
        <p:txBody>
          <a:bodyPr wrap="square" rtlCol="0">
            <a:spAutoFit/>
          </a:bodyPr>
          <a:lstStyle/>
          <a:p>
            <a:pPr algn="r"/>
            <a:r>
              <a:rPr lang="en-US" sz="1400" dirty="0">
                <a:solidFill>
                  <a:schemeClr val="bg1"/>
                </a:solidFill>
                <a:latin typeface="Cooper Black" panose="0208090404030B020404" pitchFamily="18" charset="0"/>
              </a:rPr>
              <a:t>Continued…………….</a:t>
            </a:r>
          </a:p>
        </p:txBody>
      </p:sp>
      <p:pic>
        <p:nvPicPr>
          <p:cNvPr id="3" name="Picture 2">
            <a:extLst>
              <a:ext uri="{FF2B5EF4-FFF2-40B4-BE49-F238E27FC236}">
                <a16:creationId xmlns:a16="http://schemas.microsoft.com/office/drawing/2014/main" id="{88C17942-DC0D-48AC-BF5A-F8D371279406}"/>
              </a:ext>
            </a:extLst>
          </p:cNvPr>
          <p:cNvPicPr>
            <a:picLocks noChangeAspect="1"/>
          </p:cNvPicPr>
          <p:nvPr/>
        </p:nvPicPr>
        <p:blipFill>
          <a:blip r:embed="rId2"/>
          <a:stretch>
            <a:fillRect/>
          </a:stretch>
        </p:blipFill>
        <p:spPr>
          <a:xfrm>
            <a:off x="1847174" y="1857155"/>
            <a:ext cx="4248826" cy="3390706"/>
          </a:xfrm>
          <a:prstGeom prst="rect">
            <a:avLst/>
          </a:prstGeom>
        </p:spPr>
      </p:pic>
      <p:pic>
        <p:nvPicPr>
          <p:cNvPr id="8" name="Picture 7">
            <a:extLst>
              <a:ext uri="{FF2B5EF4-FFF2-40B4-BE49-F238E27FC236}">
                <a16:creationId xmlns:a16="http://schemas.microsoft.com/office/drawing/2014/main" id="{4954E14A-FA0A-45B1-BC47-4FB99EB39EC0}"/>
              </a:ext>
            </a:extLst>
          </p:cNvPr>
          <p:cNvPicPr>
            <a:picLocks noChangeAspect="1"/>
          </p:cNvPicPr>
          <p:nvPr/>
        </p:nvPicPr>
        <p:blipFill>
          <a:blip r:embed="rId3"/>
          <a:stretch>
            <a:fillRect/>
          </a:stretch>
        </p:blipFill>
        <p:spPr>
          <a:xfrm>
            <a:off x="6591454" y="1847628"/>
            <a:ext cx="4321141" cy="3400233"/>
          </a:xfrm>
          <a:prstGeom prst="rect">
            <a:avLst/>
          </a:prstGeom>
        </p:spPr>
      </p:pic>
    </p:spTree>
    <p:extLst>
      <p:ext uri="{BB962C8B-B14F-4D97-AF65-F5344CB8AC3E}">
        <p14:creationId xmlns:p14="http://schemas.microsoft.com/office/powerpoint/2010/main" val="3228838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0952AD-8C37-490A-8DBE-549448EEFB1C}"/>
              </a:ext>
            </a:extLst>
          </p:cNvPr>
          <p:cNvPicPr>
            <a:picLocks noChangeAspect="1"/>
          </p:cNvPicPr>
          <p:nvPr/>
        </p:nvPicPr>
        <p:blipFill>
          <a:blip r:embed="rId2"/>
          <a:stretch>
            <a:fillRect/>
          </a:stretch>
        </p:blipFill>
        <p:spPr>
          <a:xfrm>
            <a:off x="2221960" y="1866681"/>
            <a:ext cx="4033065" cy="3420935"/>
          </a:xfrm>
          <a:prstGeom prst="rect">
            <a:avLst/>
          </a:prstGeom>
        </p:spPr>
      </p:pic>
    </p:spTree>
    <p:extLst>
      <p:ext uri="{BB962C8B-B14F-4D97-AF65-F5344CB8AC3E}">
        <p14:creationId xmlns:p14="http://schemas.microsoft.com/office/powerpoint/2010/main" val="3744105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27C49C-56A9-4CE9-A5FC-02DB7C20AD94}"/>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ROC AUC Curve</a:t>
            </a:r>
          </a:p>
        </p:txBody>
      </p:sp>
      <p:pic>
        <p:nvPicPr>
          <p:cNvPr id="6" name="Picture 5">
            <a:extLst>
              <a:ext uri="{FF2B5EF4-FFF2-40B4-BE49-F238E27FC236}">
                <a16:creationId xmlns:a16="http://schemas.microsoft.com/office/drawing/2014/main" id="{F5058529-A026-4114-81BB-303F9887F312}"/>
              </a:ext>
            </a:extLst>
          </p:cNvPr>
          <p:cNvPicPr>
            <a:picLocks noChangeAspect="1"/>
          </p:cNvPicPr>
          <p:nvPr/>
        </p:nvPicPr>
        <p:blipFill>
          <a:blip r:embed="rId2"/>
          <a:stretch>
            <a:fillRect/>
          </a:stretch>
        </p:blipFill>
        <p:spPr>
          <a:xfrm>
            <a:off x="2014330" y="1294492"/>
            <a:ext cx="7964556" cy="4695491"/>
          </a:xfrm>
          <a:prstGeom prst="rect">
            <a:avLst/>
          </a:prstGeom>
        </p:spPr>
      </p:pic>
    </p:spTree>
    <p:extLst>
      <p:ext uri="{BB962C8B-B14F-4D97-AF65-F5344CB8AC3E}">
        <p14:creationId xmlns:p14="http://schemas.microsoft.com/office/powerpoint/2010/main" val="2390296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05EFEA-7B53-4F21-BC26-2099BD24EB45}"/>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Scores of All Models</a:t>
            </a:r>
          </a:p>
        </p:txBody>
      </p:sp>
      <p:sp>
        <p:nvSpPr>
          <p:cNvPr id="2" name="TextBox 1">
            <a:extLst>
              <a:ext uri="{FF2B5EF4-FFF2-40B4-BE49-F238E27FC236}">
                <a16:creationId xmlns:a16="http://schemas.microsoft.com/office/drawing/2014/main" id="{669E1A47-61BD-4D25-8D56-BEA0D2466D59}"/>
              </a:ext>
            </a:extLst>
          </p:cNvPr>
          <p:cNvSpPr txBox="1"/>
          <p:nvPr/>
        </p:nvSpPr>
        <p:spPr>
          <a:xfrm>
            <a:off x="1616765" y="5049078"/>
            <a:ext cx="8481392" cy="1077218"/>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XGB Classifier and Decision Tree Classifier models are good. Based on accuracy, Decision Tree Classifier has better accuracy. The difference between accuracy and cross validation score, XGB Classifier has less difference. So final model on this dataset is XGB.</a:t>
            </a:r>
            <a:endParaRPr lang="en-US" sz="1600" dirty="0">
              <a:solidFill>
                <a:schemeClr val="bg1"/>
              </a:solidFill>
              <a:latin typeface="Cooper Black" panose="0208090404030B020404" pitchFamily="18" charset="0"/>
            </a:endParaRPr>
          </a:p>
        </p:txBody>
      </p:sp>
      <p:pic>
        <p:nvPicPr>
          <p:cNvPr id="6" name="Picture 5">
            <a:extLst>
              <a:ext uri="{FF2B5EF4-FFF2-40B4-BE49-F238E27FC236}">
                <a16:creationId xmlns:a16="http://schemas.microsoft.com/office/drawing/2014/main" id="{85C50231-25A8-4121-953B-B32FC5B910B5}"/>
              </a:ext>
            </a:extLst>
          </p:cNvPr>
          <p:cNvPicPr>
            <a:picLocks noChangeAspect="1"/>
          </p:cNvPicPr>
          <p:nvPr/>
        </p:nvPicPr>
        <p:blipFill>
          <a:blip r:embed="rId2"/>
          <a:stretch>
            <a:fillRect/>
          </a:stretch>
        </p:blipFill>
        <p:spPr>
          <a:xfrm>
            <a:off x="1828800" y="1783353"/>
            <a:ext cx="8825948" cy="2934421"/>
          </a:xfrm>
          <a:prstGeom prst="rect">
            <a:avLst/>
          </a:prstGeom>
        </p:spPr>
      </p:pic>
    </p:spTree>
    <p:extLst>
      <p:ext uri="{BB962C8B-B14F-4D97-AF65-F5344CB8AC3E}">
        <p14:creationId xmlns:p14="http://schemas.microsoft.com/office/powerpoint/2010/main" val="1042882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8B7515-0F66-4938-8417-4A0A6615872E}"/>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Hyperparameter Tuning</a:t>
            </a:r>
          </a:p>
        </p:txBody>
      </p:sp>
      <p:sp>
        <p:nvSpPr>
          <p:cNvPr id="2" name="TextBox 1">
            <a:extLst>
              <a:ext uri="{FF2B5EF4-FFF2-40B4-BE49-F238E27FC236}">
                <a16:creationId xmlns:a16="http://schemas.microsoft.com/office/drawing/2014/main" id="{7C15761B-72BA-4824-AEED-FB3A248E983C}"/>
              </a:ext>
            </a:extLst>
          </p:cNvPr>
          <p:cNvSpPr txBox="1"/>
          <p:nvPr/>
        </p:nvSpPr>
        <p:spPr>
          <a:xfrm>
            <a:off x="2796209" y="5208105"/>
            <a:ext cx="6400800" cy="830997"/>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After hyperparameter tuning, not able to improve performance.  So, default parameters are best parameters.</a:t>
            </a:r>
            <a:endParaRPr lang="en-US" sz="1600" dirty="0">
              <a:solidFill>
                <a:schemeClr val="bg1"/>
              </a:solidFill>
              <a:latin typeface="Cooper Black" panose="0208090404030B020404" pitchFamily="18" charset="0"/>
            </a:endParaRPr>
          </a:p>
        </p:txBody>
      </p:sp>
      <p:pic>
        <p:nvPicPr>
          <p:cNvPr id="6" name="Picture 5">
            <a:extLst>
              <a:ext uri="{FF2B5EF4-FFF2-40B4-BE49-F238E27FC236}">
                <a16:creationId xmlns:a16="http://schemas.microsoft.com/office/drawing/2014/main" id="{34DDBFD0-BAD8-4B24-B0EE-D0C258ADFF56}"/>
              </a:ext>
            </a:extLst>
          </p:cNvPr>
          <p:cNvPicPr>
            <a:picLocks noChangeAspect="1"/>
          </p:cNvPicPr>
          <p:nvPr/>
        </p:nvPicPr>
        <p:blipFill>
          <a:blip r:embed="rId2"/>
          <a:stretch>
            <a:fillRect/>
          </a:stretch>
        </p:blipFill>
        <p:spPr>
          <a:xfrm>
            <a:off x="1298713" y="1209020"/>
            <a:ext cx="9621077" cy="3905795"/>
          </a:xfrm>
          <a:prstGeom prst="rect">
            <a:avLst/>
          </a:prstGeom>
        </p:spPr>
      </p:pic>
    </p:spTree>
    <p:extLst>
      <p:ext uri="{BB962C8B-B14F-4D97-AF65-F5344CB8AC3E}">
        <p14:creationId xmlns:p14="http://schemas.microsoft.com/office/powerpoint/2010/main" val="33548282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A47F35-E022-4C78-9FA3-144D680DC022}"/>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Conclusion</a:t>
            </a:r>
          </a:p>
        </p:txBody>
      </p:sp>
      <p:sp>
        <p:nvSpPr>
          <p:cNvPr id="3" name="TextBox 2">
            <a:extLst>
              <a:ext uri="{FF2B5EF4-FFF2-40B4-BE49-F238E27FC236}">
                <a16:creationId xmlns:a16="http://schemas.microsoft.com/office/drawing/2014/main" id="{E9CA2B1B-97D4-4BEB-BFD8-9DCD8A3592EA}"/>
              </a:ext>
            </a:extLst>
          </p:cNvPr>
          <p:cNvSpPr txBox="1"/>
          <p:nvPr/>
        </p:nvSpPr>
        <p:spPr>
          <a:xfrm>
            <a:off x="1444487" y="1209020"/>
            <a:ext cx="9660835" cy="3785652"/>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This case study provide a great opportunity to take a study view about text processing. In this project, apart from build the model and analysis the data, I also tried to classified hate and offensive comments. By which world can easily controlled and restricted from spreading hatred and cyberbullying.</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Dataset is too interesting and from this I can understand whether the online comments are malignant or non malignant.</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Initially, data frame is created after dataset loading. Data processing and cleaning are performed to shape the dataset in correct format.</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Data cleaning is one of the most important steps to remove unrealistic values and unnecessary stop words. </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After cleaning the data, these data are used as input for seven different machine learning algorithms and also tried hyper parameter tuning for building a best model. After that, Based on the comparison of different metrics  I concluded that XGB classifier is best performing model with around 90% accuracy.</a:t>
            </a:r>
          </a:p>
          <a:p>
            <a:pPr marL="285750" indent="-285750">
              <a:buFont typeface="Wingdings" panose="05000000000000000000" pitchFamily="2" charset="2"/>
              <a:buChar char="Ø"/>
            </a:pPr>
            <a:endParaRPr lang="en-IN"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884978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B0D890-D711-4A36-AEE1-D18288C6FE79}"/>
              </a:ext>
            </a:extLst>
          </p:cNvPr>
          <p:cNvSpPr/>
          <p:nvPr/>
        </p:nvSpPr>
        <p:spPr>
          <a:xfrm>
            <a:off x="3139325" y="2967335"/>
            <a:ext cx="5913350" cy="923330"/>
          </a:xfrm>
          <a:prstGeom prst="rect">
            <a:avLst/>
          </a:prstGeom>
          <a:noFill/>
          <a:scene3d>
            <a:camera prst="isometricOffAxis1Right"/>
            <a:lightRig rig="threePt" dir="t"/>
          </a:scene3d>
        </p:spPr>
        <p:txBody>
          <a:bodyPr wrap="none" lIns="91440" tIns="45720" rIns="91440" bIns="45720">
            <a:spAutoFit/>
          </a:bodyPr>
          <a:lstStyle/>
          <a:p>
            <a:pPr algn="ctr"/>
            <a:r>
              <a:rPr lang="en-US" sz="5400" b="1" i="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latin typeface="Cooper Black" panose="0208090404030B020404" pitchFamily="18" charset="0"/>
              </a:rPr>
              <a:t>Thank You………</a:t>
            </a:r>
            <a:endParaRPr lang="en-US" sz="5400" b="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799441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999</TotalTime>
  <Words>746</Words>
  <Application>Microsoft Office PowerPoint</Application>
  <PresentationFormat>Widescreen</PresentationFormat>
  <Paragraphs>55</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Century Gothic</vt:lpstr>
      <vt:lpstr>Comic Sans MS</vt:lpstr>
      <vt:lpstr>Cooper Black</vt:lpstr>
      <vt:lpstr>Wingdings</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kachhal</dc:creator>
  <cp:lastModifiedBy>rohit kachhal</cp:lastModifiedBy>
  <cp:revision>104</cp:revision>
  <dcterms:created xsi:type="dcterms:W3CDTF">2022-01-23T10:41:27Z</dcterms:created>
  <dcterms:modified xsi:type="dcterms:W3CDTF">2022-04-10T11:07:26Z</dcterms:modified>
</cp:coreProperties>
</file>