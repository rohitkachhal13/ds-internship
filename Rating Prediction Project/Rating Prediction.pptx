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7" r:id="rId2"/>
    <p:sldId id="256" r:id="rId3"/>
    <p:sldId id="276" r:id="rId4"/>
    <p:sldId id="257" r:id="rId5"/>
    <p:sldId id="258" r:id="rId6"/>
    <p:sldId id="296" r:id="rId7"/>
    <p:sldId id="297" r:id="rId8"/>
    <p:sldId id="298" r:id="rId9"/>
    <p:sldId id="301" r:id="rId10"/>
    <p:sldId id="299" r:id="rId11"/>
    <p:sldId id="300" r:id="rId12"/>
    <p:sldId id="302" r:id="rId13"/>
    <p:sldId id="286" r:id="rId14"/>
    <p:sldId id="287" r:id="rId15"/>
    <p:sldId id="288" r:id="rId16"/>
    <p:sldId id="289" r:id="rId17"/>
    <p:sldId id="293" r:id="rId18"/>
    <p:sldId id="291" r:id="rId19"/>
    <p:sldId id="294" r:id="rId20"/>
    <p:sldId id="295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25-Apr-22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25-Apr-22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CC65F2B-0827-4778-9267-CC640BF8A202}"/>
              </a:ext>
            </a:extLst>
          </p:cNvPr>
          <p:cNvSpPr txBox="1"/>
          <p:nvPr/>
        </p:nvSpPr>
        <p:spPr>
          <a:xfrm>
            <a:off x="470325" y="4461255"/>
            <a:ext cx="11251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Rating Prediction</a:t>
            </a:r>
            <a:endParaRPr lang="en-US" sz="3600" b="1" i="1" u="sng" dirty="0">
              <a:solidFill>
                <a:schemeClr val="accent5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12C63B-6748-4DB0-A6F8-116CF7A7D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478" y="798444"/>
            <a:ext cx="6414051" cy="334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5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649901-9E01-427B-A949-C036963BBE31}"/>
              </a:ext>
            </a:extLst>
          </p:cNvPr>
          <p:cNvSpPr txBox="1"/>
          <p:nvPr/>
        </p:nvSpPr>
        <p:spPr>
          <a:xfrm>
            <a:off x="609600" y="1536174"/>
            <a:ext cx="10972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accent5"/>
                </a:solidFill>
                <a:latin typeface="Cooper Black" panose="0208090404030B020404" pitchFamily="18" charset="0"/>
              </a:rPr>
              <a:t>In E-commerce website like flip-kart,  amazon etc people write different reviews for technical products. Now these type of farm are like to adding a new feature to their website i.e. The reviewer will have to add stars(rating) as well with the review. The rating is out of 5 stars and it only has 5 options available 1 star, 2 stars, 3 stars, 4 stars, 5 stars. Now, they want to predict ratings for the reviews which were written in the past and they don’t have a rating. So, I have to build an application which can predict the rating by seeing the review.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2EC31-14AB-4BDC-9434-9A1120EFBF68}"/>
              </a:ext>
            </a:extLst>
          </p:cNvPr>
          <p:cNvSpPr txBox="1"/>
          <p:nvPr/>
        </p:nvSpPr>
        <p:spPr>
          <a:xfrm>
            <a:off x="3670851" y="689113"/>
            <a:ext cx="4664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680572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35D087-26C0-4ABF-B1C9-499F78B02BBB}"/>
              </a:ext>
            </a:extLst>
          </p:cNvPr>
          <p:cNvSpPr txBox="1"/>
          <p:nvPr/>
        </p:nvSpPr>
        <p:spPr>
          <a:xfrm>
            <a:off x="612648" y="1536192"/>
            <a:ext cx="10972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5"/>
                </a:solidFill>
                <a:latin typeface="Cooper Black" panose="0208090404030B020404" pitchFamily="18" charset="0"/>
              </a:rPr>
              <a:t>The data scraping done from flip-kart and amazon.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5"/>
                </a:solidFill>
                <a:latin typeface="Cooper Black" panose="0208090404030B020404" pitchFamily="18" charset="0"/>
              </a:rPr>
              <a:t>There are 114491 rows and 3 columns in the dataset.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5"/>
                </a:solidFill>
                <a:latin typeface="Cooper Black" panose="0208090404030B020404" pitchFamily="18" charset="0"/>
              </a:rPr>
              <a:t>All 3 columns are of object type.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5"/>
                </a:solidFill>
                <a:latin typeface="Cooper Black" panose="0208090404030B020404" pitchFamily="18" charset="0"/>
              </a:rPr>
              <a:t>There are 2 columns which are of object type.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5"/>
                </a:solidFill>
                <a:latin typeface="Cooper Black" panose="0208090404030B020404" pitchFamily="18" charset="0"/>
              </a:rPr>
              <a:t>There is null value in the dataset.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FCADB-A7A9-4916-A89B-435233D38131}"/>
              </a:ext>
            </a:extLst>
          </p:cNvPr>
          <p:cNvSpPr txBox="1"/>
          <p:nvPr/>
        </p:nvSpPr>
        <p:spPr>
          <a:xfrm>
            <a:off x="3749040" y="685800"/>
            <a:ext cx="470916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About Dataset</a:t>
            </a:r>
            <a:endParaRPr lang="en-US" sz="2000" b="1" i="1" u="sng" dirty="0">
              <a:solidFill>
                <a:schemeClr val="accent5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992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F53017-EE09-4E94-9328-740E511741D1}"/>
              </a:ext>
            </a:extLst>
          </p:cNvPr>
          <p:cNvSpPr txBox="1"/>
          <p:nvPr/>
        </p:nvSpPr>
        <p:spPr>
          <a:xfrm>
            <a:off x="3749040" y="685800"/>
            <a:ext cx="4709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Exploratory Data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197DB5-25B5-42EE-B728-D8D489731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18" y="1553577"/>
            <a:ext cx="8101882" cy="47809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3F6E56-FF7A-48B4-8CE7-4985C887A4CB}"/>
              </a:ext>
            </a:extLst>
          </p:cNvPr>
          <p:cNvSpPr txBox="1"/>
          <p:nvPr/>
        </p:nvSpPr>
        <p:spPr>
          <a:xfrm>
            <a:off x="8852452" y="2875722"/>
            <a:ext cx="2782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  <a:latin typeface="Cooper Black" panose="0208090404030B020404" pitchFamily="18" charset="0"/>
              </a:rPr>
              <a:t>Ratings with 5 stars are most.</a:t>
            </a:r>
          </a:p>
        </p:txBody>
      </p:sp>
    </p:spTree>
    <p:extLst>
      <p:ext uri="{BB962C8B-B14F-4D97-AF65-F5344CB8AC3E}">
        <p14:creationId xmlns:p14="http://schemas.microsoft.com/office/powerpoint/2010/main" val="767133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F06761-E176-4D24-B02F-7D3A7387D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0" y="853132"/>
            <a:ext cx="4355783" cy="2741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235A36-D0AA-4EC8-A08C-C63806C2D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785" y="853132"/>
            <a:ext cx="3924351" cy="27414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23059F-B35D-4C9D-9D02-E43B39CD9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88" y="4027196"/>
            <a:ext cx="4184355" cy="27414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6FDFFA-70A2-40A2-A7F6-F40552689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675" y="4052593"/>
            <a:ext cx="3258461" cy="27414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463437-4F84-4F1F-8591-BA6E9CE95126}"/>
              </a:ext>
            </a:extLst>
          </p:cNvPr>
          <p:cNvSpPr txBox="1"/>
          <p:nvPr/>
        </p:nvSpPr>
        <p:spPr>
          <a:xfrm>
            <a:off x="357002" y="215808"/>
            <a:ext cx="10043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5"/>
                </a:solidFill>
                <a:latin typeface="Cooper Black" panose="0208090404030B020404" pitchFamily="18" charset="0"/>
              </a:rPr>
              <a:t>Word Count &amp; Character 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95BBDB-5ECC-43B8-BE47-632D774BCC02}"/>
              </a:ext>
            </a:extLst>
          </p:cNvPr>
          <p:cNvSpPr txBox="1"/>
          <p:nvPr/>
        </p:nvSpPr>
        <p:spPr>
          <a:xfrm>
            <a:off x="357002" y="3580075"/>
            <a:ext cx="9459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5"/>
                </a:solidFill>
                <a:latin typeface="Cooper Black" panose="0208090404030B020404" pitchFamily="18" charset="0"/>
              </a:rPr>
              <a:t>Word Count &amp; Character Count After Removing Outliers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5125BA-B457-4755-9194-D685682A20C7}"/>
              </a:ext>
            </a:extLst>
          </p:cNvPr>
          <p:cNvSpPr txBox="1"/>
          <p:nvPr/>
        </p:nvSpPr>
        <p:spPr>
          <a:xfrm>
            <a:off x="8637136" y="1482442"/>
            <a:ext cx="27829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  <a:latin typeface="Cooper Black" panose="0208090404030B020404" pitchFamily="18" charset="0"/>
              </a:rPr>
              <a:t>Word count is most between 0 to 140.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  <a:latin typeface="Cooper Black" panose="0208090404030B020404" pitchFamily="18" charset="0"/>
              </a:rPr>
              <a:t>Character count is most between 0 to 1000.</a:t>
            </a:r>
          </a:p>
        </p:txBody>
      </p:sp>
    </p:spTree>
    <p:extLst>
      <p:ext uri="{BB962C8B-B14F-4D97-AF65-F5344CB8AC3E}">
        <p14:creationId xmlns:p14="http://schemas.microsoft.com/office/powerpoint/2010/main" val="3633412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7CCBAA-4301-4C46-8219-7D72530B0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96" y="1219200"/>
            <a:ext cx="11635408" cy="55078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F806F8-2A05-46A2-95D8-6116771EA38F}"/>
              </a:ext>
            </a:extLst>
          </p:cNvPr>
          <p:cNvSpPr txBox="1"/>
          <p:nvPr/>
        </p:nvSpPr>
        <p:spPr>
          <a:xfrm>
            <a:off x="278296" y="530087"/>
            <a:ext cx="7341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5"/>
                </a:solidFill>
                <a:latin typeface="Cooper Black" panose="0208090404030B020404" pitchFamily="18" charset="0"/>
              </a:rPr>
              <a:t>Top 10 Most Frequently Used Word</a:t>
            </a:r>
          </a:p>
        </p:txBody>
      </p:sp>
    </p:spTree>
    <p:extLst>
      <p:ext uri="{BB962C8B-B14F-4D97-AF65-F5344CB8AC3E}">
        <p14:creationId xmlns:p14="http://schemas.microsoft.com/office/powerpoint/2010/main" val="2167459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CF8607-6ED6-44E0-B1F7-DF677038D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04" y="1258956"/>
            <a:ext cx="11410121" cy="5497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A090A1-B83B-424F-AECE-C5EF30A0DB74}"/>
              </a:ext>
            </a:extLst>
          </p:cNvPr>
          <p:cNvSpPr txBox="1"/>
          <p:nvPr/>
        </p:nvSpPr>
        <p:spPr>
          <a:xfrm>
            <a:off x="331305" y="569844"/>
            <a:ext cx="862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5"/>
                </a:solidFill>
                <a:latin typeface="Cooper Black" panose="0208090404030B020404" pitchFamily="18" charset="0"/>
              </a:rPr>
              <a:t>Top 10 Rarely Used Word</a:t>
            </a:r>
          </a:p>
        </p:txBody>
      </p:sp>
    </p:spTree>
    <p:extLst>
      <p:ext uri="{BB962C8B-B14F-4D97-AF65-F5344CB8AC3E}">
        <p14:creationId xmlns:p14="http://schemas.microsoft.com/office/powerpoint/2010/main" val="1629241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349712-C785-4DEB-BDF6-EBE4A1319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39" y="1139686"/>
            <a:ext cx="9276521" cy="5393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7CD034-CDB9-4F7F-BFC4-F733FE251775}"/>
              </a:ext>
            </a:extLst>
          </p:cNvPr>
          <p:cNvSpPr txBox="1"/>
          <p:nvPr/>
        </p:nvSpPr>
        <p:spPr>
          <a:xfrm>
            <a:off x="1457739" y="436458"/>
            <a:ext cx="897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5"/>
                </a:solidFill>
                <a:latin typeface="Cooper Black" panose="0208090404030B020404" pitchFamily="18" charset="0"/>
              </a:rPr>
              <a:t>Word Cloud For Rating 1</a:t>
            </a:r>
          </a:p>
        </p:txBody>
      </p:sp>
    </p:spTree>
    <p:extLst>
      <p:ext uri="{BB962C8B-B14F-4D97-AF65-F5344CB8AC3E}">
        <p14:creationId xmlns:p14="http://schemas.microsoft.com/office/powerpoint/2010/main" val="2054948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D2C433-43AA-405A-A2A9-AC1790D08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34" y="1099930"/>
            <a:ext cx="9287531" cy="5472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B8585A-FD30-47A1-A273-A0144E7FA92C}"/>
              </a:ext>
            </a:extLst>
          </p:cNvPr>
          <p:cNvSpPr txBox="1"/>
          <p:nvPr/>
        </p:nvSpPr>
        <p:spPr>
          <a:xfrm>
            <a:off x="1457739" y="436458"/>
            <a:ext cx="897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5"/>
                </a:solidFill>
                <a:latin typeface="Cooper Black" panose="0208090404030B020404" pitchFamily="18" charset="0"/>
              </a:rPr>
              <a:t>Word Cloud For Rating 2</a:t>
            </a:r>
          </a:p>
        </p:txBody>
      </p:sp>
    </p:spTree>
    <p:extLst>
      <p:ext uri="{BB962C8B-B14F-4D97-AF65-F5344CB8AC3E}">
        <p14:creationId xmlns:p14="http://schemas.microsoft.com/office/powerpoint/2010/main" val="130601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0043A7-0529-4BB7-A178-7F3294586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662" y="1046922"/>
            <a:ext cx="9284676" cy="5527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9B0EF7-3DFA-416F-A94A-6C39554DD752}"/>
              </a:ext>
            </a:extLst>
          </p:cNvPr>
          <p:cNvSpPr txBox="1"/>
          <p:nvPr/>
        </p:nvSpPr>
        <p:spPr>
          <a:xfrm>
            <a:off x="1457739" y="396701"/>
            <a:ext cx="897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5"/>
                </a:solidFill>
                <a:latin typeface="Cooper Black" panose="0208090404030B020404" pitchFamily="18" charset="0"/>
              </a:rPr>
              <a:t>Word Cloud For Rating 3</a:t>
            </a:r>
          </a:p>
        </p:txBody>
      </p:sp>
    </p:spTree>
    <p:extLst>
      <p:ext uri="{BB962C8B-B14F-4D97-AF65-F5344CB8AC3E}">
        <p14:creationId xmlns:p14="http://schemas.microsoft.com/office/powerpoint/2010/main" val="803660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B6013B-6E10-40AD-A66E-B12C7218F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661" y="1007166"/>
            <a:ext cx="9284677" cy="55697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2E718D-CBA1-4FB7-9F42-13D826A20C6A}"/>
              </a:ext>
            </a:extLst>
          </p:cNvPr>
          <p:cNvSpPr txBox="1"/>
          <p:nvPr/>
        </p:nvSpPr>
        <p:spPr>
          <a:xfrm>
            <a:off x="1457739" y="436458"/>
            <a:ext cx="897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5"/>
                </a:solidFill>
                <a:latin typeface="Cooper Black" panose="0208090404030B020404" pitchFamily="18" charset="0"/>
              </a:rPr>
              <a:t>Word Cloud For Rating 4</a:t>
            </a:r>
          </a:p>
        </p:txBody>
      </p:sp>
    </p:spTree>
    <p:extLst>
      <p:ext uri="{BB962C8B-B14F-4D97-AF65-F5344CB8AC3E}">
        <p14:creationId xmlns:p14="http://schemas.microsoft.com/office/powerpoint/2010/main" val="821016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143642-57A3-46C5-96D3-FE90383CF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26" y="1007166"/>
            <a:ext cx="9298747" cy="56468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3335E9-EB78-414B-97FB-AFC33719F93F}"/>
              </a:ext>
            </a:extLst>
          </p:cNvPr>
          <p:cNvSpPr txBox="1"/>
          <p:nvPr/>
        </p:nvSpPr>
        <p:spPr>
          <a:xfrm>
            <a:off x="1457739" y="436458"/>
            <a:ext cx="897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5"/>
                </a:solidFill>
                <a:latin typeface="Cooper Black" panose="0208090404030B020404" pitchFamily="18" charset="0"/>
              </a:rPr>
              <a:t>Word Cloud For Rating 5</a:t>
            </a:r>
          </a:p>
        </p:txBody>
      </p:sp>
    </p:spTree>
    <p:extLst>
      <p:ext uri="{BB962C8B-B14F-4D97-AF65-F5344CB8AC3E}">
        <p14:creationId xmlns:p14="http://schemas.microsoft.com/office/powerpoint/2010/main" val="1076014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2A0BAE-6939-4038-A9E6-80C833745D1E}"/>
              </a:ext>
            </a:extLst>
          </p:cNvPr>
          <p:cNvSpPr/>
          <p:nvPr/>
        </p:nvSpPr>
        <p:spPr>
          <a:xfrm>
            <a:off x="4476586" y="3691578"/>
            <a:ext cx="2782956" cy="649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Cooper Black" panose="0208090404030B020404" pitchFamily="18" charset="0"/>
              </a:rPr>
              <a:t>Text Preprocessing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1BA6B-47E6-4CC3-A0B5-458C677FA04B}"/>
              </a:ext>
            </a:extLst>
          </p:cNvPr>
          <p:cNvSpPr/>
          <p:nvPr/>
        </p:nvSpPr>
        <p:spPr>
          <a:xfrm>
            <a:off x="4465983" y="4782312"/>
            <a:ext cx="2782956" cy="649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Cooper Black" panose="0208090404030B020404" pitchFamily="18" charset="0"/>
              </a:rPr>
              <a:t>Dealing with Outliers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074C3A-1E77-4F99-B91C-6EE620E69344}"/>
              </a:ext>
            </a:extLst>
          </p:cNvPr>
          <p:cNvSpPr/>
          <p:nvPr/>
        </p:nvSpPr>
        <p:spPr>
          <a:xfrm>
            <a:off x="4476586" y="1536191"/>
            <a:ext cx="2782956" cy="649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Cooper Black" panose="0208090404030B020404" pitchFamily="18" charset="0"/>
              </a:rPr>
              <a:t>Data Processing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8C724-6DA9-4C8C-8A07-57C13467CC92}"/>
              </a:ext>
            </a:extLst>
          </p:cNvPr>
          <p:cNvSpPr/>
          <p:nvPr/>
        </p:nvSpPr>
        <p:spPr>
          <a:xfrm>
            <a:off x="4465983" y="2626925"/>
            <a:ext cx="2782956" cy="649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  <a:latin typeface="Cooper Black" panose="0208090404030B020404" pitchFamily="18" charset="0"/>
              </a:rPr>
              <a:t>Data Cleaning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514CE0-3061-4B05-84EC-5606D5085901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flipH="1">
            <a:off x="5857461" y="4340933"/>
            <a:ext cx="10603" cy="4413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EEF51B-3FC1-486D-8A58-9D5231918164}"/>
              </a:ext>
            </a:extLst>
          </p:cNvPr>
          <p:cNvCxnSpPr/>
          <p:nvPr/>
        </p:nvCxnSpPr>
        <p:spPr>
          <a:xfrm>
            <a:off x="5862762" y="3263738"/>
            <a:ext cx="0" cy="43235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1AE66A-0240-4394-8480-0C02F5DDDD7D}"/>
              </a:ext>
            </a:extLst>
          </p:cNvPr>
          <p:cNvCxnSpPr/>
          <p:nvPr/>
        </p:nvCxnSpPr>
        <p:spPr>
          <a:xfrm>
            <a:off x="5857461" y="4345446"/>
            <a:ext cx="0" cy="43235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CCD4738-8820-431B-909C-F05C92F8D0B4}"/>
              </a:ext>
            </a:extLst>
          </p:cNvPr>
          <p:cNvSpPr txBox="1"/>
          <p:nvPr/>
        </p:nvSpPr>
        <p:spPr>
          <a:xfrm>
            <a:off x="7490129" y="4777799"/>
            <a:ext cx="3670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accent5"/>
                </a:solidFill>
              </a:rPr>
              <a:t>Z-score method is used to remove outliers.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7F4091-E587-4C4C-9F2C-1770C98C581D}"/>
              </a:ext>
            </a:extLst>
          </p:cNvPr>
          <p:cNvSpPr txBox="1"/>
          <p:nvPr/>
        </p:nvSpPr>
        <p:spPr>
          <a:xfrm>
            <a:off x="3749040" y="685800"/>
            <a:ext cx="470916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Features Engineering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263E01-8856-471C-8E1E-664D8C08FAE2}"/>
              </a:ext>
            </a:extLst>
          </p:cNvPr>
          <p:cNvCxnSpPr/>
          <p:nvPr/>
        </p:nvCxnSpPr>
        <p:spPr>
          <a:xfrm>
            <a:off x="5800478" y="2194572"/>
            <a:ext cx="0" cy="43235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1B36DE2-4224-43AE-BD8E-756D92AAC4C4}"/>
              </a:ext>
            </a:extLst>
          </p:cNvPr>
          <p:cNvSpPr txBox="1"/>
          <p:nvPr/>
        </p:nvSpPr>
        <p:spPr>
          <a:xfrm>
            <a:off x="7390737" y="1536191"/>
            <a:ext cx="367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accent5"/>
                </a:solidFill>
              </a:rPr>
              <a:t>Replaced null values by </a:t>
            </a:r>
            <a:r>
              <a:rPr lang="en-US" sz="1200" dirty="0" err="1">
                <a:solidFill>
                  <a:schemeClr val="accent5"/>
                </a:solidFill>
              </a:rPr>
              <a:t>fillna</a:t>
            </a:r>
            <a:r>
              <a:rPr lang="en-US" sz="1200" dirty="0">
                <a:solidFill>
                  <a:schemeClr val="accent5"/>
                </a:solidFill>
              </a:rPr>
              <a:t>() method.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accent5"/>
                </a:solidFill>
              </a:rPr>
              <a:t>Remove irrelevant information.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94033A-FE7A-41CF-898A-F5297E637DB5}"/>
              </a:ext>
            </a:extLst>
          </p:cNvPr>
          <p:cNvSpPr txBox="1"/>
          <p:nvPr/>
        </p:nvSpPr>
        <p:spPr>
          <a:xfrm>
            <a:off x="7409289" y="2626925"/>
            <a:ext cx="367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accent5"/>
                </a:solidFill>
              </a:rPr>
              <a:t>Replaced irrelevant information by replace method.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10FE90-E3AC-46BE-82A2-891E49192D3B}"/>
              </a:ext>
            </a:extLst>
          </p:cNvPr>
          <p:cNvSpPr txBox="1"/>
          <p:nvPr/>
        </p:nvSpPr>
        <p:spPr>
          <a:xfrm>
            <a:off x="7490129" y="3691578"/>
            <a:ext cx="367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accent5"/>
                </a:solidFill>
              </a:rPr>
              <a:t>Text processing, Lemmatization and Normalization- Standardization.</a:t>
            </a:r>
          </a:p>
        </p:txBody>
      </p:sp>
    </p:spTree>
    <p:extLst>
      <p:ext uri="{BB962C8B-B14F-4D97-AF65-F5344CB8AC3E}">
        <p14:creationId xmlns:p14="http://schemas.microsoft.com/office/powerpoint/2010/main" val="2934491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EEF448-B448-493F-BBBF-67682474F23C}"/>
              </a:ext>
            </a:extLst>
          </p:cNvPr>
          <p:cNvSpPr txBox="1"/>
          <p:nvPr/>
        </p:nvSpPr>
        <p:spPr>
          <a:xfrm>
            <a:off x="3666744" y="685800"/>
            <a:ext cx="4709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Model Initiating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AE0D5-2691-4560-B7CB-AEE17B3364BE}"/>
              </a:ext>
            </a:extLst>
          </p:cNvPr>
          <p:cNvSpPr/>
          <p:nvPr/>
        </p:nvSpPr>
        <p:spPr>
          <a:xfrm>
            <a:off x="4618382" y="1427999"/>
            <a:ext cx="2782956" cy="7644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5"/>
                </a:solidFill>
                <a:latin typeface="Cooper Black" panose="0208090404030B020404" pitchFamily="18" charset="0"/>
              </a:rPr>
              <a:t>Split dataset using </a:t>
            </a:r>
            <a:r>
              <a:rPr lang="en-IN" sz="1600" dirty="0" err="1">
                <a:solidFill>
                  <a:schemeClr val="accent5"/>
                </a:solidFill>
                <a:latin typeface="Cooper Black" panose="0208090404030B020404" pitchFamily="18" charset="0"/>
              </a:rPr>
              <a:t>Train_Test</a:t>
            </a:r>
            <a:r>
              <a:rPr lang="en-IN" sz="1600" dirty="0">
                <a:solidFill>
                  <a:schemeClr val="accent5"/>
                </a:solidFill>
                <a:latin typeface="Cooper Black" panose="0208090404030B020404" pitchFamily="18" charset="0"/>
              </a:rPr>
              <a:t> Split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476426-E32F-4BF3-A02A-5D91F2AD7ABA}"/>
              </a:ext>
            </a:extLst>
          </p:cNvPr>
          <p:cNvSpPr/>
          <p:nvPr/>
        </p:nvSpPr>
        <p:spPr>
          <a:xfrm>
            <a:off x="4604924" y="3614882"/>
            <a:ext cx="2782956" cy="761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5"/>
                </a:solidFill>
                <a:latin typeface="Cooper Black" panose="0208090404030B020404" pitchFamily="18" charset="0"/>
              </a:rPr>
              <a:t>Model Building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95E926-8D40-494D-A8E3-EB19048A818C}"/>
              </a:ext>
            </a:extLst>
          </p:cNvPr>
          <p:cNvSpPr/>
          <p:nvPr/>
        </p:nvSpPr>
        <p:spPr>
          <a:xfrm>
            <a:off x="4629846" y="4743177"/>
            <a:ext cx="2782956" cy="761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5"/>
                </a:solidFill>
                <a:latin typeface="Cooper Black" panose="0208090404030B020404" pitchFamily="18" charset="0"/>
              </a:rPr>
              <a:t>Accuracy Score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EAD6C1-2B13-48DA-95DA-3BF2E75BD258}"/>
              </a:ext>
            </a:extLst>
          </p:cNvPr>
          <p:cNvSpPr/>
          <p:nvPr/>
        </p:nvSpPr>
        <p:spPr>
          <a:xfrm>
            <a:off x="4618382" y="5860240"/>
            <a:ext cx="2782956" cy="7612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5"/>
                </a:solidFill>
                <a:latin typeface="Cooper Black" panose="0208090404030B020404" pitchFamily="18" charset="0"/>
              </a:rPr>
              <a:t>Cross-Validation Score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01072B-4FBF-470F-8EF7-FE2896C53DBE}"/>
              </a:ext>
            </a:extLst>
          </p:cNvPr>
          <p:cNvSpPr/>
          <p:nvPr/>
        </p:nvSpPr>
        <p:spPr>
          <a:xfrm>
            <a:off x="4629846" y="2517972"/>
            <a:ext cx="2782956" cy="7612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5"/>
                </a:solidFill>
                <a:latin typeface="Cooper Black" panose="0208090404030B020404" pitchFamily="18" charset="0"/>
              </a:rPr>
              <a:t>Dealing with </a:t>
            </a:r>
            <a:r>
              <a:rPr lang="en-US" sz="1600" dirty="0" err="1">
                <a:solidFill>
                  <a:schemeClr val="accent5"/>
                </a:solidFill>
                <a:latin typeface="Cooper Black" panose="0208090404030B020404" pitchFamily="18" charset="0"/>
              </a:rPr>
              <a:t>imbalancing</a:t>
            </a:r>
            <a:endParaRPr lang="en-US" sz="1600" dirty="0">
              <a:solidFill>
                <a:schemeClr val="accent5"/>
              </a:solidFill>
              <a:latin typeface="Cooper Black" panose="0208090404030B0204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F6D547-5796-41B3-90C9-7FC5D4FE1259}"/>
              </a:ext>
            </a:extLst>
          </p:cNvPr>
          <p:cNvCxnSpPr/>
          <p:nvPr/>
        </p:nvCxnSpPr>
        <p:spPr>
          <a:xfrm>
            <a:off x="5996402" y="3286137"/>
            <a:ext cx="0" cy="3287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AA16DD-827E-4E12-945A-88E1CC45842C}"/>
              </a:ext>
            </a:extLst>
          </p:cNvPr>
          <p:cNvCxnSpPr/>
          <p:nvPr/>
        </p:nvCxnSpPr>
        <p:spPr>
          <a:xfrm>
            <a:off x="5982075" y="4414432"/>
            <a:ext cx="0" cy="3287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F1A9AD-FAE7-40A6-BEA7-95FAB56FF1EF}"/>
              </a:ext>
            </a:extLst>
          </p:cNvPr>
          <p:cNvCxnSpPr/>
          <p:nvPr/>
        </p:nvCxnSpPr>
        <p:spPr>
          <a:xfrm>
            <a:off x="5982075" y="5531495"/>
            <a:ext cx="0" cy="3287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0EA3C4-5177-4E29-9E0A-70C3DCFF7280}"/>
              </a:ext>
            </a:extLst>
          </p:cNvPr>
          <p:cNvCxnSpPr/>
          <p:nvPr/>
        </p:nvCxnSpPr>
        <p:spPr>
          <a:xfrm>
            <a:off x="5941092" y="2189227"/>
            <a:ext cx="0" cy="3287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041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73F807-8ED2-45B3-9B00-5D6C79129FC6}"/>
              </a:ext>
            </a:extLst>
          </p:cNvPr>
          <p:cNvSpPr txBox="1"/>
          <p:nvPr/>
        </p:nvSpPr>
        <p:spPr>
          <a:xfrm>
            <a:off x="3749040" y="685800"/>
            <a:ext cx="4709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Insights of all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C75DF-997A-4517-8755-E4882FCA1085}"/>
              </a:ext>
            </a:extLst>
          </p:cNvPr>
          <p:cNvSpPr txBox="1"/>
          <p:nvPr/>
        </p:nvSpPr>
        <p:spPr>
          <a:xfrm>
            <a:off x="9551963" y="5992837"/>
            <a:ext cx="2067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5"/>
                </a:solidFill>
                <a:latin typeface="Cooper Black" panose="0208090404030B020404" pitchFamily="18" charset="0"/>
              </a:rPr>
              <a:t>Continued…………….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2E70AA-1A06-4567-9096-BFC1BCDAB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52" y="1704974"/>
            <a:ext cx="4305886" cy="3781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6FF9A7-39F3-43D1-AEF4-47728F926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662" y="1704734"/>
            <a:ext cx="406348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807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8C09645-2FAA-4F27-9785-F6469C109E57}"/>
              </a:ext>
            </a:extLst>
          </p:cNvPr>
          <p:cNvSpPr txBox="1"/>
          <p:nvPr/>
        </p:nvSpPr>
        <p:spPr>
          <a:xfrm>
            <a:off x="9551963" y="5992837"/>
            <a:ext cx="2067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5"/>
                </a:solidFill>
                <a:latin typeface="Cooper Black" panose="0208090404030B020404" pitchFamily="18" charset="0"/>
              </a:rPr>
              <a:t>Continued…………….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62C32-A4B9-4103-9DDC-020C5C3C2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838" y="1704734"/>
            <a:ext cx="3810001" cy="3753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94E1E6-3E00-4771-86B0-9285C65BA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162" y="1704733"/>
            <a:ext cx="3810000" cy="375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05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E0B304-0722-4666-8927-D229826AA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69" y="1704734"/>
            <a:ext cx="5852159" cy="379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838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05EFEA-7B53-4F21-BC26-2099BD24EB45}"/>
              </a:ext>
            </a:extLst>
          </p:cNvPr>
          <p:cNvSpPr txBox="1"/>
          <p:nvPr/>
        </p:nvSpPr>
        <p:spPr>
          <a:xfrm>
            <a:off x="3666744" y="685800"/>
            <a:ext cx="470916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Scores of All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9E1A47-61BD-4D25-8D56-BEA0D2466D59}"/>
              </a:ext>
            </a:extLst>
          </p:cNvPr>
          <p:cNvSpPr txBox="1"/>
          <p:nvPr/>
        </p:nvSpPr>
        <p:spPr>
          <a:xfrm>
            <a:off x="1616765" y="5049078"/>
            <a:ext cx="8481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5"/>
                </a:solidFill>
                <a:latin typeface="Cooper Black" panose="0208090404030B020404" pitchFamily="18" charset="0"/>
              </a:rPr>
              <a:t>SDG performed well on this dataset as SDG Classifier have good accuracy, comparatively less cross-validation score. So final model on this dataset is SDG Classifier.</a:t>
            </a:r>
            <a:endParaRPr lang="en-US" sz="1600" dirty="0">
              <a:solidFill>
                <a:schemeClr val="accent5"/>
              </a:solidFill>
              <a:latin typeface="Cooper Black" panose="0208090404030B0204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6B95B-8AC3-4852-A429-4570AE3AD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97" y="1561515"/>
            <a:ext cx="8481392" cy="313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82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8B7515-0F66-4938-8417-4A0A6615872E}"/>
              </a:ext>
            </a:extLst>
          </p:cNvPr>
          <p:cNvSpPr txBox="1"/>
          <p:nvPr/>
        </p:nvSpPr>
        <p:spPr>
          <a:xfrm>
            <a:off x="3666744" y="685800"/>
            <a:ext cx="470916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Hyperparameter Tuning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15761B-72BA-4824-AEED-FB3A248E983C}"/>
              </a:ext>
            </a:extLst>
          </p:cNvPr>
          <p:cNvSpPr txBox="1"/>
          <p:nvPr/>
        </p:nvSpPr>
        <p:spPr>
          <a:xfrm>
            <a:off x="2820924" y="5311976"/>
            <a:ext cx="64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5"/>
                </a:solidFill>
                <a:latin typeface="Cooper Black" panose="0208090404030B020404" pitchFamily="18" charset="0"/>
              </a:rPr>
              <a:t>After hyperparameter tuning, not able to improve performance.  So, default parameters are best parameters.</a:t>
            </a:r>
            <a:endParaRPr lang="en-US" sz="1600" dirty="0">
              <a:solidFill>
                <a:schemeClr val="accent5"/>
              </a:solidFill>
              <a:latin typeface="Cooper Black" panose="0208090404030B0204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C16145-1859-46E4-B53B-FCB873594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00" y="1269441"/>
            <a:ext cx="7556599" cy="387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28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A47F35-E022-4C78-9FA3-144D680DC022}"/>
              </a:ext>
            </a:extLst>
          </p:cNvPr>
          <p:cNvSpPr txBox="1"/>
          <p:nvPr/>
        </p:nvSpPr>
        <p:spPr>
          <a:xfrm>
            <a:off x="3666744" y="685800"/>
            <a:ext cx="470916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accent5"/>
                </a:solidFill>
                <a:latin typeface="Comic Sans MS" panose="030F0702030302020204" pitchFamily="66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CA2B1B-97D4-4BEB-BFD8-9DCD8A3592EA}"/>
              </a:ext>
            </a:extLst>
          </p:cNvPr>
          <p:cNvSpPr txBox="1"/>
          <p:nvPr/>
        </p:nvSpPr>
        <p:spPr>
          <a:xfrm>
            <a:off x="1444487" y="1209020"/>
            <a:ext cx="966083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5"/>
                </a:solidFill>
                <a:latin typeface="Cooper Black" panose="0208090404030B020404" pitchFamily="18" charset="0"/>
              </a:rPr>
              <a:t>In this study, I collected the different products review &amp; rating from two different platform named as flip-kart and amazon through web scraping. The data is usually simple but it contains null values. I have done data pre-processing to replaced null values and extra information, text pre-processing for data cleaning, lemmatization, normalization-standardization, noise removal. I also choose equal number of text from each rating class to eliminate problem of imbalance. By EDA, I observed the frequently, rarely, rating wise word cloud.  After that, build the model by splitting the dataset into train and test set and used evaluation metrics. I used 5 different type of machine learning model for this dataset. Based on performance and evaluation metrics I selected SDG Classifier as the final model.  I got around 72.23% accuracy with less cross validation score.</a:t>
            </a:r>
          </a:p>
        </p:txBody>
      </p:sp>
    </p:spTree>
    <p:extLst>
      <p:ext uri="{BB962C8B-B14F-4D97-AF65-F5344CB8AC3E}">
        <p14:creationId xmlns:p14="http://schemas.microsoft.com/office/powerpoint/2010/main" val="3884978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B0D890-D711-4A36-AEE1-D18288C6FE79}"/>
              </a:ext>
            </a:extLst>
          </p:cNvPr>
          <p:cNvSpPr/>
          <p:nvPr/>
        </p:nvSpPr>
        <p:spPr>
          <a:xfrm>
            <a:off x="3139325" y="2967335"/>
            <a:ext cx="5913350" cy="923330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Thank You………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9944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1332</TotalTime>
  <Words>532</Words>
  <Application>Microsoft Office PowerPoint</Application>
  <PresentationFormat>Widescreen</PresentationFormat>
  <Paragraphs>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Century Gothic</vt:lpstr>
      <vt:lpstr>Comic Sans MS</vt:lpstr>
      <vt:lpstr>Cooper Black</vt:lpstr>
      <vt:lpstr>Wingdings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rohit kachhal</dc:creator>
  <cp:lastModifiedBy>rohit kachhal</cp:lastModifiedBy>
  <cp:revision>121</cp:revision>
  <dcterms:created xsi:type="dcterms:W3CDTF">2022-01-23T10:41:27Z</dcterms:created>
  <dcterms:modified xsi:type="dcterms:W3CDTF">2022-04-25T17:46:26Z</dcterms:modified>
</cp:coreProperties>
</file>