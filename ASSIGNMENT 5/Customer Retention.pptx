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77" r:id="rId2"/>
    <p:sldId id="256" r:id="rId3"/>
    <p:sldId id="273" r:id="rId4"/>
    <p:sldId id="274" r:id="rId5"/>
    <p:sldId id="275" r:id="rId6"/>
    <p:sldId id="276" r:id="rId7"/>
    <p:sldId id="257" r:id="rId8"/>
    <p:sldId id="258" r:id="rId9"/>
    <p:sldId id="259" r:id="rId10"/>
    <p:sldId id="260" r:id="rId11"/>
    <p:sldId id="261" r:id="rId12"/>
    <p:sldId id="262" r:id="rId13"/>
    <p:sldId id="263" r:id="rId14"/>
    <p:sldId id="264" r:id="rId15"/>
    <p:sldId id="267" r:id="rId16"/>
    <p:sldId id="268" r:id="rId17"/>
    <p:sldId id="269" r:id="rId18"/>
    <p:sldId id="270" r:id="rId19"/>
    <p:sldId id="271" r:id="rId20"/>
    <p:sldId id="272" r:id="rId21"/>
    <p:sldId id="278"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24-Jan-22</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24-Jan-22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24-Jan-22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24-Jan-22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24-Jan-22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24-Jan-22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24-Jan-22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24-Jan-22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24-Jan-22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24-Jan-22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24-Jan-22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24-Jan-22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24-Jan-22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24-Jan-22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24-Jan-22</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24-Jan-22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24-Jan-22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24-Jan-22</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7CC65F2B-0827-4778-9267-CC640BF8A202}"/>
              </a:ext>
            </a:extLst>
          </p:cNvPr>
          <p:cNvSpPr txBox="1"/>
          <p:nvPr/>
        </p:nvSpPr>
        <p:spPr>
          <a:xfrm>
            <a:off x="470325" y="3878159"/>
            <a:ext cx="11251349" cy="2308324"/>
          </a:xfrm>
          <a:prstGeom prst="rect">
            <a:avLst/>
          </a:prstGeom>
          <a:noFill/>
        </p:spPr>
        <p:txBody>
          <a:bodyPr wrap="square" rtlCol="0">
            <a:spAutoFit/>
          </a:bodyPr>
          <a:lstStyle/>
          <a:p>
            <a:pPr algn="ctr"/>
            <a:r>
              <a:rPr lang="en-IN" sz="3600" b="1" i="1" u="sng" dirty="0">
                <a:solidFill>
                  <a:schemeClr val="bg1"/>
                </a:solidFill>
                <a:latin typeface="Comic Sans MS" panose="030F0702030302020204" pitchFamily="66" charset="0"/>
              </a:rPr>
              <a:t>E-Retail Factors</a:t>
            </a:r>
            <a:br>
              <a:rPr lang="en-IN" sz="3600" b="1" i="1" u="sng" dirty="0">
                <a:solidFill>
                  <a:schemeClr val="bg1"/>
                </a:solidFill>
                <a:latin typeface="Comic Sans MS" panose="030F0702030302020204" pitchFamily="66" charset="0"/>
              </a:rPr>
            </a:br>
            <a:r>
              <a:rPr lang="en-IN" sz="3600" b="1" i="1" u="sng" dirty="0">
                <a:solidFill>
                  <a:schemeClr val="bg1"/>
                </a:solidFill>
                <a:latin typeface="Comic Sans MS" panose="030F0702030302020204" pitchFamily="66" charset="0"/>
              </a:rPr>
              <a:t>For</a:t>
            </a:r>
            <a:br>
              <a:rPr lang="en-IN" sz="3600" b="1" i="1" u="sng" dirty="0">
                <a:solidFill>
                  <a:schemeClr val="bg1"/>
                </a:solidFill>
                <a:latin typeface="Comic Sans MS" panose="030F0702030302020204" pitchFamily="66" charset="0"/>
              </a:rPr>
            </a:br>
            <a:r>
              <a:rPr lang="en-IN" sz="3600" b="1" i="1" u="sng" dirty="0">
                <a:solidFill>
                  <a:schemeClr val="bg1"/>
                </a:solidFill>
                <a:latin typeface="Comic Sans MS" panose="030F0702030302020204" pitchFamily="66" charset="0"/>
              </a:rPr>
              <a:t>Customer Retention:</a:t>
            </a:r>
            <a:br>
              <a:rPr lang="en-IN" sz="3600" b="1" i="1" u="sng" dirty="0">
                <a:solidFill>
                  <a:schemeClr val="bg1"/>
                </a:solidFill>
                <a:latin typeface="Comic Sans MS" panose="030F0702030302020204" pitchFamily="66" charset="0"/>
              </a:rPr>
            </a:br>
            <a:r>
              <a:rPr lang="en-IN" sz="3600" b="1" i="1" u="sng" dirty="0">
                <a:solidFill>
                  <a:schemeClr val="bg1"/>
                </a:solidFill>
                <a:latin typeface="Comic Sans MS" panose="030F0702030302020204" pitchFamily="66" charset="0"/>
              </a:rPr>
              <a:t> Case Study from Indian E-Commerce Customers </a:t>
            </a:r>
            <a:endParaRPr lang="en-US" sz="3600" b="1" i="1" u="sng" dirty="0">
              <a:solidFill>
                <a:schemeClr val="bg1"/>
              </a:solidFill>
              <a:latin typeface="Comic Sans MS" panose="030F0702030302020204" pitchFamily="66" charset="0"/>
            </a:endParaRPr>
          </a:p>
        </p:txBody>
      </p:sp>
      <p:pic>
        <p:nvPicPr>
          <p:cNvPr id="17" name="Picture 16">
            <a:extLst>
              <a:ext uri="{FF2B5EF4-FFF2-40B4-BE49-F238E27FC236}">
                <a16:creationId xmlns:a16="http://schemas.microsoft.com/office/drawing/2014/main" id="{20A8B2BD-5308-4ED1-A60B-18E2D1E7C2A9}"/>
              </a:ext>
            </a:extLst>
          </p:cNvPr>
          <p:cNvPicPr>
            <a:picLocks noChangeAspect="1"/>
          </p:cNvPicPr>
          <p:nvPr/>
        </p:nvPicPr>
        <p:blipFill>
          <a:blip r:embed="rId2"/>
          <a:stretch>
            <a:fillRect/>
          </a:stretch>
        </p:blipFill>
        <p:spPr>
          <a:xfrm>
            <a:off x="470326" y="1155216"/>
            <a:ext cx="11251348" cy="2722943"/>
          </a:xfrm>
          <a:prstGeom prst="rect">
            <a:avLst/>
          </a:prstGeom>
        </p:spPr>
      </p:pic>
    </p:spTree>
    <p:extLst>
      <p:ext uri="{BB962C8B-B14F-4D97-AF65-F5344CB8AC3E}">
        <p14:creationId xmlns:p14="http://schemas.microsoft.com/office/powerpoint/2010/main" val="2489857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649901-9E01-427B-A949-C036963BBE31}"/>
              </a:ext>
            </a:extLst>
          </p:cNvPr>
          <p:cNvSpPr txBox="1"/>
          <p:nvPr/>
        </p:nvSpPr>
        <p:spPr>
          <a:xfrm>
            <a:off x="596348" y="1351721"/>
            <a:ext cx="10972800" cy="4524315"/>
          </a:xfrm>
          <a:prstGeom prst="rect">
            <a:avLst/>
          </a:prstGeom>
          <a:noFill/>
        </p:spPr>
        <p:txBody>
          <a:bodyPr wrap="square" rtlCol="0">
            <a:spAutoFit/>
          </a:bodyPr>
          <a:lstStyle/>
          <a:p>
            <a:pPr algn="ctr"/>
            <a:r>
              <a:rPr lang="en-IN" sz="2800" b="1" i="1" u="sng" dirty="0">
                <a:solidFill>
                  <a:schemeClr val="bg1"/>
                </a:solidFill>
                <a:latin typeface="Comic Sans MS" panose="030F0702030302020204" pitchFamily="66" charset="0"/>
              </a:rPr>
              <a:t>Problem Statement</a:t>
            </a:r>
          </a:p>
          <a:p>
            <a:pPr marL="342900" indent="-342900" algn="just">
              <a:buFont typeface="Wingdings" panose="05000000000000000000" pitchFamily="2" charset="2"/>
              <a:buChar char="v"/>
            </a:pPr>
            <a:r>
              <a:rPr lang="en-IN" sz="2000" dirty="0">
                <a:solidFill>
                  <a:schemeClr val="bg1"/>
                </a:solidFill>
                <a:latin typeface="Cooper Black" panose="0208090404030B020404" pitchFamily="18" charset="0"/>
              </a:rPr>
              <a:t>Customer satisfaction has emerged as one of the most important factors that guarantee the success of online store; it has been posited as a key stimulant of purchase, repurchase intentions and customer loyalty. A comprehensive review of the literature, theories and models have been carried out to propose the models for customer activation and customer retention. Five major factors that contributed to the success of an e-commerce store have been identified as: service quality, system quality, information quality, trust and net benefit. The research furthermore investigated the factors that influence the online customers repeat purchase intention. The combination of both utilitarian value and hedonistic values are needed to affect the repeat purchase intention (loyalty) positively. The data is collected from the Indian online shoppers. Results indicate the e-retail success factors, which are very much critical for customer satisfaction.</a:t>
            </a:r>
          </a:p>
          <a:p>
            <a:pPr marL="342900" indent="-342900">
              <a:buFont typeface="Wingdings" panose="05000000000000000000" pitchFamily="2" charset="2"/>
              <a:buChar char="v"/>
            </a:pPr>
            <a:r>
              <a:rPr lang="en-IN" sz="2000" dirty="0">
                <a:solidFill>
                  <a:schemeClr val="bg1"/>
                </a:solidFill>
                <a:latin typeface="Cooper Black" panose="0208090404030B020404" pitchFamily="18" charset="0"/>
              </a:rPr>
              <a:t>Apply analytical skills to give findings and conclusions in detailed data analysis.</a:t>
            </a:r>
          </a:p>
        </p:txBody>
      </p:sp>
    </p:spTree>
    <p:extLst>
      <p:ext uri="{BB962C8B-B14F-4D97-AF65-F5344CB8AC3E}">
        <p14:creationId xmlns:p14="http://schemas.microsoft.com/office/powerpoint/2010/main" val="1680572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F55D926-5119-42CB-9F29-DA07543F50A9}"/>
              </a:ext>
            </a:extLst>
          </p:cNvPr>
          <p:cNvSpPr txBox="1"/>
          <p:nvPr/>
        </p:nvSpPr>
        <p:spPr>
          <a:xfrm>
            <a:off x="609600" y="1484243"/>
            <a:ext cx="10986052" cy="523220"/>
          </a:xfrm>
          <a:prstGeom prst="rect">
            <a:avLst/>
          </a:prstGeom>
          <a:noFill/>
        </p:spPr>
        <p:txBody>
          <a:bodyPr wrap="square" rtlCol="0">
            <a:spAutoFit/>
          </a:bodyPr>
          <a:lstStyle/>
          <a:p>
            <a:pPr algn="ctr"/>
            <a:r>
              <a:rPr lang="en-US" sz="2800" b="1" i="1" u="sng" dirty="0">
                <a:solidFill>
                  <a:schemeClr val="bg1"/>
                </a:solidFill>
                <a:latin typeface="Comic Sans MS" panose="030F0702030302020204" pitchFamily="66" charset="0"/>
              </a:rPr>
              <a:t>Repeat Purchase Intention (Customer Retention)</a:t>
            </a:r>
            <a:endParaRPr lang="en-US" sz="2000" b="1" i="1" u="sng" dirty="0">
              <a:solidFill>
                <a:schemeClr val="bg1"/>
              </a:solidFill>
              <a:latin typeface="Comic Sans MS" panose="030F0702030302020204" pitchFamily="66" charset="0"/>
            </a:endParaRPr>
          </a:p>
        </p:txBody>
      </p:sp>
      <p:pic>
        <p:nvPicPr>
          <p:cNvPr id="5" name="Picture 4">
            <a:extLst>
              <a:ext uri="{FF2B5EF4-FFF2-40B4-BE49-F238E27FC236}">
                <a16:creationId xmlns:a16="http://schemas.microsoft.com/office/drawing/2014/main" id="{A2DBA5AA-9A60-4C80-BF29-0B4246A5AE4E}"/>
              </a:ext>
            </a:extLst>
          </p:cNvPr>
          <p:cNvPicPr>
            <a:picLocks noChangeAspect="1"/>
          </p:cNvPicPr>
          <p:nvPr/>
        </p:nvPicPr>
        <p:blipFill>
          <a:blip r:embed="rId2"/>
          <a:stretch>
            <a:fillRect/>
          </a:stretch>
        </p:blipFill>
        <p:spPr>
          <a:xfrm>
            <a:off x="609600" y="2186609"/>
            <a:ext cx="10986052" cy="4094921"/>
          </a:xfrm>
          <a:prstGeom prst="rect">
            <a:avLst/>
          </a:prstGeom>
        </p:spPr>
      </p:pic>
    </p:spTree>
    <p:extLst>
      <p:ext uri="{BB962C8B-B14F-4D97-AF65-F5344CB8AC3E}">
        <p14:creationId xmlns:p14="http://schemas.microsoft.com/office/powerpoint/2010/main" val="63118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1B08A11-349D-4F2A-8B23-A5AE0160E45E}"/>
              </a:ext>
            </a:extLst>
          </p:cNvPr>
          <p:cNvSpPr txBox="1"/>
          <p:nvPr/>
        </p:nvSpPr>
        <p:spPr>
          <a:xfrm>
            <a:off x="1007165" y="1577009"/>
            <a:ext cx="10243931" cy="4524315"/>
          </a:xfrm>
          <a:prstGeom prst="rect">
            <a:avLst/>
          </a:prstGeom>
          <a:noFill/>
        </p:spPr>
        <p:txBody>
          <a:bodyPr wrap="square" rtlCol="0">
            <a:spAutoFit/>
          </a:bodyPr>
          <a:lstStyle/>
          <a:p>
            <a:pPr algn="ctr"/>
            <a:r>
              <a:rPr lang="en-IN" sz="2000" dirty="0">
                <a:solidFill>
                  <a:schemeClr val="bg1"/>
                </a:solidFill>
                <a:latin typeface="Cooper Black" panose="0208090404030B020404" pitchFamily="18" charset="0"/>
              </a:rPr>
              <a:t> </a:t>
            </a:r>
            <a:r>
              <a:rPr lang="en-IN" sz="2800" b="1" i="1" u="sng" dirty="0">
                <a:solidFill>
                  <a:schemeClr val="bg1"/>
                </a:solidFill>
                <a:latin typeface="Comic Sans MS" panose="030F0702030302020204" pitchFamily="66" charset="0"/>
              </a:rPr>
              <a:t>What is Customer retention ?</a:t>
            </a:r>
          </a:p>
          <a:p>
            <a:pPr algn="ctr"/>
            <a:endParaRPr lang="en-IN" sz="2000" b="1" i="1" u="sng" dirty="0">
              <a:solidFill>
                <a:schemeClr val="bg1"/>
              </a:solidFill>
              <a:latin typeface="Comic Sans MS" panose="030F0702030302020204" pitchFamily="66" charset="0"/>
            </a:endParaRPr>
          </a:p>
          <a:p>
            <a:pPr marL="342900" indent="-342900" algn="just">
              <a:buFont typeface="Wingdings" panose="05000000000000000000" pitchFamily="2" charset="2"/>
              <a:buChar char="Ø"/>
            </a:pPr>
            <a:r>
              <a:rPr lang="en-IN" sz="2000" dirty="0">
                <a:solidFill>
                  <a:schemeClr val="bg1"/>
                </a:solidFill>
                <a:latin typeface="Cooper Black" panose="0208090404030B020404" pitchFamily="18" charset="0"/>
              </a:rPr>
              <a:t>Customer retention refers to the activities and actions companies and organizations take to reduce the number of customer defections. The goal of customer retention programs is to help companies retain as many customers as possible, often through customer loyalty and brand loyalty initiatives. It is important to remember that customer retention begins with the first contact a customer has with a company and continues throughout the entire lifetime of the relationship.</a:t>
            </a:r>
          </a:p>
          <a:p>
            <a:pPr marL="342900" indent="-342900" algn="just">
              <a:buFont typeface="Wingdings" panose="05000000000000000000" pitchFamily="2" charset="2"/>
              <a:buChar char="Ø"/>
            </a:pPr>
            <a:r>
              <a:rPr lang="en-IN" sz="2000" dirty="0">
                <a:solidFill>
                  <a:schemeClr val="bg1"/>
                </a:solidFill>
                <a:latin typeface="Cooper Black" panose="0208090404030B020404" pitchFamily="18" charset="0"/>
              </a:rPr>
              <a:t>Customer retention is a business’s ability to keep existing customers and continue to generate revenue from them. Companies use different tactics to convert first-time buyers into repeat shoppers. In other words, customer retention allows a business to increase the profitability of an existing customer and maximize their lifetime value (LTV).</a:t>
            </a:r>
            <a:endParaRPr lang="en-US" sz="2000"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998529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733F15-A68C-4E2D-ABEE-2BACE79B449C}"/>
              </a:ext>
            </a:extLst>
          </p:cNvPr>
          <p:cNvSpPr txBox="1"/>
          <p:nvPr/>
        </p:nvSpPr>
        <p:spPr>
          <a:xfrm>
            <a:off x="914400" y="1616765"/>
            <a:ext cx="10522226" cy="400110"/>
          </a:xfrm>
          <a:prstGeom prst="rect">
            <a:avLst/>
          </a:prstGeom>
          <a:noFill/>
        </p:spPr>
        <p:txBody>
          <a:bodyPr wrap="square" rtlCol="0">
            <a:spAutoFit/>
          </a:bodyPr>
          <a:lstStyle/>
          <a:p>
            <a:endParaRPr lang="en-US" sz="2000" dirty="0">
              <a:solidFill>
                <a:schemeClr val="bg1"/>
              </a:solidFill>
              <a:latin typeface="Cooper Black" panose="0208090404030B020404" pitchFamily="18" charset="0"/>
            </a:endParaRPr>
          </a:p>
        </p:txBody>
      </p:sp>
      <p:sp>
        <p:nvSpPr>
          <p:cNvPr id="5" name="TextBox 4">
            <a:extLst>
              <a:ext uri="{FF2B5EF4-FFF2-40B4-BE49-F238E27FC236}">
                <a16:creationId xmlns:a16="http://schemas.microsoft.com/office/drawing/2014/main" id="{ECB55E0C-3B5F-4BB2-8A48-329B2CE7C139}"/>
              </a:ext>
            </a:extLst>
          </p:cNvPr>
          <p:cNvSpPr txBox="1"/>
          <p:nvPr/>
        </p:nvSpPr>
        <p:spPr>
          <a:xfrm>
            <a:off x="914400" y="1616765"/>
            <a:ext cx="10522226" cy="3293209"/>
          </a:xfrm>
          <a:prstGeom prst="rect">
            <a:avLst/>
          </a:prstGeom>
          <a:noFill/>
        </p:spPr>
        <p:txBody>
          <a:bodyPr wrap="square" rtlCol="0">
            <a:spAutoFit/>
          </a:bodyPr>
          <a:lstStyle/>
          <a:p>
            <a:pPr algn="ctr"/>
            <a:r>
              <a:rPr lang="en-US" sz="2800" b="1" i="1" u="sng" dirty="0">
                <a:solidFill>
                  <a:schemeClr val="bg1"/>
                </a:solidFill>
                <a:latin typeface="Comic Sans MS" panose="030F0702030302020204" pitchFamily="66" charset="0"/>
              </a:rPr>
              <a:t>Why Customer retention is important ?</a:t>
            </a:r>
          </a:p>
          <a:p>
            <a:endParaRPr lang="en-US" sz="2000" dirty="0">
              <a:solidFill>
                <a:schemeClr val="bg1"/>
              </a:solidFill>
              <a:latin typeface="Cooper Black" panose="0208090404030B020404" pitchFamily="18" charset="0"/>
            </a:endParaRPr>
          </a:p>
          <a:p>
            <a:pPr marL="342900" indent="-342900" algn="just">
              <a:buFont typeface="Wingdings" panose="05000000000000000000" pitchFamily="2" charset="2"/>
              <a:buChar char="Ø"/>
            </a:pPr>
            <a:r>
              <a:rPr lang="en-IN" sz="2000" dirty="0">
                <a:solidFill>
                  <a:schemeClr val="bg1"/>
                </a:solidFill>
                <a:latin typeface="Cooper Black" panose="0208090404030B020404" pitchFamily="18" charset="0"/>
              </a:rPr>
              <a:t>Customer retention is vital in driving repeat purchases and ongoing value from your customer base. One oft-cited rule of thumb is that it costs five times as much to acquire a new customer as it does to retain an existing customer. Two of the most important factors in improving customer retention is understanding your customers’ satisfaction and loyalty. Businesses also need to understand any operations that may turn off potential and existing customers, such as slow or poor customer service or a faulty product.</a:t>
            </a:r>
            <a:endParaRPr lang="en-US" sz="2000"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2585498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35D087-26C0-4ABF-B1C9-499F78B02BBB}"/>
              </a:ext>
            </a:extLst>
          </p:cNvPr>
          <p:cNvSpPr txBox="1"/>
          <p:nvPr/>
        </p:nvSpPr>
        <p:spPr>
          <a:xfrm>
            <a:off x="808383" y="1577009"/>
            <a:ext cx="10681252" cy="3600986"/>
          </a:xfrm>
          <a:prstGeom prst="rect">
            <a:avLst/>
          </a:prstGeom>
          <a:noFill/>
        </p:spPr>
        <p:txBody>
          <a:bodyPr wrap="square" rtlCol="0">
            <a:spAutoFit/>
          </a:bodyPr>
          <a:lstStyle/>
          <a:p>
            <a:pPr algn="ctr"/>
            <a:r>
              <a:rPr lang="en-US" sz="2800" b="1" i="1" u="sng" dirty="0">
                <a:solidFill>
                  <a:schemeClr val="bg1"/>
                </a:solidFill>
                <a:latin typeface="Comic Sans MS" panose="030F0702030302020204" pitchFamily="66" charset="0"/>
              </a:rPr>
              <a:t>About Dataset</a:t>
            </a:r>
            <a:endParaRPr lang="en-US" sz="2800" dirty="0">
              <a:solidFill>
                <a:schemeClr val="bg1"/>
              </a:solidFill>
              <a:latin typeface="Comic Sans MS" panose="030F0702030302020204" pitchFamily="66" charset="0"/>
            </a:endParaRPr>
          </a:p>
          <a:p>
            <a:endParaRPr lang="en-US" sz="2000" b="1" i="1" u="sng" dirty="0">
              <a:solidFill>
                <a:schemeClr val="bg1"/>
              </a:solidFill>
              <a:latin typeface="Cooper Black" panose="0208090404030B020404" pitchFamily="18" charset="0"/>
            </a:endParaRP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There are 269 rows and 71 columns in the dataset.</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There are 70 columns which are of object type.</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There is 01 column which is of int type.</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There is no null values in the dataset.</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All column contain n-unique values.</a:t>
            </a:r>
          </a:p>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Except one column which is  </a:t>
            </a:r>
            <a:r>
              <a:rPr lang="en-IN" sz="2000" dirty="0">
                <a:solidFill>
                  <a:schemeClr val="bg1"/>
                </a:solidFill>
                <a:latin typeface="Cooper Black" panose="0208090404030B020404" pitchFamily="18" charset="0"/>
              </a:rPr>
              <a:t>“How do you access the internet while shopping on-line?” has 4 type of values  Mobile internet, Wi-Fi, Mobile Internet, Dial-up. Mobile internet and Mobile Internet are of same type. So, I am combining Mobile internet with Mobile Internet.</a:t>
            </a:r>
          </a:p>
        </p:txBody>
      </p:sp>
    </p:spTree>
    <p:extLst>
      <p:ext uri="{BB962C8B-B14F-4D97-AF65-F5344CB8AC3E}">
        <p14:creationId xmlns:p14="http://schemas.microsoft.com/office/powerpoint/2010/main" val="4273992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76106A0-A2F7-4EA1-89DC-1349E2BE8C24}"/>
              </a:ext>
            </a:extLst>
          </p:cNvPr>
          <p:cNvPicPr>
            <a:picLocks noChangeAspect="1"/>
          </p:cNvPicPr>
          <p:nvPr/>
        </p:nvPicPr>
        <p:blipFill>
          <a:blip r:embed="rId2"/>
          <a:stretch>
            <a:fillRect/>
          </a:stretch>
        </p:blipFill>
        <p:spPr>
          <a:xfrm>
            <a:off x="564879" y="1346874"/>
            <a:ext cx="5531121" cy="2337230"/>
          </a:xfrm>
          <a:prstGeom prst="rect">
            <a:avLst/>
          </a:prstGeom>
        </p:spPr>
      </p:pic>
      <p:pic>
        <p:nvPicPr>
          <p:cNvPr id="11" name="Picture 10">
            <a:extLst>
              <a:ext uri="{FF2B5EF4-FFF2-40B4-BE49-F238E27FC236}">
                <a16:creationId xmlns:a16="http://schemas.microsoft.com/office/drawing/2014/main" id="{D562E5AA-A984-4E88-9DBE-7CDB53DC3938}"/>
              </a:ext>
            </a:extLst>
          </p:cNvPr>
          <p:cNvPicPr>
            <a:picLocks noChangeAspect="1"/>
          </p:cNvPicPr>
          <p:nvPr/>
        </p:nvPicPr>
        <p:blipFill>
          <a:blip r:embed="rId3"/>
          <a:stretch>
            <a:fillRect/>
          </a:stretch>
        </p:blipFill>
        <p:spPr>
          <a:xfrm>
            <a:off x="6096000" y="3684104"/>
            <a:ext cx="5531121" cy="2634280"/>
          </a:xfrm>
          <a:prstGeom prst="rect">
            <a:avLst/>
          </a:prstGeom>
        </p:spPr>
      </p:pic>
      <p:sp>
        <p:nvSpPr>
          <p:cNvPr id="2" name="TextBox 1">
            <a:extLst>
              <a:ext uri="{FF2B5EF4-FFF2-40B4-BE49-F238E27FC236}">
                <a16:creationId xmlns:a16="http://schemas.microsoft.com/office/drawing/2014/main" id="{9083630D-85CA-4028-A73F-0BD218920C97}"/>
              </a:ext>
            </a:extLst>
          </p:cNvPr>
          <p:cNvSpPr txBox="1"/>
          <p:nvPr/>
        </p:nvSpPr>
        <p:spPr>
          <a:xfrm>
            <a:off x="6652591" y="1550504"/>
            <a:ext cx="4558748" cy="1015663"/>
          </a:xfrm>
          <a:prstGeom prst="rect">
            <a:avLst/>
          </a:prstGeom>
          <a:noFill/>
        </p:spPr>
        <p:txBody>
          <a:bodyPr wrap="square" rtlCol="0">
            <a:spAutoFit/>
          </a:bodyPr>
          <a:lstStyle/>
          <a:p>
            <a:pPr marL="285750" indent="-285750" algn="just">
              <a:buFont typeface="Wingdings" panose="05000000000000000000" pitchFamily="2" charset="2"/>
              <a:buChar char="Ø"/>
            </a:pPr>
            <a:r>
              <a:rPr lang="en-US" sz="2000" i="1" dirty="0">
                <a:solidFill>
                  <a:schemeClr val="bg1"/>
                </a:solidFill>
                <a:latin typeface="Cooper Black" panose="0208090404030B020404" pitchFamily="18" charset="0"/>
              </a:rPr>
              <a:t>181 of the respondent are Female and 81 are Male.</a:t>
            </a:r>
          </a:p>
          <a:p>
            <a:pPr marL="285750" indent="-285750" algn="just">
              <a:buFont typeface="Wingdings" panose="05000000000000000000" pitchFamily="2" charset="2"/>
              <a:buChar char="Ø"/>
            </a:pPr>
            <a:r>
              <a:rPr lang="en-US" sz="2000" i="1" dirty="0">
                <a:solidFill>
                  <a:schemeClr val="bg1"/>
                </a:solidFill>
                <a:latin typeface="Cooper Black" panose="0208090404030B020404" pitchFamily="18" charset="0"/>
              </a:rPr>
              <a:t>So , the Female are in majority.</a:t>
            </a:r>
            <a:endParaRPr lang="en-US" sz="1400" i="1" dirty="0">
              <a:solidFill>
                <a:schemeClr val="bg1"/>
              </a:solidFill>
              <a:latin typeface="Cooper Black" panose="0208090404030B020404" pitchFamily="18" charset="0"/>
            </a:endParaRPr>
          </a:p>
        </p:txBody>
      </p:sp>
      <p:sp>
        <p:nvSpPr>
          <p:cNvPr id="5" name="TextBox 4">
            <a:extLst>
              <a:ext uri="{FF2B5EF4-FFF2-40B4-BE49-F238E27FC236}">
                <a16:creationId xmlns:a16="http://schemas.microsoft.com/office/drawing/2014/main" id="{6FE93178-FD96-4FA7-932B-FA0A9E306A51}"/>
              </a:ext>
            </a:extLst>
          </p:cNvPr>
          <p:cNvSpPr txBox="1"/>
          <p:nvPr/>
        </p:nvSpPr>
        <p:spPr>
          <a:xfrm>
            <a:off x="768626" y="4187687"/>
            <a:ext cx="4903304" cy="1323439"/>
          </a:xfrm>
          <a:prstGeom prst="rect">
            <a:avLst/>
          </a:prstGeom>
          <a:noFill/>
        </p:spPr>
        <p:txBody>
          <a:bodyPr wrap="square" rtlCol="0">
            <a:spAutoFit/>
          </a:bodyPr>
          <a:lstStyle/>
          <a:p>
            <a:pPr marL="285750" indent="-285750" algn="just">
              <a:buFont typeface="Wingdings" panose="05000000000000000000" pitchFamily="2" charset="2"/>
              <a:buChar char="Ø"/>
            </a:pPr>
            <a:r>
              <a:rPr lang="en-US" sz="2000" dirty="0">
                <a:solidFill>
                  <a:schemeClr val="bg1"/>
                </a:solidFill>
                <a:latin typeface="Cooper Black" panose="0208090404030B020404" pitchFamily="18" charset="0"/>
              </a:rPr>
              <a:t>81 are from age group 31-40 years, 79 from 21-30 years and 70 from 41-50 years.</a:t>
            </a:r>
          </a:p>
          <a:p>
            <a:pPr marL="285750" indent="-285750">
              <a:buFont typeface="Wingdings" panose="05000000000000000000" pitchFamily="2" charset="2"/>
              <a:buChar char="Ø"/>
            </a:pPr>
            <a:r>
              <a:rPr lang="en-US" sz="2000" dirty="0">
                <a:solidFill>
                  <a:schemeClr val="bg1"/>
                </a:solidFill>
                <a:latin typeface="Cooper Black" panose="0208090404030B020404" pitchFamily="18" charset="0"/>
              </a:rPr>
              <a:t>So,  majority are from 21-50 years.</a:t>
            </a:r>
          </a:p>
        </p:txBody>
      </p:sp>
      <p:sp>
        <p:nvSpPr>
          <p:cNvPr id="3" name="TextBox 2">
            <a:extLst>
              <a:ext uri="{FF2B5EF4-FFF2-40B4-BE49-F238E27FC236}">
                <a16:creationId xmlns:a16="http://schemas.microsoft.com/office/drawing/2014/main" id="{6CF53017-EE09-4E94-9328-740E511741D1}"/>
              </a:ext>
            </a:extLst>
          </p:cNvPr>
          <p:cNvSpPr txBox="1"/>
          <p:nvPr/>
        </p:nvSpPr>
        <p:spPr>
          <a:xfrm>
            <a:off x="2855843" y="729926"/>
            <a:ext cx="6480313" cy="523220"/>
          </a:xfrm>
          <a:prstGeom prst="rect">
            <a:avLst/>
          </a:prstGeom>
          <a:noFill/>
        </p:spPr>
        <p:txBody>
          <a:bodyPr wrap="square" rtlCol="0">
            <a:spAutoFit/>
          </a:bodyPr>
          <a:lstStyle/>
          <a:p>
            <a:pPr algn="ctr"/>
            <a:r>
              <a:rPr lang="en-US" sz="2800" b="1" i="1" u="sng" dirty="0">
                <a:solidFill>
                  <a:schemeClr val="bg1"/>
                </a:solidFill>
                <a:latin typeface="Comic Sans MS" panose="030F0702030302020204" pitchFamily="66" charset="0"/>
              </a:rPr>
              <a:t>Exploratory Data Analysis</a:t>
            </a:r>
          </a:p>
        </p:txBody>
      </p:sp>
    </p:spTree>
    <p:extLst>
      <p:ext uri="{BB962C8B-B14F-4D97-AF65-F5344CB8AC3E}">
        <p14:creationId xmlns:p14="http://schemas.microsoft.com/office/powerpoint/2010/main" val="767133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5FE111-B9FD-4979-B6D4-3B145D9F58FA}"/>
              </a:ext>
            </a:extLst>
          </p:cNvPr>
          <p:cNvPicPr>
            <a:picLocks noChangeAspect="1"/>
          </p:cNvPicPr>
          <p:nvPr/>
        </p:nvPicPr>
        <p:blipFill>
          <a:blip r:embed="rId2"/>
          <a:stretch>
            <a:fillRect/>
          </a:stretch>
        </p:blipFill>
        <p:spPr>
          <a:xfrm>
            <a:off x="530352" y="530352"/>
            <a:ext cx="5605272" cy="2906863"/>
          </a:xfrm>
          <a:prstGeom prst="rect">
            <a:avLst/>
          </a:prstGeom>
        </p:spPr>
      </p:pic>
      <p:pic>
        <p:nvPicPr>
          <p:cNvPr id="6" name="Picture 5">
            <a:extLst>
              <a:ext uri="{FF2B5EF4-FFF2-40B4-BE49-F238E27FC236}">
                <a16:creationId xmlns:a16="http://schemas.microsoft.com/office/drawing/2014/main" id="{41D0B899-FB9E-431F-9AD5-1685FB5A88E9}"/>
              </a:ext>
            </a:extLst>
          </p:cNvPr>
          <p:cNvPicPr>
            <a:picLocks noChangeAspect="1"/>
          </p:cNvPicPr>
          <p:nvPr/>
        </p:nvPicPr>
        <p:blipFill>
          <a:blip r:embed="rId3"/>
          <a:stretch>
            <a:fillRect/>
          </a:stretch>
        </p:blipFill>
        <p:spPr>
          <a:xfrm>
            <a:off x="6135625" y="3429000"/>
            <a:ext cx="5526023" cy="2907792"/>
          </a:xfrm>
          <a:prstGeom prst="rect">
            <a:avLst/>
          </a:prstGeom>
        </p:spPr>
      </p:pic>
      <p:sp>
        <p:nvSpPr>
          <p:cNvPr id="2" name="TextBox 1">
            <a:extLst>
              <a:ext uri="{FF2B5EF4-FFF2-40B4-BE49-F238E27FC236}">
                <a16:creationId xmlns:a16="http://schemas.microsoft.com/office/drawing/2014/main" id="{C4E9A230-910D-4581-816F-00802D670D8E}"/>
              </a:ext>
            </a:extLst>
          </p:cNvPr>
          <p:cNvSpPr txBox="1"/>
          <p:nvPr/>
        </p:nvSpPr>
        <p:spPr>
          <a:xfrm>
            <a:off x="6705600" y="1470991"/>
            <a:ext cx="4678017" cy="1015663"/>
          </a:xfrm>
          <a:prstGeom prst="rect">
            <a:avLst/>
          </a:prstGeom>
          <a:noFill/>
        </p:spPr>
        <p:txBody>
          <a:bodyPr wrap="square" rtlCol="0">
            <a:spAutoFit/>
          </a:bodyPr>
          <a:lstStyle/>
          <a:p>
            <a:pPr marL="285750" indent="-285750" algn="just">
              <a:buFont typeface="Wingdings" panose="05000000000000000000" pitchFamily="2" charset="2"/>
              <a:buChar char="Ø"/>
            </a:pPr>
            <a:r>
              <a:rPr lang="en-US" sz="2000" dirty="0">
                <a:solidFill>
                  <a:schemeClr val="bg1"/>
                </a:solidFill>
                <a:latin typeface="Cooper Black" panose="0208090404030B020404" pitchFamily="18" charset="0"/>
              </a:rPr>
              <a:t>58 from Delhi, 43  from Greater Noida, 40 from Noida.</a:t>
            </a:r>
          </a:p>
          <a:p>
            <a:pPr marL="285750" indent="-285750" algn="just">
              <a:buFont typeface="Wingdings" panose="05000000000000000000" pitchFamily="2" charset="2"/>
              <a:buChar char="Ø"/>
            </a:pPr>
            <a:r>
              <a:rPr lang="en-US" sz="2000" dirty="0">
                <a:solidFill>
                  <a:schemeClr val="bg1"/>
                </a:solidFill>
                <a:latin typeface="Cooper Black" panose="0208090404030B020404" pitchFamily="18" charset="0"/>
              </a:rPr>
              <a:t>So, majority are from Delhi city.</a:t>
            </a:r>
          </a:p>
        </p:txBody>
      </p:sp>
      <p:sp>
        <p:nvSpPr>
          <p:cNvPr id="4" name="TextBox 3">
            <a:extLst>
              <a:ext uri="{FF2B5EF4-FFF2-40B4-BE49-F238E27FC236}">
                <a16:creationId xmlns:a16="http://schemas.microsoft.com/office/drawing/2014/main" id="{D110B91E-1F33-408D-A4F2-8398CD794D1C}"/>
              </a:ext>
            </a:extLst>
          </p:cNvPr>
          <p:cNvSpPr txBox="1"/>
          <p:nvPr/>
        </p:nvSpPr>
        <p:spPr>
          <a:xfrm>
            <a:off x="702366" y="4267200"/>
            <a:ext cx="5128592" cy="1631216"/>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98 are those who shopping online above 4  years, 65 are those who shopping online 2-3 years.</a:t>
            </a:r>
          </a:p>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So, majority of those who are shopping online above 4  years.</a:t>
            </a:r>
          </a:p>
        </p:txBody>
      </p:sp>
    </p:spTree>
    <p:extLst>
      <p:ext uri="{BB962C8B-B14F-4D97-AF65-F5344CB8AC3E}">
        <p14:creationId xmlns:p14="http://schemas.microsoft.com/office/powerpoint/2010/main" val="3633412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506F75-E6BF-4DC8-9044-781C325E5BA2}"/>
              </a:ext>
            </a:extLst>
          </p:cNvPr>
          <p:cNvPicPr>
            <a:picLocks noChangeAspect="1"/>
          </p:cNvPicPr>
          <p:nvPr/>
        </p:nvPicPr>
        <p:blipFill>
          <a:blip r:embed="rId2"/>
          <a:stretch>
            <a:fillRect/>
          </a:stretch>
        </p:blipFill>
        <p:spPr>
          <a:xfrm>
            <a:off x="530352" y="530349"/>
            <a:ext cx="5565648" cy="2944368"/>
          </a:xfrm>
          <a:prstGeom prst="rect">
            <a:avLst/>
          </a:prstGeom>
        </p:spPr>
      </p:pic>
      <p:pic>
        <p:nvPicPr>
          <p:cNvPr id="5" name="Picture 4">
            <a:extLst>
              <a:ext uri="{FF2B5EF4-FFF2-40B4-BE49-F238E27FC236}">
                <a16:creationId xmlns:a16="http://schemas.microsoft.com/office/drawing/2014/main" id="{DF55CD8A-4934-47F2-8567-599D55D947B1}"/>
              </a:ext>
            </a:extLst>
          </p:cNvPr>
          <p:cNvPicPr>
            <a:picLocks noChangeAspect="1"/>
          </p:cNvPicPr>
          <p:nvPr/>
        </p:nvPicPr>
        <p:blipFill>
          <a:blip r:embed="rId3"/>
          <a:stretch>
            <a:fillRect/>
          </a:stretch>
        </p:blipFill>
        <p:spPr>
          <a:xfrm>
            <a:off x="6096000" y="3474717"/>
            <a:ext cx="5565648" cy="2852934"/>
          </a:xfrm>
          <a:prstGeom prst="rect">
            <a:avLst/>
          </a:prstGeom>
        </p:spPr>
      </p:pic>
      <p:sp>
        <p:nvSpPr>
          <p:cNvPr id="2" name="TextBox 1">
            <a:extLst>
              <a:ext uri="{FF2B5EF4-FFF2-40B4-BE49-F238E27FC236}">
                <a16:creationId xmlns:a16="http://schemas.microsoft.com/office/drawing/2014/main" id="{534963D8-5005-4E54-B55F-893B46E13715}"/>
              </a:ext>
            </a:extLst>
          </p:cNvPr>
          <p:cNvSpPr txBox="1"/>
          <p:nvPr/>
        </p:nvSpPr>
        <p:spPr>
          <a:xfrm>
            <a:off x="6096000" y="1186925"/>
            <a:ext cx="5565647" cy="2246769"/>
          </a:xfrm>
          <a:prstGeom prst="rect">
            <a:avLst/>
          </a:prstGeom>
          <a:noFill/>
        </p:spPr>
        <p:txBody>
          <a:bodyPr wrap="square" rtlCol="0">
            <a:spAutoFit/>
          </a:bodyPr>
          <a:lstStyle/>
          <a:p>
            <a:pPr marL="285750" indent="-285750" algn="just">
              <a:buFont typeface="Wingdings" panose="05000000000000000000" pitchFamily="2" charset="2"/>
              <a:buChar char="Ø"/>
            </a:pPr>
            <a:r>
              <a:rPr lang="en-US" sz="2000" dirty="0">
                <a:solidFill>
                  <a:schemeClr val="bg1"/>
                </a:solidFill>
                <a:latin typeface="Cooper Black" panose="0208090404030B020404" pitchFamily="18" charset="0"/>
              </a:rPr>
              <a:t>114 are those who made less than 10 times an online purchase in the past year and 63 are those who made 31-40 times an online purchase in the past year.</a:t>
            </a:r>
          </a:p>
          <a:p>
            <a:pPr marL="285750" indent="-285750" algn="just">
              <a:buFont typeface="Wingdings" panose="05000000000000000000" pitchFamily="2" charset="2"/>
              <a:buChar char="Ø"/>
            </a:pPr>
            <a:r>
              <a:rPr lang="en-US" sz="2000" dirty="0">
                <a:solidFill>
                  <a:schemeClr val="bg1"/>
                </a:solidFill>
                <a:latin typeface="Cooper Black" panose="0208090404030B020404" pitchFamily="18" charset="0"/>
              </a:rPr>
              <a:t>So, those who purchase less than 10 times in the past year are in majority. </a:t>
            </a:r>
          </a:p>
        </p:txBody>
      </p:sp>
      <p:sp>
        <p:nvSpPr>
          <p:cNvPr id="4" name="TextBox 3">
            <a:extLst>
              <a:ext uri="{FF2B5EF4-FFF2-40B4-BE49-F238E27FC236}">
                <a16:creationId xmlns:a16="http://schemas.microsoft.com/office/drawing/2014/main" id="{406C8ADA-A4A9-41AE-BDC4-551F1CB6980B}"/>
              </a:ext>
            </a:extLst>
          </p:cNvPr>
          <p:cNvSpPr txBox="1"/>
          <p:nvPr/>
        </p:nvSpPr>
        <p:spPr>
          <a:xfrm>
            <a:off x="689113" y="4187687"/>
            <a:ext cx="5208104" cy="1938992"/>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While shopping online 189 are access the internet via Mobile Internet, 76 via Wi-Fi, 4 via Dial-up.</a:t>
            </a:r>
          </a:p>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So, majority of those who are accessing  internet via Mobile Internet. </a:t>
            </a:r>
          </a:p>
        </p:txBody>
      </p:sp>
    </p:spTree>
    <p:extLst>
      <p:ext uri="{BB962C8B-B14F-4D97-AF65-F5344CB8AC3E}">
        <p14:creationId xmlns:p14="http://schemas.microsoft.com/office/powerpoint/2010/main" val="1304090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048261-7893-45F8-A322-0DD0670029F1}"/>
              </a:ext>
            </a:extLst>
          </p:cNvPr>
          <p:cNvPicPr>
            <a:picLocks noChangeAspect="1"/>
          </p:cNvPicPr>
          <p:nvPr/>
        </p:nvPicPr>
        <p:blipFill>
          <a:blip r:embed="rId2"/>
          <a:stretch>
            <a:fillRect/>
          </a:stretch>
        </p:blipFill>
        <p:spPr>
          <a:xfrm>
            <a:off x="513571" y="522564"/>
            <a:ext cx="5582427" cy="2906436"/>
          </a:xfrm>
          <a:prstGeom prst="rect">
            <a:avLst/>
          </a:prstGeom>
        </p:spPr>
      </p:pic>
      <p:pic>
        <p:nvPicPr>
          <p:cNvPr id="5" name="Picture 4">
            <a:extLst>
              <a:ext uri="{FF2B5EF4-FFF2-40B4-BE49-F238E27FC236}">
                <a16:creationId xmlns:a16="http://schemas.microsoft.com/office/drawing/2014/main" id="{F8DE30AC-3D35-4FE1-B3AC-4BA697CFB59B}"/>
              </a:ext>
            </a:extLst>
          </p:cNvPr>
          <p:cNvPicPr>
            <a:picLocks noChangeAspect="1"/>
          </p:cNvPicPr>
          <p:nvPr/>
        </p:nvPicPr>
        <p:blipFill>
          <a:blip r:embed="rId3"/>
          <a:stretch>
            <a:fillRect/>
          </a:stretch>
        </p:blipFill>
        <p:spPr>
          <a:xfrm>
            <a:off x="6096000" y="3429000"/>
            <a:ext cx="5582428" cy="2906436"/>
          </a:xfrm>
          <a:prstGeom prst="rect">
            <a:avLst/>
          </a:prstGeom>
        </p:spPr>
      </p:pic>
      <p:sp>
        <p:nvSpPr>
          <p:cNvPr id="2" name="TextBox 1">
            <a:extLst>
              <a:ext uri="{FF2B5EF4-FFF2-40B4-BE49-F238E27FC236}">
                <a16:creationId xmlns:a16="http://schemas.microsoft.com/office/drawing/2014/main" id="{665A77BB-9505-44D7-B6AD-3CAA26EB6BD5}"/>
              </a:ext>
            </a:extLst>
          </p:cNvPr>
          <p:cNvSpPr txBox="1"/>
          <p:nvPr/>
        </p:nvSpPr>
        <p:spPr>
          <a:xfrm>
            <a:off x="6400800" y="1457739"/>
            <a:ext cx="4956313" cy="1631216"/>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141 are using Smartphone, 86 Laptop, 30 Desktop and 12 Tablet.</a:t>
            </a:r>
          </a:p>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So, majority of those who are using Smartphone to access the online shopping.</a:t>
            </a:r>
          </a:p>
        </p:txBody>
      </p:sp>
      <p:sp>
        <p:nvSpPr>
          <p:cNvPr id="4" name="TextBox 3">
            <a:extLst>
              <a:ext uri="{FF2B5EF4-FFF2-40B4-BE49-F238E27FC236}">
                <a16:creationId xmlns:a16="http://schemas.microsoft.com/office/drawing/2014/main" id="{40B7D7EE-84CE-4677-ABD4-23498B1D05A9}"/>
              </a:ext>
            </a:extLst>
          </p:cNvPr>
          <p:cNvSpPr txBox="1"/>
          <p:nvPr/>
        </p:nvSpPr>
        <p:spPr>
          <a:xfrm>
            <a:off x="768626" y="4121426"/>
            <a:ext cx="4823791" cy="1938992"/>
          </a:xfrm>
          <a:prstGeom prst="rect">
            <a:avLst/>
          </a:prstGeom>
          <a:noFill/>
        </p:spPr>
        <p:txBody>
          <a:bodyPr wrap="square" rtlCol="0">
            <a:spAutoFit/>
          </a:bodyPr>
          <a:lstStyle/>
          <a:p>
            <a:pPr marL="285750" indent="-285750" algn="just">
              <a:buFont typeface="Wingdings" panose="05000000000000000000" pitchFamily="2" charset="2"/>
              <a:buChar char="Ø"/>
            </a:pPr>
            <a:r>
              <a:rPr lang="en-US" sz="2000" dirty="0">
                <a:solidFill>
                  <a:schemeClr val="bg1"/>
                </a:solidFill>
                <a:latin typeface="Cooper Black" panose="0208090404030B020404" pitchFamily="18" charset="0"/>
              </a:rPr>
              <a:t>The screen size of mobile device of 29 customer is 4.7 inch, 7 customer is 5 inch, 99 customer is 5.5 inch and 134 is other size.</a:t>
            </a:r>
          </a:p>
          <a:p>
            <a:pPr marL="285750" indent="-285750" algn="just">
              <a:buFont typeface="Wingdings" panose="05000000000000000000" pitchFamily="2" charset="2"/>
              <a:buChar char="Ø"/>
            </a:pPr>
            <a:r>
              <a:rPr lang="en-US" sz="2000" dirty="0">
                <a:solidFill>
                  <a:schemeClr val="bg1"/>
                </a:solidFill>
                <a:latin typeface="Cooper Black" panose="0208090404030B020404" pitchFamily="18" charset="0"/>
              </a:rPr>
              <a:t>So, the majority are of other screen size of mobile device.</a:t>
            </a:r>
          </a:p>
        </p:txBody>
      </p:sp>
    </p:spTree>
    <p:extLst>
      <p:ext uri="{BB962C8B-B14F-4D97-AF65-F5344CB8AC3E}">
        <p14:creationId xmlns:p14="http://schemas.microsoft.com/office/powerpoint/2010/main" val="404396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37C12F-4BF3-486E-90B2-98180C0399F9}"/>
              </a:ext>
            </a:extLst>
          </p:cNvPr>
          <p:cNvPicPr>
            <a:picLocks noChangeAspect="1"/>
          </p:cNvPicPr>
          <p:nvPr/>
        </p:nvPicPr>
        <p:blipFill>
          <a:blip r:embed="rId2"/>
          <a:stretch>
            <a:fillRect/>
          </a:stretch>
        </p:blipFill>
        <p:spPr>
          <a:xfrm>
            <a:off x="532259" y="532645"/>
            <a:ext cx="5563741" cy="2944368"/>
          </a:xfrm>
          <a:prstGeom prst="rect">
            <a:avLst/>
          </a:prstGeom>
        </p:spPr>
      </p:pic>
      <p:pic>
        <p:nvPicPr>
          <p:cNvPr id="5" name="Picture 4">
            <a:extLst>
              <a:ext uri="{FF2B5EF4-FFF2-40B4-BE49-F238E27FC236}">
                <a16:creationId xmlns:a16="http://schemas.microsoft.com/office/drawing/2014/main" id="{57CFEE3F-9FEE-4576-B527-43851A1481E6}"/>
              </a:ext>
            </a:extLst>
          </p:cNvPr>
          <p:cNvPicPr>
            <a:picLocks noChangeAspect="1"/>
          </p:cNvPicPr>
          <p:nvPr/>
        </p:nvPicPr>
        <p:blipFill>
          <a:blip r:embed="rId3"/>
          <a:stretch>
            <a:fillRect/>
          </a:stretch>
        </p:blipFill>
        <p:spPr>
          <a:xfrm>
            <a:off x="6095997" y="3477013"/>
            <a:ext cx="5563741" cy="2848342"/>
          </a:xfrm>
          <a:prstGeom prst="rect">
            <a:avLst/>
          </a:prstGeom>
        </p:spPr>
      </p:pic>
      <p:sp>
        <p:nvSpPr>
          <p:cNvPr id="2" name="TextBox 1">
            <a:extLst>
              <a:ext uri="{FF2B5EF4-FFF2-40B4-BE49-F238E27FC236}">
                <a16:creationId xmlns:a16="http://schemas.microsoft.com/office/drawing/2014/main" id="{F67FB27F-6E9C-4979-9395-A44DE46992BD}"/>
              </a:ext>
            </a:extLst>
          </p:cNvPr>
          <p:cNvSpPr txBox="1"/>
          <p:nvPr/>
        </p:nvSpPr>
        <p:spPr>
          <a:xfrm>
            <a:off x="6361043" y="1431235"/>
            <a:ext cx="5168348" cy="1323439"/>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122 are using Window/windows Mobile, 85 Android, 62 IOS/Mac.</a:t>
            </a:r>
          </a:p>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So, majority are of Window / windows Mobile users.</a:t>
            </a:r>
          </a:p>
        </p:txBody>
      </p:sp>
      <p:sp>
        <p:nvSpPr>
          <p:cNvPr id="4" name="TextBox 3">
            <a:extLst>
              <a:ext uri="{FF2B5EF4-FFF2-40B4-BE49-F238E27FC236}">
                <a16:creationId xmlns:a16="http://schemas.microsoft.com/office/drawing/2014/main" id="{C14769D0-9ADE-444E-9AF7-F50FEF192FE4}"/>
              </a:ext>
            </a:extLst>
          </p:cNvPr>
          <p:cNvSpPr txBox="1"/>
          <p:nvPr/>
        </p:nvSpPr>
        <p:spPr>
          <a:xfrm>
            <a:off x="532259" y="3949148"/>
            <a:ext cx="5062330" cy="2246769"/>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216 are using Google chrome browser to access the website, 40 use Safari, 8 use Opera, 5 use Mozilla Firebox.</a:t>
            </a:r>
          </a:p>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So, majority are of those who run Google chrome as browser to access the website.</a:t>
            </a:r>
          </a:p>
        </p:txBody>
      </p:sp>
    </p:spTree>
    <p:extLst>
      <p:ext uri="{BB962C8B-B14F-4D97-AF65-F5344CB8AC3E}">
        <p14:creationId xmlns:p14="http://schemas.microsoft.com/office/powerpoint/2010/main" val="3564726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D33B68-78C0-4A2F-8D42-B8C424A99F92}"/>
              </a:ext>
            </a:extLst>
          </p:cNvPr>
          <p:cNvPicPr>
            <a:picLocks noChangeAspect="1"/>
          </p:cNvPicPr>
          <p:nvPr/>
        </p:nvPicPr>
        <p:blipFill>
          <a:blip r:embed="rId2"/>
          <a:stretch>
            <a:fillRect/>
          </a:stretch>
        </p:blipFill>
        <p:spPr>
          <a:xfrm>
            <a:off x="539465" y="511243"/>
            <a:ext cx="5556533" cy="2917758"/>
          </a:xfrm>
          <a:prstGeom prst="rect">
            <a:avLst/>
          </a:prstGeom>
        </p:spPr>
      </p:pic>
      <p:pic>
        <p:nvPicPr>
          <p:cNvPr id="5" name="Picture 4">
            <a:extLst>
              <a:ext uri="{FF2B5EF4-FFF2-40B4-BE49-F238E27FC236}">
                <a16:creationId xmlns:a16="http://schemas.microsoft.com/office/drawing/2014/main" id="{E18A0CD9-E438-4598-BFA8-FD6E16E4F7A7}"/>
              </a:ext>
            </a:extLst>
          </p:cNvPr>
          <p:cNvPicPr>
            <a:picLocks noChangeAspect="1"/>
          </p:cNvPicPr>
          <p:nvPr/>
        </p:nvPicPr>
        <p:blipFill>
          <a:blip r:embed="rId3"/>
          <a:stretch>
            <a:fillRect/>
          </a:stretch>
        </p:blipFill>
        <p:spPr>
          <a:xfrm>
            <a:off x="6096000" y="3429000"/>
            <a:ext cx="5556533" cy="2828420"/>
          </a:xfrm>
          <a:prstGeom prst="rect">
            <a:avLst/>
          </a:prstGeom>
        </p:spPr>
      </p:pic>
      <p:sp>
        <p:nvSpPr>
          <p:cNvPr id="2" name="TextBox 1">
            <a:extLst>
              <a:ext uri="{FF2B5EF4-FFF2-40B4-BE49-F238E27FC236}">
                <a16:creationId xmlns:a16="http://schemas.microsoft.com/office/drawing/2014/main" id="{FE294D78-66C5-4796-867E-D9F224CE5D11}"/>
              </a:ext>
            </a:extLst>
          </p:cNvPr>
          <p:cNvSpPr txBox="1"/>
          <p:nvPr/>
        </p:nvSpPr>
        <p:spPr>
          <a:xfrm>
            <a:off x="6268278" y="1338470"/>
            <a:ext cx="5384255" cy="1938992"/>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230 are follow Search Engine, 20 are follow Content Marketing, 19 are follow Display Adverts to arrive first time at favorite online store.</a:t>
            </a:r>
          </a:p>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So, majority are of those who arrive via Search Engine. </a:t>
            </a:r>
          </a:p>
        </p:txBody>
      </p:sp>
      <p:sp>
        <p:nvSpPr>
          <p:cNvPr id="6" name="TextBox 5">
            <a:extLst>
              <a:ext uri="{FF2B5EF4-FFF2-40B4-BE49-F238E27FC236}">
                <a16:creationId xmlns:a16="http://schemas.microsoft.com/office/drawing/2014/main" id="{56085546-F672-496C-A64E-68D39823DC60}"/>
              </a:ext>
            </a:extLst>
          </p:cNvPr>
          <p:cNvSpPr txBox="1"/>
          <p:nvPr/>
        </p:nvSpPr>
        <p:spPr>
          <a:xfrm>
            <a:off x="675861" y="3896139"/>
            <a:ext cx="5088834" cy="2246769"/>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87 via Search Engine, 86 via application, 70 via Direct URL, 18 via E-mail, 8 via Social Media reach the online retail store after first visit.</a:t>
            </a:r>
          </a:p>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So, majority are of those who arrive via Search Engine. </a:t>
            </a:r>
          </a:p>
        </p:txBody>
      </p:sp>
    </p:spTree>
    <p:extLst>
      <p:ext uri="{BB962C8B-B14F-4D97-AF65-F5344CB8AC3E}">
        <p14:creationId xmlns:p14="http://schemas.microsoft.com/office/powerpoint/2010/main" val="1342785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AF1E4E-3481-4135-B2A6-917FF114CB9E}"/>
              </a:ext>
            </a:extLst>
          </p:cNvPr>
          <p:cNvPicPr>
            <a:picLocks noChangeAspect="1"/>
          </p:cNvPicPr>
          <p:nvPr/>
        </p:nvPicPr>
        <p:blipFill>
          <a:blip r:embed="rId2"/>
          <a:stretch>
            <a:fillRect/>
          </a:stretch>
        </p:blipFill>
        <p:spPr>
          <a:xfrm>
            <a:off x="534111" y="536631"/>
            <a:ext cx="5561889" cy="2892369"/>
          </a:xfrm>
          <a:prstGeom prst="rect">
            <a:avLst/>
          </a:prstGeom>
        </p:spPr>
      </p:pic>
      <p:pic>
        <p:nvPicPr>
          <p:cNvPr id="7" name="Picture 6">
            <a:extLst>
              <a:ext uri="{FF2B5EF4-FFF2-40B4-BE49-F238E27FC236}">
                <a16:creationId xmlns:a16="http://schemas.microsoft.com/office/drawing/2014/main" id="{6BB3B54C-CF95-46FF-B445-F5FEF187AE2C}"/>
              </a:ext>
            </a:extLst>
          </p:cNvPr>
          <p:cNvPicPr>
            <a:picLocks noChangeAspect="1"/>
          </p:cNvPicPr>
          <p:nvPr/>
        </p:nvPicPr>
        <p:blipFill>
          <a:blip r:embed="rId3"/>
          <a:stretch>
            <a:fillRect/>
          </a:stretch>
        </p:blipFill>
        <p:spPr>
          <a:xfrm>
            <a:off x="6096000" y="3429000"/>
            <a:ext cx="5561889" cy="2843836"/>
          </a:xfrm>
          <a:prstGeom prst="rect">
            <a:avLst/>
          </a:prstGeom>
        </p:spPr>
      </p:pic>
      <p:sp>
        <p:nvSpPr>
          <p:cNvPr id="2" name="TextBox 1">
            <a:extLst>
              <a:ext uri="{FF2B5EF4-FFF2-40B4-BE49-F238E27FC236}">
                <a16:creationId xmlns:a16="http://schemas.microsoft.com/office/drawing/2014/main" id="{0AA8898C-0D6F-453D-9020-A38E19C6C1C8}"/>
              </a:ext>
            </a:extLst>
          </p:cNvPr>
          <p:cNvSpPr txBox="1"/>
          <p:nvPr/>
        </p:nvSpPr>
        <p:spPr>
          <a:xfrm>
            <a:off x="6396776" y="1182231"/>
            <a:ext cx="5261113" cy="2246769"/>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123 took more than 15 mins, 71 6-10 mins, 46 11-15 mins, 15 less than 1 min, 14 1-5 mins explore the e-retail store before making a purchase decision.</a:t>
            </a:r>
          </a:p>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So, majority are of those who took more than 15 mins.</a:t>
            </a:r>
          </a:p>
        </p:txBody>
      </p:sp>
      <p:sp>
        <p:nvSpPr>
          <p:cNvPr id="3" name="TextBox 2">
            <a:extLst>
              <a:ext uri="{FF2B5EF4-FFF2-40B4-BE49-F238E27FC236}">
                <a16:creationId xmlns:a16="http://schemas.microsoft.com/office/drawing/2014/main" id="{F24FD0CC-7F41-4203-86B5-3DA3FDEA7BC4}"/>
              </a:ext>
            </a:extLst>
          </p:cNvPr>
          <p:cNvSpPr txBox="1"/>
          <p:nvPr/>
        </p:nvSpPr>
        <p:spPr>
          <a:xfrm>
            <a:off x="715617" y="4108174"/>
            <a:ext cx="5141844" cy="1631216"/>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148 preferred Credit/Debit cards, 76 Cash on delivery, 45 E-wallets as payment Option.</a:t>
            </a:r>
          </a:p>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So, majority are of those who preferred Credit/Debit cards.</a:t>
            </a:r>
          </a:p>
        </p:txBody>
      </p:sp>
    </p:spTree>
    <p:extLst>
      <p:ext uri="{BB962C8B-B14F-4D97-AF65-F5344CB8AC3E}">
        <p14:creationId xmlns:p14="http://schemas.microsoft.com/office/powerpoint/2010/main" val="1713599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D462F9-3236-4B62-B554-4C04FB2C9930}"/>
              </a:ext>
            </a:extLst>
          </p:cNvPr>
          <p:cNvPicPr>
            <a:picLocks noChangeAspect="1"/>
          </p:cNvPicPr>
          <p:nvPr/>
        </p:nvPicPr>
        <p:blipFill>
          <a:blip r:embed="rId2"/>
          <a:stretch>
            <a:fillRect/>
          </a:stretch>
        </p:blipFill>
        <p:spPr>
          <a:xfrm>
            <a:off x="523831" y="525417"/>
            <a:ext cx="5572169" cy="2903583"/>
          </a:xfrm>
          <a:prstGeom prst="rect">
            <a:avLst/>
          </a:prstGeom>
        </p:spPr>
      </p:pic>
      <p:pic>
        <p:nvPicPr>
          <p:cNvPr id="5" name="Picture 4">
            <a:extLst>
              <a:ext uri="{FF2B5EF4-FFF2-40B4-BE49-F238E27FC236}">
                <a16:creationId xmlns:a16="http://schemas.microsoft.com/office/drawing/2014/main" id="{8580DD6C-F30D-41CC-B29C-7739B769145B}"/>
              </a:ext>
            </a:extLst>
          </p:cNvPr>
          <p:cNvPicPr>
            <a:picLocks noChangeAspect="1"/>
          </p:cNvPicPr>
          <p:nvPr/>
        </p:nvPicPr>
        <p:blipFill>
          <a:blip r:embed="rId3"/>
          <a:stretch>
            <a:fillRect/>
          </a:stretch>
        </p:blipFill>
        <p:spPr>
          <a:xfrm>
            <a:off x="6095999" y="3428999"/>
            <a:ext cx="5572170" cy="2903584"/>
          </a:xfrm>
          <a:prstGeom prst="rect">
            <a:avLst/>
          </a:prstGeom>
        </p:spPr>
      </p:pic>
      <p:sp>
        <p:nvSpPr>
          <p:cNvPr id="6" name="TextBox 5">
            <a:extLst>
              <a:ext uri="{FF2B5EF4-FFF2-40B4-BE49-F238E27FC236}">
                <a16:creationId xmlns:a16="http://schemas.microsoft.com/office/drawing/2014/main" id="{4AB6D1EF-6215-484D-8596-A2D68952636B}"/>
              </a:ext>
            </a:extLst>
          </p:cNvPr>
          <p:cNvSpPr txBox="1"/>
          <p:nvPr/>
        </p:nvSpPr>
        <p:spPr>
          <a:xfrm>
            <a:off x="6308035" y="1232452"/>
            <a:ext cx="5360134" cy="1938992"/>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171 Sometimes, 48 Never, 35 Frequently and 15 Very frequently are the counts of those abandon the shopping cart.</a:t>
            </a:r>
          </a:p>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So, majority are of those who don’t do it.   </a:t>
            </a:r>
          </a:p>
        </p:txBody>
      </p:sp>
      <p:sp>
        <p:nvSpPr>
          <p:cNvPr id="7" name="TextBox 6">
            <a:extLst>
              <a:ext uri="{FF2B5EF4-FFF2-40B4-BE49-F238E27FC236}">
                <a16:creationId xmlns:a16="http://schemas.microsoft.com/office/drawing/2014/main" id="{3AFC32BD-2E12-468E-A69E-CFCC3A651DCA}"/>
              </a:ext>
            </a:extLst>
          </p:cNvPr>
          <p:cNvSpPr txBox="1"/>
          <p:nvPr/>
        </p:nvSpPr>
        <p:spPr>
          <a:xfrm>
            <a:off x="523831" y="3603519"/>
            <a:ext cx="5168347" cy="2554545"/>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133 for Better alternative offer, 54 for Promo code not applicable, 37 for Change in price, 31 for Lack of trust and 14 No preferred mode of payment abandon the “Bag”, “Shopping Cart”.</a:t>
            </a:r>
          </a:p>
          <a:p>
            <a:pPr marL="342900" indent="-342900" algn="just">
              <a:buFont typeface="Wingdings" panose="05000000000000000000" pitchFamily="2" charset="2"/>
              <a:buChar char="Ø"/>
            </a:pPr>
            <a:r>
              <a:rPr lang="en-US" sz="2000" dirty="0">
                <a:solidFill>
                  <a:schemeClr val="bg1"/>
                </a:solidFill>
                <a:latin typeface="Cooper Black" panose="0208090404030B020404" pitchFamily="18" charset="0"/>
              </a:rPr>
              <a:t>So, majority are for Better alternative offer.</a:t>
            </a:r>
          </a:p>
        </p:txBody>
      </p:sp>
    </p:spTree>
    <p:extLst>
      <p:ext uri="{BB962C8B-B14F-4D97-AF65-F5344CB8AC3E}">
        <p14:creationId xmlns:p14="http://schemas.microsoft.com/office/powerpoint/2010/main" val="3148513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BACA2C-68F8-4EBA-832A-3FA32B15B26A}"/>
              </a:ext>
            </a:extLst>
          </p:cNvPr>
          <p:cNvSpPr>
            <a:spLocks noGrp="1"/>
          </p:cNvSpPr>
          <p:nvPr>
            <p:ph type="subTitle" idx="1"/>
          </p:nvPr>
        </p:nvSpPr>
        <p:spPr>
          <a:xfrm>
            <a:off x="954157" y="1212545"/>
            <a:ext cx="10376452" cy="861420"/>
          </a:xfrm>
        </p:spPr>
        <p:txBody>
          <a:bodyPr>
            <a:normAutofit/>
          </a:bodyPr>
          <a:lstStyle/>
          <a:p>
            <a:pPr algn="ctr"/>
            <a:r>
              <a:rPr lang="en-IN" sz="2800" b="1" i="1" u="sng" cap="none" dirty="0">
                <a:solidFill>
                  <a:schemeClr val="bg1"/>
                </a:solidFill>
                <a:latin typeface="Comic Sans MS" panose="030F0702030302020204" pitchFamily="66" charset="0"/>
              </a:rPr>
              <a:t>Points of survey on which customers are Strongly agree:</a:t>
            </a:r>
          </a:p>
          <a:p>
            <a:endParaRPr lang="en-US" dirty="0"/>
          </a:p>
        </p:txBody>
      </p:sp>
      <p:sp>
        <p:nvSpPr>
          <p:cNvPr id="8" name="TextBox 7">
            <a:extLst>
              <a:ext uri="{FF2B5EF4-FFF2-40B4-BE49-F238E27FC236}">
                <a16:creationId xmlns:a16="http://schemas.microsoft.com/office/drawing/2014/main" id="{CCFD15E6-2D68-441F-BAA7-35B8133EF9D0}"/>
              </a:ext>
            </a:extLst>
          </p:cNvPr>
          <p:cNvSpPr txBox="1"/>
          <p:nvPr/>
        </p:nvSpPr>
        <p:spPr>
          <a:xfrm>
            <a:off x="954157" y="2385391"/>
            <a:ext cx="3458817" cy="3293209"/>
          </a:xfrm>
          <a:prstGeom prst="rect">
            <a:avLst/>
          </a:prstGeom>
          <a:noFill/>
        </p:spPr>
        <p:txBody>
          <a:bodyPr wrap="square" rtlCol="0">
            <a:spAutoFit/>
          </a:bodyPr>
          <a:lstStyle/>
          <a:p>
            <a:pPr marL="285750" indent="-285750" algn="just">
              <a:buFont typeface="Wingdings" panose="05000000000000000000" pitchFamily="2" charset="2"/>
              <a:buChar char="v"/>
            </a:pPr>
            <a:r>
              <a:rPr lang="en-IN" sz="1600" dirty="0">
                <a:solidFill>
                  <a:schemeClr val="bg1"/>
                </a:solidFill>
                <a:latin typeface="Cooper Black" panose="0208090404030B020404" pitchFamily="18" charset="0"/>
              </a:rPr>
              <a:t>The content on the website must be easy to read and understand.</a:t>
            </a:r>
          </a:p>
          <a:p>
            <a:pPr marL="285750" indent="-285750" algn="just">
              <a:buFont typeface="Wingdings" panose="05000000000000000000" pitchFamily="2" charset="2"/>
              <a:buChar char="v"/>
            </a:pPr>
            <a:r>
              <a:rPr lang="en-US" sz="1600" dirty="0">
                <a:solidFill>
                  <a:schemeClr val="bg1"/>
                </a:solidFill>
                <a:latin typeface="Cooper Black" panose="0208090404030B020404" pitchFamily="18" charset="0"/>
              </a:rPr>
              <a:t>Loading and processing speed.</a:t>
            </a:r>
          </a:p>
          <a:p>
            <a:pPr marL="285750" indent="-285750" algn="just">
              <a:buFont typeface="Wingdings" panose="05000000000000000000" pitchFamily="2" charset="2"/>
              <a:buChar char="v"/>
            </a:pPr>
            <a:r>
              <a:rPr lang="en-IN" sz="1600" dirty="0">
                <a:solidFill>
                  <a:schemeClr val="bg1"/>
                </a:solidFill>
                <a:latin typeface="Cooper Black" panose="0208090404030B020404" pitchFamily="18" charset="0"/>
              </a:rPr>
              <a:t>Online retail store will fulfil its part of the transaction at the stipulated time.</a:t>
            </a:r>
          </a:p>
          <a:p>
            <a:pPr marL="285750" indent="-285750" algn="just">
              <a:buFont typeface="Wingdings" panose="05000000000000000000" pitchFamily="2" charset="2"/>
              <a:buChar char="v"/>
            </a:pPr>
            <a:r>
              <a:rPr lang="en-IN" sz="1600" dirty="0">
                <a:solidFill>
                  <a:schemeClr val="bg1"/>
                </a:solidFill>
                <a:latin typeface="Cooper Black" panose="0208090404030B020404" pitchFamily="18" charset="0"/>
              </a:rPr>
              <a:t>Responsiveness, availability of several communication channels.</a:t>
            </a:r>
          </a:p>
          <a:p>
            <a:pPr marL="285750" indent="-285750" algn="just">
              <a:buFont typeface="Wingdings" panose="05000000000000000000" pitchFamily="2" charset="2"/>
              <a:buChar char="v"/>
            </a:pPr>
            <a:r>
              <a:rPr lang="en-IN" sz="1600" dirty="0">
                <a:solidFill>
                  <a:schemeClr val="bg1"/>
                </a:solidFill>
                <a:latin typeface="Cooper Black" panose="0208090404030B020404" pitchFamily="18" charset="0"/>
              </a:rPr>
              <a:t>Shopping online is convenient and flexible.</a:t>
            </a:r>
            <a:endParaRPr lang="en-US" sz="1600" dirty="0">
              <a:solidFill>
                <a:schemeClr val="bg1"/>
              </a:solidFill>
              <a:latin typeface="Cooper Black" panose="0208090404030B020404" pitchFamily="18" charset="0"/>
            </a:endParaRPr>
          </a:p>
        </p:txBody>
      </p:sp>
      <p:sp>
        <p:nvSpPr>
          <p:cNvPr id="9" name="TextBox 8">
            <a:extLst>
              <a:ext uri="{FF2B5EF4-FFF2-40B4-BE49-F238E27FC236}">
                <a16:creationId xmlns:a16="http://schemas.microsoft.com/office/drawing/2014/main" id="{80B63F66-0CF7-4FE0-8492-5EEE269781F6}"/>
              </a:ext>
            </a:extLst>
          </p:cNvPr>
          <p:cNvSpPr txBox="1"/>
          <p:nvPr/>
        </p:nvSpPr>
        <p:spPr>
          <a:xfrm>
            <a:off x="4412974" y="2385391"/>
            <a:ext cx="3458817" cy="4031873"/>
          </a:xfrm>
          <a:prstGeom prst="rect">
            <a:avLst/>
          </a:prstGeom>
          <a:noFill/>
        </p:spPr>
        <p:txBody>
          <a:bodyPr wrap="square" rtlCol="0">
            <a:spAutoFit/>
          </a:bodyPr>
          <a:lstStyle/>
          <a:p>
            <a:pPr marL="285750" indent="-285750" algn="just">
              <a:buFont typeface="Wingdings" panose="05000000000000000000" pitchFamily="2" charset="2"/>
              <a:buChar char="v"/>
            </a:pPr>
            <a:r>
              <a:rPr lang="en-IN" sz="1600" dirty="0">
                <a:solidFill>
                  <a:schemeClr val="bg1"/>
                </a:solidFill>
                <a:latin typeface="Cooper Black" panose="0208090404030B020404" pitchFamily="18" charset="0"/>
              </a:rPr>
              <a:t>Comparison of highlighted product with similar product.</a:t>
            </a:r>
          </a:p>
          <a:p>
            <a:pPr marL="285750" indent="-285750" algn="just">
              <a:buFont typeface="Wingdings" panose="05000000000000000000" pitchFamily="2" charset="2"/>
              <a:buChar char="v"/>
            </a:pPr>
            <a:r>
              <a:rPr lang="en-IN" sz="1600" dirty="0">
                <a:solidFill>
                  <a:schemeClr val="bg1"/>
                </a:solidFill>
                <a:latin typeface="Cooper Black" panose="0208090404030B020404" pitchFamily="18" charset="0"/>
              </a:rPr>
              <a:t> Website must have User friendly Interface.</a:t>
            </a:r>
          </a:p>
          <a:p>
            <a:pPr marL="285750" indent="-285750" algn="just">
              <a:buFont typeface="Wingdings" panose="05000000000000000000" pitchFamily="2" charset="2"/>
              <a:buChar char="v"/>
            </a:pPr>
            <a:r>
              <a:rPr lang="en-IN" sz="1600" dirty="0">
                <a:solidFill>
                  <a:schemeClr val="bg1"/>
                </a:solidFill>
                <a:latin typeface="Cooper Black" panose="0208090404030B020404" pitchFamily="18" charset="0"/>
              </a:rPr>
              <a:t>Empathy (readiness to assist with queries) towards the customers.</a:t>
            </a:r>
          </a:p>
          <a:p>
            <a:pPr marL="285750" indent="-285750" algn="just">
              <a:buFont typeface="Wingdings" panose="05000000000000000000" pitchFamily="2" charset="2"/>
              <a:buChar char="v"/>
            </a:pPr>
            <a:r>
              <a:rPr lang="en-IN" sz="1600" dirty="0">
                <a:solidFill>
                  <a:schemeClr val="bg1"/>
                </a:solidFill>
                <a:latin typeface="Cooper Black" panose="0208090404030B020404" pitchFamily="18" charset="0"/>
              </a:rPr>
              <a:t>Online shopping gives monetary benefit and discounts.</a:t>
            </a:r>
          </a:p>
          <a:p>
            <a:pPr marL="285750" indent="-285750" algn="just">
              <a:buFont typeface="Wingdings" panose="05000000000000000000" pitchFamily="2" charset="2"/>
              <a:buChar char="v"/>
            </a:pPr>
            <a:r>
              <a:rPr lang="en-IN" sz="1600" dirty="0">
                <a:solidFill>
                  <a:schemeClr val="bg1"/>
                </a:solidFill>
                <a:latin typeface="Cooper Black" panose="0208090404030B020404" pitchFamily="18" charset="0"/>
              </a:rPr>
              <a:t>Return and replacement policy of the e-</a:t>
            </a:r>
            <a:r>
              <a:rPr lang="en-IN" sz="1600" dirty="0" err="1">
                <a:solidFill>
                  <a:schemeClr val="bg1"/>
                </a:solidFill>
                <a:latin typeface="Cooper Black" panose="0208090404030B020404" pitchFamily="18" charset="0"/>
              </a:rPr>
              <a:t>tailer</a:t>
            </a:r>
            <a:r>
              <a:rPr lang="en-IN" sz="1600" dirty="0">
                <a:solidFill>
                  <a:schemeClr val="bg1"/>
                </a:solidFill>
                <a:latin typeface="Cooper Black" panose="0208090404030B020404" pitchFamily="18" charset="0"/>
              </a:rPr>
              <a:t> is important for purchase decision.</a:t>
            </a:r>
          </a:p>
          <a:p>
            <a:pPr marL="285750" indent="-285750">
              <a:buFont typeface="Wingdings" panose="05000000000000000000" pitchFamily="2" charset="2"/>
              <a:buChar char="v"/>
            </a:pPr>
            <a:endParaRPr lang="en-US" sz="1600" dirty="0">
              <a:solidFill>
                <a:schemeClr val="bg1"/>
              </a:solidFill>
              <a:latin typeface="Cooper Black" panose="0208090404030B020404" pitchFamily="18" charset="0"/>
            </a:endParaRPr>
          </a:p>
        </p:txBody>
      </p:sp>
      <p:sp>
        <p:nvSpPr>
          <p:cNvPr id="10" name="TextBox 9">
            <a:extLst>
              <a:ext uri="{FF2B5EF4-FFF2-40B4-BE49-F238E27FC236}">
                <a16:creationId xmlns:a16="http://schemas.microsoft.com/office/drawing/2014/main" id="{36B14F61-0F47-4F11-8EEC-881B0AC7E4CE}"/>
              </a:ext>
            </a:extLst>
          </p:cNvPr>
          <p:cNvSpPr txBox="1"/>
          <p:nvPr/>
        </p:nvSpPr>
        <p:spPr>
          <a:xfrm>
            <a:off x="7871791" y="2385391"/>
            <a:ext cx="3458817" cy="3539430"/>
          </a:xfrm>
          <a:prstGeom prst="rect">
            <a:avLst/>
          </a:prstGeom>
          <a:noFill/>
        </p:spPr>
        <p:txBody>
          <a:bodyPr wrap="square" rtlCol="0">
            <a:spAutoFit/>
          </a:bodyPr>
          <a:lstStyle/>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Ease of navigation in website.</a:t>
            </a:r>
          </a:p>
          <a:p>
            <a:pPr marL="285750" indent="-285750">
              <a:buFont typeface="Wingdings" panose="05000000000000000000" pitchFamily="2" charset="2"/>
              <a:buChar char="v"/>
            </a:pPr>
            <a:endParaRPr lang="en-US" sz="1600" dirty="0">
              <a:solidFill>
                <a:schemeClr val="bg1"/>
              </a:solidFill>
              <a:latin typeface="Cooper Black" panose="0208090404030B020404" pitchFamily="18" charset="0"/>
            </a:endParaRPr>
          </a:p>
          <a:p>
            <a:pPr marL="285750" indent="-285750">
              <a:buFont typeface="Wingdings" panose="05000000000000000000" pitchFamily="2" charset="2"/>
              <a:buChar char="v"/>
            </a:pPr>
            <a:r>
              <a:rPr lang="en-US" sz="1600" dirty="0">
                <a:solidFill>
                  <a:schemeClr val="bg1"/>
                </a:solidFill>
                <a:latin typeface="Cooper Black" panose="0208090404030B020404" pitchFamily="18" charset="0"/>
              </a:rPr>
              <a:t>Convenient Payment methods.</a:t>
            </a:r>
          </a:p>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Being able to guarantee the privacy of the customer.</a:t>
            </a:r>
          </a:p>
          <a:p>
            <a:pPr marL="285750" indent="-285750">
              <a:buFont typeface="Wingdings" panose="05000000000000000000" pitchFamily="2" charset="2"/>
              <a:buChar char="v"/>
            </a:pPr>
            <a:endParaRPr lang="en-IN" sz="1600" dirty="0">
              <a:solidFill>
                <a:schemeClr val="bg1"/>
              </a:solidFill>
              <a:latin typeface="Cooper Black" panose="0208090404030B020404" pitchFamily="18" charset="0"/>
            </a:endParaRPr>
          </a:p>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Enjoyment is derived from shopping online.</a:t>
            </a:r>
          </a:p>
          <a:p>
            <a:pPr marL="285750" indent="-285750">
              <a:buFont typeface="Wingdings" panose="05000000000000000000" pitchFamily="2" charset="2"/>
              <a:buChar char="v"/>
            </a:pPr>
            <a:endParaRPr lang="en-IN" sz="1600" dirty="0">
              <a:solidFill>
                <a:schemeClr val="bg1"/>
              </a:solidFill>
              <a:latin typeface="Cooper Black" panose="0208090404030B020404" pitchFamily="18" charset="0"/>
            </a:endParaRPr>
          </a:p>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Gaining access to loyalty programs is a benefit of shopping online.</a:t>
            </a:r>
            <a:endParaRPr lang="en-US" sz="1600"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581609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BACA2C-68F8-4EBA-832A-3FA32B15B26A}"/>
              </a:ext>
            </a:extLst>
          </p:cNvPr>
          <p:cNvSpPr>
            <a:spLocks noGrp="1"/>
          </p:cNvSpPr>
          <p:nvPr>
            <p:ph type="subTitle" idx="1"/>
          </p:nvPr>
        </p:nvSpPr>
        <p:spPr>
          <a:xfrm>
            <a:off x="954156" y="1212545"/>
            <a:ext cx="10376451" cy="861420"/>
          </a:xfrm>
        </p:spPr>
        <p:txBody>
          <a:bodyPr>
            <a:normAutofit/>
          </a:bodyPr>
          <a:lstStyle/>
          <a:p>
            <a:pPr algn="ctr"/>
            <a:r>
              <a:rPr lang="en-IN" sz="2800" b="1" i="1" u="sng" cap="none" dirty="0">
                <a:solidFill>
                  <a:schemeClr val="bg1"/>
                </a:solidFill>
                <a:latin typeface="Comic Sans MS" panose="030F0702030302020204" pitchFamily="66" charset="0"/>
              </a:rPr>
              <a:t>Points of survey on which customers are Strongly agree:</a:t>
            </a:r>
          </a:p>
          <a:p>
            <a:endParaRPr lang="en-US" dirty="0"/>
          </a:p>
        </p:txBody>
      </p:sp>
      <p:sp>
        <p:nvSpPr>
          <p:cNvPr id="8" name="TextBox 7">
            <a:extLst>
              <a:ext uri="{FF2B5EF4-FFF2-40B4-BE49-F238E27FC236}">
                <a16:creationId xmlns:a16="http://schemas.microsoft.com/office/drawing/2014/main" id="{CCFD15E6-2D68-441F-BAA7-35B8133EF9D0}"/>
              </a:ext>
            </a:extLst>
          </p:cNvPr>
          <p:cNvSpPr txBox="1"/>
          <p:nvPr/>
        </p:nvSpPr>
        <p:spPr>
          <a:xfrm>
            <a:off x="954157" y="2385391"/>
            <a:ext cx="3458817" cy="2062103"/>
          </a:xfrm>
          <a:prstGeom prst="rect">
            <a:avLst/>
          </a:prstGeom>
          <a:noFill/>
        </p:spPr>
        <p:txBody>
          <a:bodyPr wrap="square" rtlCol="0">
            <a:spAutoFit/>
          </a:bodyPr>
          <a:lstStyle/>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Displaying quality Information on the website improves satisfaction of customers.</a:t>
            </a:r>
          </a:p>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User satisfaction cannot exist without trust.</a:t>
            </a:r>
          </a:p>
          <a:p>
            <a:pPr marL="285750" indent="-285750">
              <a:buFont typeface="Wingdings" panose="05000000000000000000" pitchFamily="2" charset="2"/>
              <a:buChar char="v"/>
            </a:pPr>
            <a:endParaRPr lang="en-IN" sz="1600" dirty="0">
              <a:solidFill>
                <a:schemeClr val="bg1"/>
              </a:solidFill>
              <a:latin typeface="Cooper Black" panose="0208090404030B020404" pitchFamily="18" charset="0"/>
            </a:endParaRPr>
          </a:p>
          <a:p>
            <a:pPr marL="285750" indent="-285750">
              <a:buFont typeface="Wingdings" panose="05000000000000000000" pitchFamily="2" charset="2"/>
              <a:buChar char="v"/>
            </a:pPr>
            <a:r>
              <a:rPr lang="en-US" sz="1600" dirty="0">
                <a:solidFill>
                  <a:schemeClr val="bg1"/>
                </a:solidFill>
                <a:latin typeface="Cooper Black" panose="0208090404030B020404" pitchFamily="18" charset="0"/>
              </a:rPr>
              <a:t>Monetary savings.</a:t>
            </a:r>
          </a:p>
        </p:txBody>
      </p:sp>
      <p:sp>
        <p:nvSpPr>
          <p:cNvPr id="9" name="TextBox 8">
            <a:extLst>
              <a:ext uri="{FF2B5EF4-FFF2-40B4-BE49-F238E27FC236}">
                <a16:creationId xmlns:a16="http://schemas.microsoft.com/office/drawing/2014/main" id="{80B63F66-0CF7-4FE0-8492-5EEE269781F6}"/>
              </a:ext>
            </a:extLst>
          </p:cNvPr>
          <p:cNvSpPr txBox="1"/>
          <p:nvPr/>
        </p:nvSpPr>
        <p:spPr>
          <a:xfrm>
            <a:off x="4412974" y="2385391"/>
            <a:ext cx="3458817" cy="2554545"/>
          </a:xfrm>
          <a:prstGeom prst="rect">
            <a:avLst/>
          </a:prstGeom>
          <a:noFill/>
        </p:spPr>
        <p:txBody>
          <a:bodyPr wrap="square" rtlCol="0">
            <a:spAutoFit/>
          </a:bodyPr>
          <a:lstStyle/>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Satisfaction while shopping on a good quality website or application.</a:t>
            </a:r>
          </a:p>
          <a:p>
            <a:pPr marL="285750" indent="-285750">
              <a:buFont typeface="Wingdings" panose="05000000000000000000" pitchFamily="2" charset="2"/>
              <a:buChar char="v"/>
            </a:pPr>
            <a:endParaRPr lang="en-IN" sz="1600" dirty="0">
              <a:solidFill>
                <a:schemeClr val="bg1"/>
              </a:solidFill>
              <a:latin typeface="Cooper Black" panose="0208090404030B020404" pitchFamily="18" charset="0"/>
            </a:endParaRPr>
          </a:p>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E-commerce Offering a wide variety of listed product in several category.</a:t>
            </a:r>
          </a:p>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All relevant information on listed products must be stated clearly.</a:t>
            </a:r>
            <a:endParaRPr lang="en-US" sz="1600" dirty="0">
              <a:solidFill>
                <a:schemeClr val="bg1"/>
              </a:solidFill>
              <a:latin typeface="Cooper Black" panose="0208090404030B020404" pitchFamily="18" charset="0"/>
            </a:endParaRPr>
          </a:p>
        </p:txBody>
      </p:sp>
      <p:sp>
        <p:nvSpPr>
          <p:cNvPr id="10" name="TextBox 9">
            <a:extLst>
              <a:ext uri="{FF2B5EF4-FFF2-40B4-BE49-F238E27FC236}">
                <a16:creationId xmlns:a16="http://schemas.microsoft.com/office/drawing/2014/main" id="{36B14F61-0F47-4F11-8EEC-881B0AC7E4CE}"/>
              </a:ext>
            </a:extLst>
          </p:cNvPr>
          <p:cNvSpPr txBox="1"/>
          <p:nvPr/>
        </p:nvSpPr>
        <p:spPr>
          <a:xfrm>
            <a:off x="7871791" y="2385391"/>
            <a:ext cx="3458817" cy="1815882"/>
          </a:xfrm>
          <a:prstGeom prst="rect">
            <a:avLst/>
          </a:prstGeom>
          <a:noFill/>
        </p:spPr>
        <p:txBody>
          <a:bodyPr wrap="square" rtlCol="0">
            <a:spAutoFit/>
          </a:bodyPr>
          <a:lstStyle/>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Net Benefit derived from shopping online can lead to user’s satisfaction.</a:t>
            </a:r>
          </a:p>
          <a:p>
            <a:pPr marL="285750" indent="-285750">
              <a:buFont typeface="Wingdings" panose="05000000000000000000" pitchFamily="2" charset="2"/>
              <a:buChar char="v"/>
            </a:pPr>
            <a:endParaRPr lang="en-IN" sz="1600" dirty="0">
              <a:solidFill>
                <a:schemeClr val="bg1"/>
              </a:solidFill>
              <a:latin typeface="Cooper Black" panose="0208090404030B020404" pitchFamily="18" charset="0"/>
            </a:endParaRPr>
          </a:p>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Provision of complete and relevant product information.</a:t>
            </a:r>
            <a:endParaRPr lang="en-US" sz="1600"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405763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BACA2C-68F8-4EBA-832A-3FA32B15B26A}"/>
              </a:ext>
            </a:extLst>
          </p:cNvPr>
          <p:cNvSpPr>
            <a:spLocks noGrp="1"/>
          </p:cNvSpPr>
          <p:nvPr>
            <p:ph type="subTitle" idx="1"/>
          </p:nvPr>
        </p:nvSpPr>
        <p:spPr>
          <a:xfrm>
            <a:off x="954156" y="1212545"/>
            <a:ext cx="10376451" cy="861420"/>
          </a:xfrm>
        </p:spPr>
        <p:txBody>
          <a:bodyPr>
            <a:normAutofit/>
          </a:bodyPr>
          <a:lstStyle/>
          <a:p>
            <a:pPr algn="ctr"/>
            <a:r>
              <a:rPr lang="en-IN" sz="2800" b="1" i="1" u="sng" cap="none" dirty="0">
                <a:solidFill>
                  <a:schemeClr val="bg1"/>
                </a:solidFill>
                <a:latin typeface="Comic Sans MS" panose="030F0702030302020204" pitchFamily="66" charset="0"/>
              </a:rPr>
              <a:t>Points of survey on which customers are Agree:</a:t>
            </a:r>
          </a:p>
          <a:p>
            <a:endParaRPr lang="en-US" dirty="0"/>
          </a:p>
        </p:txBody>
      </p:sp>
      <p:sp>
        <p:nvSpPr>
          <p:cNvPr id="8" name="TextBox 7">
            <a:extLst>
              <a:ext uri="{FF2B5EF4-FFF2-40B4-BE49-F238E27FC236}">
                <a16:creationId xmlns:a16="http://schemas.microsoft.com/office/drawing/2014/main" id="{CCFD15E6-2D68-441F-BAA7-35B8133EF9D0}"/>
              </a:ext>
            </a:extLst>
          </p:cNvPr>
          <p:cNvSpPr txBox="1"/>
          <p:nvPr/>
        </p:nvSpPr>
        <p:spPr>
          <a:xfrm>
            <a:off x="954157" y="2385391"/>
            <a:ext cx="3458817" cy="2308324"/>
          </a:xfrm>
          <a:prstGeom prst="rect">
            <a:avLst/>
          </a:prstGeom>
          <a:noFill/>
        </p:spPr>
        <p:txBody>
          <a:bodyPr wrap="square" rtlCol="0">
            <a:spAutoFit/>
          </a:bodyPr>
          <a:lstStyle/>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The Convenience of patronizing the online retailer.</a:t>
            </a:r>
          </a:p>
          <a:p>
            <a:pPr marL="285750" indent="-285750">
              <a:buFont typeface="Wingdings" panose="05000000000000000000" pitchFamily="2" charset="2"/>
              <a:buChar char="v"/>
            </a:pPr>
            <a:endParaRPr lang="en-IN" sz="1600" dirty="0">
              <a:solidFill>
                <a:schemeClr val="bg1"/>
              </a:solidFill>
              <a:latin typeface="Cooper Black" panose="0208090404030B020404" pitchFamily="18" charset="0"/>
            </a:endParaRPr>
          </a:p>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All relevant information on listed products must be stated clearly.</a:t>
            </a:r>
          </a:p>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User satisfaction cannot exist without trust.</a:t>
            </a:r>
            <a:endParaRPr lang="en-US" sz="1600" dirty="0">
              <a:solidFill>
                <a:schemeClr val="bg1"/>
              </a:solidFill>
              <a:latin typeface="Cooper Black" panose="0208090404030B020404" pitchFamily="18" charset="0"/>
            </a:endParaRPr>
          </a:p>
        </p:txBody>
      </p:sp>
      <p:sp>
        <p:nvSpPr>
          <p:cNvPr id="9" name="TextBox 8">
            <a:extLst>
              <a:ext uri="{FF2B5EF4-FFF2-40B4-BE49-F238E27FC236}">
                <a16:creationId xmlns:a16="http://schemas.microsoft.com/office/drawing/2014/main" id="{80B63F66-0CF7-4FE0-8492-5EEE269781F6}"/>
              </a:ext>
            </a:extLst>
          </p:cNvPr>
          <p:cNvSpPr txBox="1"/>
          <p:nvPr/>
        </p:nvSpPr>
        <p:spPr>
          <a:xfrm>
            <a:off x="4412974" y="2385391"/>
            <a:ext cx="3458817" cy="2308324"/>
          </a:xfrm>
          <a:prstGeom prst="rect">
            <a:avLst/>
          </a:prstGeom>
          <a:noFill/>
        </p:spPr>
        <p:txBody>
          <a:bodyPr wrap="square" rtlCol="0">
            <a:spAutoFit/>
          </a:bodyPr>
          <a:lstStyle/>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Shopping on the website gives you the sense of adventure. </a:t>
            </a:r>
          </a:p>
          <a:p>
            <a:pPr marL="285750" indent="-285750">
              <a:buFont typeface="Wingdings" panose="05000000000000000000" pitchFamily="2" charset="2"/>
              <a:buChar char="v"/>
            </a:pPr>
            <a:endParaRPr lang="en-IN" sz="1600" dirty="0">
              <a:solidFill>
                <a:schemeClr val="bg1"/>
              </a:solidFill>
              <a:latin typeface="Cooper Black" panose="0208090404030B020404" pitchFamily="18" charset="0"/>
            </a:endParaRPr>
          </a:p>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It is worth to buy this product at this price.</a:t>
            </a:r>
          </a:p>
          <a:p>
            <a:pPr marL="285750" indent="-285750">
              <a:buFont typeface="Wingdings" panose="05000000000000000000" pitchFamily="2" charset="2"/>
              <a:buChar char="v"/>
            </a:pPr>
            <a:endParaRPr lang="en-IN" sz="1600" dirty="0">
              <a:solidFill>
                <a:schemeClr val="bg1"/>
              </a:solidFill>
              <a:latin typeface="Cooper Black" panose="0208090404030B020404" pitchFamily="18" charset="0"/>
            </a:endParaRPr>
          </a:p>
          <a:p>
            <a:pPr marL="285750" indent="-285750">
              <a:buFont typeface="Wingdings" panose="05000000000000000000" pitchFamily="2" charset="2"/>
              <a:buChar char="v"/>
            </a:pPr>
            <a:r>
              <a:rPr lang="en-US" sz="1600" dirty="0">
                <a:solidFill>
                  <a:schemeClr val="bg1"/>
                </a:solidFill>
                <a:latin typeface="Cooper Black" panose="0208090404030B020404" pitchFamily="18" charset="0"/>
              </a:rPr>
              <a:t>Loading and processing speed. </a:t>
            </a:r>
          </a:p>
        </p:txBody>
      </p:sp>
      <p:sp>
        <p:nvSpPr>
          <p:cNvPr id="10" name="TextBox 9">
            <a:extLst>
              <a:ext uri="{FF2B5EF4-FFF2-40B4-BE49-F238E27FC236}">
                <a16:creationId xmlns:a16="http://schemas.microsoft.com/office/drawing/2014/main" id="{36B14F61-0F47-4F11-8EEC-881B0AC7E4CE}"/>
              </a:ext>
            </a:extLst>
          </p:cNvPr>
          <p:cNvSpPr txBox="1"/>
          <p:nvPr/>
        </p:nvSpPr>
        <p:spPr>
          <a:xfrm>
            <a:off x="7871791" y="2385391"/>
            <a:ext cx="3458817" cy="2308324"/>
          </a:xfrm>
          <a:prstGeom prst="rect">
            <a:avLst/>
          </a:prstGeom>
          <a:noFill/>
        </p:spPr>
        <p:txBody>
          <a:bodyPr wrap="square" rtlCol="0">
            <a:spAutoFit/>
          </a:bodyPr>
          <a:lstStyle/>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Complete information on listed seller and product being offered is important for purchase decision. </a:t>
            </a:r>
          </a:p>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Shopping on the website helps you fulfil certain roles.</a:t>
            </a:r>
          </a:p>
          <a:p>
            <a:pPr marL="285750" indent="-285750">
              <a:buFont typeface="Wingdings" panose="05000000000000000000" pitchFamily="2" charset="2"/>
              <a:buChar char="v"/>
            </a:pPr>
            <a:endParaRPr lang="en-IN" sz="1600" dirty="0">
              <a:solidFill>
                <a:schemeClr val="bg1"/>
              </a:solidFill>
              <a:latin typeface="Cooper Black" panose="0208090404030B020404" pitchFamily="18" charset="0"/>
            </a:endParaRPr>
          </a:p>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Ease of navigation in website.</a:t>
            </a:r>
            <a:endParaRPr lang="en-US" sz="1600"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23900592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BACA2C-68F8-4EBA-832A-3FA32B15B26A}"/>
              </a:ext>
            </a:extLst>
          </p:cNvPr>
          <p:cNvSpPr>
            <a:spLocks noGrp="1"/>
          </p:cNvSpPr>
          <p:nvPr>
            <p:ph type="subTitle" idx="1"/>
          </p:nvPr>
        </p:nvSpPr>
        <p:spPr>
          <a:xfrm>
            <a:off x="954157" y="1212545"/>
            <a:ext cx="10124660" cy="861420"/>
          </a:xfrm>
        </p:spPr>
        <p:txBody>
          <a:bodyPr>
            <a:normAutofit/>
          </a:bodyPr>
          <a:lstStyle/>
          <a:p>
            <a:pPr algn="ctr"/>
            <a:r>
              <a:rPr lang="en-IN" sz="2800" b="1" i="1" u="sng" cap="none" dirty="0">
                <a:solidFill>
                  <a:schemeClr val="bg1"/>
                </a:solidFill>
                <a:latin typeface="Comic Sans MS" panose="030F0702030302020204" pitchFamily="66" charset="0"/>
              </a:rPr>
              <a:t>Points of survey on which customers are Indifferent:</a:t>
            </a:r>
          </a:p>
          <a:p>
            <a:endParaRPr lang="en-US" dirty="0"/>
          </a:p>
        </p:txBody>
      </p:sp>
      <p:sp>
        <p:nvSpPr>
          <p:cNvPr id="8" name="TextBox 7">
            <a:extLst>
              <a:ext uri="{FF2B5EF4-FFF2-40B4-BE49-F238E27FC236}">
                <a16:creationId xmlns:a16="http://schemas.microsoft.com/office/drawing/2014/main" id="{CCFD15E6-2D68-441F-BAA7-35B8133EF9D0}"/>
              </a:ext>
            </a:extLst>
          </p:cNvPr>
          <p:cNvSpPr txBox="1"/>
          <p:nvPr/>
        </p:nvSpPr>
        <p:spPr>
          <a:xfrm>
            <a:off x="954157" y="2385391"/>
            <a:ext cx="10124660" cy="830997"/>
          </a:xfrm>
          <a:prstGeom prst="rect">
            <a:avLst/>
          </a:prstGeom>
          <a:noFill/>
        </p:spPr>
        <p:txBody>
          <a:bodyPr wrap="square" rtlCol="0">
            <a:spAutoFit/>
          </a:bodyPr>
          <a:lstStyle/>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Shopping on your preferred e-</a:t>
            </a:r>
            <a:r>
              <a:rPr lang="en-IN" sz="1600" dirty="0" err="1">
                <a:solidFill>
                  <a:schemeClr val="bg1"/>
                </a:solidFill>
                <a:latin typeface="Cooper Black" panose="0208090404030B020404" pitchFamily="18" charset="0"/>
              </a:rPr>
              <a:t>tailer</a:t>
            </a:r>
            <a:r>
              <a:rPr lang="en-IN" sz="1600" dirty="0">
                <a:solidFill>
                  <a:schemeClr val="bg1"/>
                </a:solidFill>
                <a:latin typeface="Cooper Black" panose="0208090404030B020404" pitchFamily="18" charset="0"/>
              </a:rPr>
              <a:t> enhances your social status. </a:t>
            </a:r>
          </a:p>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Feeling gratification shopping on your favourite e-</a:t>
            </a:r>
            <a:r>
              <a:rPr lang="en-IN" sz="1600" dirty="0" err="1">
                <a:solidFill>
                  <a:schemeClr val="bg1"/>
                </a:solidFill>
                <a:latin typeface="Cooper Black" panose="0208090404030B020404" pitchFamily="18" charset="0"/>
              </a:rPr>
              <a:t>tailer</a:t>
            </a:r>
            <a:r>
              <a:rPr lang="en-IN" sz="1600" dirty="0">
                <a:solidFill>
                  <a:schemeClr val="bg1"/>
                </a:solidFill>
                <a:latin typeface="Cooper Black" panose="0208090404030B020404" pitchFamily="18" charset="0"/>
              </a:rPr>
              <a:t>.</a:t>
            </a:r>
          </a:p>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Shopping on the website helps you fulfil certain roles.</a:t>
            </a:r>
            <a:endParaRPr lang="en-US" sz="1600"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14421382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BACA2C-68F8-4EBA-832A-3FA32B15B26A}"/>
              </a:ext>
            </a:extLst>
          </p:cNvPr>
          <p:cNvSpPr>
            <a:spLocks noGrp="1"/>
          </p:cNvSpPr>
          <p:nvPr>
            <p:ph type="subTitle" idx="1"/>
          </p:nvPr>
        </p:nvSpPr>
        <p:spPr>
          <a:xfrm>
            <a:off x="954157" y="1212545"/>
            <a:ext cx="10376452" cy="709020"/>
          </a:xfrm>
        </p:spPr>
        <p:txBody>
          <a:bodyPr>
            <a:normAutofit/>
          </a:bodyPr>
          <a:lstStyle/>
          <a:p>
            <a:pPr algn="ctr"/>
            <a:r>
              <a:rPr lang="en-IN" sz="2800" b="1" u="sng" cap="none" dirty="0">
                <a:solidFill>
                  <a:schemeClr val="bg1"/>
                </a:solidFill>
                <a:latin typeface="Comic Sans MS" panose="030F0702030302020204" pitchFamily="66" charset="0"/>
              </a:rPr>
              <a:t>Facts about Amazon.in:</a:t>
            </a:r>
          </a:p>
          <a:p>
            <a:endParaRPr lang="en-US" dirty="0"/>
          </a:p>
        </p:txBody>
      </p:sp>
      <p:sp>
        <p:nvSpPr>
          <p:cNvPr id="8" name="TextBox 7">
            <a:extLst>
              <a:ext uri="{FF2B5EF4-FFF2-40B4-BE49-F238E27FC236}">
                <a16:creationId xmlns:a16="http://schemas.microsoft.com/office/drawing/2014/main" id="{CCFD15E6-2D68-441F-BAA7-35B8133EF9D0}"/>
              </a:ext>
            </a:extLst>
          </p:cNvPr>
          <p:cNvSpPr txBox="1"/>
          <p:nvPr/>
        </p:nvSpPr>
        <p:spPr>
          <a:xfrm>
            <a:off x="954157" y="2385391"/>
            <a:ext cx="3458817" cy="2308324"/>
          </a:xfrm>
          <a:prstGeom prst="rect">
            <a:avLst/>
          </a:prstGeom>
          <a:noFill/>
        </p:spPr>
        <p:txBody>
          <a:bodyPr wrap="square" rtlCol="0">
            <a:spAutoFit/>
          </a:bodyPr>
          <a:lstStyle/>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Fast loading website speed of website and application.</a:t>
            </a:r>
          </a:p>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Privacy of customers’ information.</a:t>
            </a:r>
          </a:p>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Presence of online assistance through multi-channel .</a:t>
            </a:r>
          </a:p>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Complete, relevant description information of products.</a:t>
            </a:r>
          </a:p>
        </p:txBody>
      </p:sp>
      <p:sp>
        <p:nvSpPr>
          <p:cNvPr id="9" name="TextBox 8">
            <a:extLst>
              <a:ext uri="{FF2B5EF4-FFF2-40B4-BE49-F238E27FC236}">
                <a16:creationId xmlns:a16="http://schemas.microsoft.com/office/drawing/2014/main" id="{80B63F66-0CF7-4FE0-8492-5EEE269781F6}"/>
              </a:ext>
            </a:extLst>
          </p:cNvPr>
          <p:cNvSpPr txBox="1"/>
          <p:nvPr/>
        </p:nvSpPr>
        <p:spPr>
          <a:xfrm>
            <a:off x="4412974" y="2385391"/>
            <a:ext cx="3458817" cy="2062103"/>
          </a:xfrm>
          <a:prstGeom prst="rect">
            <a:avLst/>
          </a:prstGeom>
          <a:noFill/>
        </p:spPr>
        <p:txBody>
          <a:bodyPr wrap="square" rtlCol="0">
            <a:spAutoFit/>
          </a:bodyPr>
          <a:lstStyle/>
          <a:p>
            <a:pPr marL="285750" indent="-285750">
              <a:buFont typeface="Wingdings" panose="05000000000000000000" pitchFamily="2" charset="2"/>
              <a:buChar char="v"/>
            </a:pPr>
            <a:r>
              <a:rPr lang="en-US" sz="1600" dirty="0">
                <a:solidFill>
                  <a:schemeClr val="bg1"/>
                </a:solidFill>
                <a:latin typeface="Cooper Black" panose="0208090404030B020404" pitchFamily="18" charset="0"/>
              </a:rPr>
              <a:t>Quickness to complete purchase.</a:t>
            </a:r>
          </a:p>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Security of customer financial information.</a:t>
            </a:r>
          </a:p>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 Visual appealing web-page layout.</a:t>
            </a:r>
          </a:p>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Reliability of the website or application. </a:t>
            </a:r>
            <a:endParaRPr lang="en-US" sz="1600" dirty="0">
              <a:solidFill>
                <a:schemeClr val="bg1"/>
              </a:solidFill>
              <a:latin typeface="Cooper Black" panose="0208090404030B020404" pitchFamily="18" charset="0"/>
            </a:endParaRPr>
          </a:p>
        </p:txBody>
      </p:sp>
      <p:sp>
        <p:nvSpPr>
          <p:cNvPr id="10" name="TextBox 9">
            <a:extLst>
              <a:ext uri="{FF2B5EF4-FFF2-40B4-BE49-F238E27FC236}">
                <a16:creationId xmlns:a16="http://schemas.microsoft.com/office/drawing/2014/main" id="{36B14F61-0F47-4F11-8EEC-881B0AC7E4CE}"/>
              </a:ext>
            </a:extLst>
          </p:cNvPr>
          <p:cNvSpPr txBox="1"/>
          <p:nvPr/>
        </p:nvSpPr>
        <p:spPr>
          <a:xfrm>
            <a:off x="7871791" y="2385391"/>
            <a:ext cx="3458817" cy="2062103"/>
          </a:xfrm>
          <a:prstGeom prst="rect">
            <a:avLst/>
          </a:prstGeom>
          <a:noFill/>
        </p:spPr>
        <p:txBody>
          <a:bodyPr wrap="square" rtlCol="0">
            <a:spAutoFit/>
          </a:bodyPr>
          <a:lstStyle/>
          <a:p>
            <a:pPr marL="285750" indent="-285750">
              <a:buFont typeface="Wingdings" panose="05000000000000000000" pitchFamily="2" charset="2"/>
              <a:buChar char="v"/>
            </a:pPr>
            <a:r>
              <a:rPr lang="en-US" sz="1600" dirty="0">
                <a:solidFill>
                  <a:schemeClr val="bg1"/>
                </a:solidFill>
                <a:latin typeface="Cooper Black" panose="0208090404030B020404" pitchFamily="18" charset="0"/>
              </a:rPr>
              <a:t>Speedy order delivery.</a:t>
            </a:r>
          </a:p>
          <a:p>
            <a:endParaRPr lang="en-US" sz="1600" dirty="0">
              <a:solidFill>
                <a:schemeClr val="bg1"/>
              </a:solidFill>
              <a:latin typeface="Cooper Black" panose="0208090404030B020404" pitchFamily="18" charset="0"/>
            </a:endParaRPr>
          </a:p>
          <a:p>
            <a:pPr marL="285750" indent="-285750">
              <a:buFont typeface="Wingdings" panose="05000000000000000000" pitchFamily="2" charset="2"/>
              <a:buChar char="v"/>
            </a:pPr>
            <a:r>
              <a:rPr lang="en-US" sz="1600" dirty="0">
                <a:solidFill>
                  <a:schemeClr val="bg1"/>
                </a:solidFill>
                <a:latin typeface="Cooper Black" panose="0208090404030B020404" pitchFamily="18" charset="0"/>
              </a:rPr>
              <a:t>Perceived Trustworthiness.</a:t>
            </a:r>
          </a:p>
          <a:p>
            <a:pPr marL="285750" indent="-285750">
              <a:buFont typeface="Wingdings" panose="05000000000000000000" pitchFamily="2" charset="2"/>
              <a:buChar char="v"/>
            </a:pPr>
            <a:endParaRPr lang="en-US" sz="1600" dirty="0">
              <a:solidFill>
                <a:schemeClr val="bg1"/>
              </a:solidFill>
              <a:latin typeface="Cooper Black" panose="0208090404030B020404" pitchFamily="18" charset="0"/>
            </a:endParaRPr>
          </a:p>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Wild variety of product on offer.</a:t>
            </a:r>
          </a:p>
          <a:p>
            <a:pPr marL="285750" indent="-285750">
              <a:buFont typeface="Wingdings" panose="05000000000000000000" pitchFamily="2" charset="2"/>
              <a:buChar char="v"/>
            </a:pPr>
            <a:r>
              <a:rPr lang="en-IN" sz="1600" dirty="0">
                <a:solidFill>
                  <a:schemeClr val="bg1"/>
                </a:solidFill>
                <a:latin typeface="Cooper Black" panose="0208090404030B020404" pitchFamily="18" charset="0"/>
              </a:rPr>
              <a:t>Website is as efficient as before. </a:t>
            </a:r>
            <a:endParaRPr lang="en-US" sz="1600"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4021434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CBEAC70-16CE-4C39-AD6C-783FB9F6B575}"/>
              </a:ext>
            </a:extLst>
          </p:cNvPr>
          <p:cNvSpPr>
            <a:spLocks noGrp="1"/>
          </p:cNvSpPr>
          <p:nvPr>
            <p:ph type="subTitle" idx="1"/>
          </p:nvPr>
        </p:nvSpPr>
        <p:spPr>
          <a:xfrm>
            <a:off x="1526016" y="1212546"/>
            <a:ext cx="8825658" cy="642758"/>
          </a:xfrm>
        </p:spPr>
        <p:txBody>
          <a:bodyPr>
            <a:normAutofit/>
          </a:bodyPr>
          <a:lstStyle/>
          <a:p>
            <a:pPr algn="ctr"/>
            <a:r>
              <a:rPr lang="en-US" sz="2800" b="1" i="1" u="sng" cap="none" dirty="0">
                <a:solidFill>
                  <a:schemeClr val="bg1"/>
                </a:solidFill>
                <a:latin typeface="Comic Sans MS" panose="030F0702030302020204" pitchFamily="66" charset="0"/>
              </a:rPr>
              <a:t>Conclusion</a:t>
            </a:r>
            <a:endParaRPr lang="en-US" sz="2800" b="1" i="1" u="sng" dirty="0">
              <a:latin typeface="Comic Sans MS" panose="030F0702030302020204" pitchFamily="66" charset="0"/>
            </a:endParaRPr>
          </a:p>
        </p:txBody>
      </p:sp>
      <p:pic>
        <p:nvPicPr>
          <p:cNvPr id="5" name="Picture 4">
            <a:extLst>
              <a:ext uri="{FF2B5EF4-FFF2-40B4-BE49-F238E27FC236}">
                <a16:creationId xmlns:a16="http://schemas.microsoft.com/office/drawing/2014/main" id="{59424CE8-B460-45AD-8B0A-0F3173675F30}"/>
              </a:ext>
            </a:extLst>
          </p:cNvPr>
          <p:cNvPicPr>
            <a:picLocks noChangeAspect="1"/>
          </p:cNvPicPr>
          <p:nvPr/>
        </p:nvPicPr>
        <p:blipFill>
          <a:blip r:embed="rId2"/>
          <a:stretch>
            <a:fillRect/>
          </a:stretch>
        </p:blipFill>
        <p:spPr>
          <a:xfrm>
            <a:off x="556591" y="2597426"/>
            <a:ext cx="6559825" cy="3710608"/>
          </a:xfrm>
          <a:prstGeom prst="rect">
            <a:avLst/>
          </a:prstGeom>
        </p:spPr>
      </p:pic>
      <p:sp>
        <p:nvSpPr>
          <p:cNvPr id="6" name="TextBox 5">
            <a:extLst>
              <a:ext uri="{FF2B5EF4-FFF2-40B4-BE49-F238E27FC236}">
                <a16:creationId xmlns:a16="http://schemas.microsoft.com/office/drawing/2014/main" id="{CC5562DB-85E5-4FAE-A6C9-0B309621B680}"/>
              </a:ext>
            </a:extLst>
          </p:cNvPr>
          <p:cNvSpPr txBox="1"/>
          <p:nvPr/>
        </p:nvSpPr>
        <p:spPr>
          <a:xfrm>
            <a:off x="7262191" y="2597426"/>
            <a:ext cx="4267200" cy="1631216"/>
          </a:xfrm>
          <a:prstGeom prst="rect">
            <a:avLst/>
          </a:prstGeom>
          <a:noFill/>
        </p:spPr>
        <p:txBody>
          <a:bodyPr wrap="square" rtlCol="0">
            <a:spAutoFit/>
          </a:bodyPr>
          <a:lstStyle/>
          <a:p>
            <a:pPr marL="342900" indent="-342900">
              <a:buFont typeface="Wingdings" panose="05000000000000000000" pitchFamily="2" charset="2"/>
              <a:buChar char="v"/>
            </a:pPr>
            <a:r>
              <a:rPr lang="en-US" sz="2000" dirty="0">
                <a:solidFill>
                  <a:schemeClr val="bg1"/>
                </a:solidFill>
                <a:latin typeface="Cooper Black" panose="0208090404030B020404" pitchFamily="18" charset="0"/>
              </a:rPr>
              <a:t>This graph concludes that most of the respondent recommend Amazon.in as Indian online retailer to a friend.</a:t>
            </a:r>
          </a:p>
        </p:txBody>
      </p:sp>
      <p:sp>
        <p:nvSpPr>
          <p:cNvPr id="7" name="TextBox 6">
            <a:extLst>
              <a:ext uri="{FF2B5EF4-FFF2-40B4-BE49-F238E27FC236}">
                <a16:creationId xmlns:a16="http://schemas.microsoft.com/office/drawing/2014/main" id="{152F4101-B530-44F9-BA12-5B086B3C3680}"/>
              </a:ext>
            </a:extLst>
          </p:cNvPr>
          <p:cNvSpPr txBox="1"/>
          <p:nvPr/>
        </p:nvSpPr>
        <p:spPr>
          <a:xfrm>
            <a:off x="556591" y="2026310"/>
            <a:ext cx="9554818" cy="400110"/>
          </a:xfrm>
          <a:prstGeom prst="rect">
            <a:avLst/>
          </a:prstGeom>
          <a:noFill/>
        </p:spPr>
        <p:txBody>
          <a:bodyPr wrap="square" rtlCol="0">
            <a:spAutoFit/>
          </a:bodyPr>
          <a:lstStyle/>
          <a:p>
            <a:pPr marL="342900" indent="-342900">
              <a:buFont typeface="Wingdings" panose="05000000000000000000" pitchFamily="2" charset="2"/>
              <a:buChar char="q"/>
            </a:pPr>
            <a:r>
              <a:rPr lang="en-IN" sz="2000" dirty="0">
                <a:solidFill>
                  <a:schemeClr val="bg1"/>
                </a:solidFill>
                <a:latin typeface="Cooper Black" panose="0208090404030B020404" pitchFamily="18" charset="0"/>
              </a:rPr>
              <a:t>Which of the Indian online retailer would you recommend to a friend? </a:t>
            </a:r>
          </a:p>
        </p:txBody>
      </p:sp>
    </p:spTree>
    <p:extLst>
      <p:ext uri="{BB962C8B-B14F-4D97-AF65-F5344CB8AC3E}">
        <p14:creationId xmlns:p14="http://schemas.microsoft.com/office/powerpoint/2010/main" val="2512547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B0D890-D711-4A36-AEE1-D18288C6FE79}"/>
              </a:ext>
            </a:extLst>
          </p:cNvPr>
          <p:cNvSpPr/>
          <p:nvPr/>
        </p:nvSpPr>
        <p:spPr>
          <a:xfrm>
            <a:off x="3139325" y="2967335"/>
            <a:ext cx="5913350" cy="923330"/>
          </a:xfrm>
          <a:prstGeom prst="rect">
            <a:avLst/>
          </a:prstGeom>
          <a:noFill/>
          <a:scene3d>
            <a:camera prst="isometricOffAxis1Right"/>
            <a:lightRig rig="threePt" dir="t"/>
          </a:scene3d>
        </p:spPr>
        <p:txBody>
          <a:bodyPr wrap="none" lIns="91440" tIns="45720" rIns="91440" bIns="45720">
            <a:spAutoFit/>
          </a:bodyPr>
          <a:lstStyle/>
          <a:p>
            <a:pPr algn="ctr"/>
            <a:r>
              <a:rPr lang="en-US" sz="5400" b="1" i="1" cap="none" spc="0" dirty="0">
                <a:ln w="12700">
                  <a:solidFill>
                    <a:schemeClr val="accent3">
                      <a:lumMod val="50000"/>
                    </a:schemeClr>
                  </a:solidFill>
                  <a:prstDash val="solid"/>
                </a:ln>
                <a:solidFill>
                  <a:schemeClr val="bg1"/>
                </a:solidFill>
                <a:effectLst>
                  <a:outerShdw blurRad="38100" dist="38100" dir="2700000" algn="tl">
                    <a:srgbClr val="000000">
                      <a:alpha val="43137"/>
                    </a:srgbClr>
                  </a:outerShdw>
                </a:effectLst>
                <a:latin typeface="Cooper Black" panose="0208090404030B020404" pitchFamily="18" charset="0"/>
              </a:rPr>
              <a:t>Thank You………</a:t>
            </a:r>
            <a:endParaRPr lang="en-US" sz="5400" b="1" cap="none" spc="0" dirty="0">
              <a:ln w="12700">
                <a:solidFill>
                  <a:schemeClr val="accent3">
                    <a:lumMod val="50000"/>
                  </a:schemeClr>
                </a:solidFill>
                <a:prstDash val="solid"/>
              </a:ln>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799441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TM02900722[[fn=Ion Boardroom]]</Template>
  <TotalTime>437</TotalTime>
  <Words>1554</Words>
  <Application>Microsoft Office PowerPoint</Application>
  <PresentationFormat>Widescreen</PresentationFormat>
  <Paragraphs>121</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Century Gothic</vt:lpstr>
      <vt:lpstr>Comic Sans MS</vt:lpstr>
      <vt:lpstr>Cooper Black</vt:lpstr>
      <vt:lpstr>Wingdings</vt:lpstr>
      <vt:lpstr>Wingdings 3</vt:lpstr>
      <vt:lpstr>Ion Boardroom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rohit kachhal</dc:creator>
  <cp:lastModifiedBy>rohit kachhal</cp:lastModifiedBy>
  <cp:revision>53</cp:revision>
  <dcterms:created xsi:type="dcterms:W3CDTF">2022-01-23T10:41:27Z</dcterms:created>
  <dcterms:modified xsi:type="dcterms:W3CDTF">2022-01-24T15:14:42Z</dcterms:modified>
</cp:coreProperties>
</file>