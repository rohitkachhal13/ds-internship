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7" r:id="rId2"/>
    <p:sldId id="256" r:id="rId3"/>
    <p:sldId id="279" r:id="rId4"/>
    <p:sldId id="297" r:id="rId5"/>
    <p:sldId id="274" r:id="rId6"/>
    <p:sldId id="276" r:id="rId7"/>
    <p:sldId id="257" r:id="rId8"/>
    <p:sldId id="258" r:id="rId9"/>
    <p:sldId id="280" r:id="rId10"/>
    <p:sldId id="281" r:id="rId11"/>
    <p:sldId id="263" r:id="rId12"/>
    <p:sldId id="282" r:id="rId13"/>
    <p:sldId id="285" r:id="rId14"/>
    <p:sldId id="284" r:id="rId15"/>
    <p:sldId id="262" r:id="rId16"/>
    <p:sldId id="286" r:id="rId17"/>
    <p:sldId id="287" r:id="rId18"/>
    <p:sldId id="288" r:id="rId19"/>
    <p:sldId id="289" r:id="rId20"/>
    <p:sldId id="293" r:id="rId21"/>
    <p:sldId id="292" r:id="rId22"/>
    <p:sldId id="290" r:id="rId23"/>
    <p:sldId id="291" r:id="rId24"/>
    <p:sldId id="294" r:id="rId25"/>
    <p:sldId id="295" r:id="rId26"/>
    <p:sldId id="27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10-Feb-22</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10-Feb-22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10-Feb-22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10-Feb-22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10-Feb-22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10-Feb-22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10-Feb-22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10-Feb-22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10-Feb-22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10-Feb-22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10-Feb-22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10-Feb-22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10-Feb-22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10-Feb-22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10-Feb-22</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10-Feb-22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10-Feb-22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10-Feb-22</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7CC65F2B-0827-4778-9267-CC640BF8A202}"/>
              </a:ext>
            </a:extLst>
          </p:cNvPr>
          <p:cNvSpPr txBox="1"/>
          <p:nvPr/>
        </p:nvSpPr>
        <p:spPr>
          <a:xfrm>
            <a:off x="470325" y="3878159"/>
            <a:ext cx="11251349" cy="1754326"/>
          </a:xfrm>
          <a:prstGeom prst="rect">
            <a:avLst/>
          </a:prstGeom>
          <a:noFill/>
        </p:spPr>
        <p:txBody>
          <a:bodyPr wrap="square" rtlCol="0">
            <a:spAutoFit/>
          </a:bodyPr>
          <a:lstStyle/>
          <a:p>
            <a:pPr algn="ctr"/>
            <a:r>
              <a:rPr lang="en-IN" sz="3600" b="1" i="1" u="sng" dirty="0">
                <a:solidFill>
                  <a:schemeClr val="bg1"/>
                </a:solidFill>
                <a:latin typeface="Comic Sans MS" panose="030F0702030302020204" pitchFamily="66" charset="0"/>
              </a:rPr>
              <a:t>Micro Credit Loan </a:t>
            </a:r>
          </a:p>
          <a:p>
            <a:pPr algn="ctr"/>
            <a:r>
              <a:rPr lang="en-IN" sz="3600" b="1" i="1" u="sng" dirty="0">
                <a:solidFill>
                  <a:schemeClr val="bg1"/>
                </a:solidFill>
                <a:latin typeface="Comic Sans MS" panose="030F0702030302020204" pitchFamily="66" charset="0"/>
              </a:rPr>
              <a:t>Use Case :</a:t>
            </a:r>
            <a:br>
              <a:rPr lang="en-IN" sz="3600" b="1" i="1" u="sng" dirty="0">
                <a:solidFill>
                  <a:schemeClr val="bg1"/>
                </a:solidFill>
                <a:latin typeface="Comic Sans MS" panose="030F0702030302020204" pitchFamily="66" charset="0"/>
              </a:rPr>
            </a:br>
            <a:r>
              <a:rPr lang="en-IN" sz="3600" b="1" i="1" u="sng" dirty="0">
                <a:solidFill>
                  <a:schemeClr val="bg1"/>
                </a:solidFill>
                <a:latin typeface="Comic Sans MS" panose="030F0702030302020204" pitchFamily="66" charset="0"/>
              </a:rPr>
              <a:t>For Telecom Industry </a:t>
            </a:r>
            <a:endParaRPr lang="en-US" sz="3600" b="1" i="1" u="sng" dirty="0">
              <a:solidFill>
                <a:schemeClr val="bg1"/>
              </a:solidFill>
              <a:latin typeface="Comic Sans MS" panose="030F0702030302020204" pitchFamily="66" charset="0"/>
            </a:endParaRPr>
          </a:p>
        </p:txBody>
      </p:sp>
      <p:pic>
        <p:nvPicPr>
          <p:cNvPr id="3" name="Picture 2">
            <a:extLst>
              <a:ext uri="{FF2B5EF4-FFF2-40B4-BE49-F238E27FC236}">
                <a16:creationId xmlns:a16="http://schemas.microsoft.com/office/drawing/2014/main" id="{BB21BAA6-8372-44DF-ABDD-E679B10C3797}"/>
              </a:ext>
            </a:extLst>
          </p:cNvPr>
          <p:cNvPicPr>
            <a:picLocks noChangeAspect="1"/>
          </p:cNvPicPr>
          <p:nvPr/>
        </p:nvPicPr>
        <p:blipFill>
          <a:blip r:embed="rId2"/>
          <a:stretch>
            <a:fillRect/>
          </a:stretch>
        </p:blipFill>
        <p:spPr>
          <a:xfrm>
            <a:off x="2994991" y="834885"/>
            <a:ext cx="5883965" cy="2778229"/>
          </a:xfrm>
          <a:prstGeom prst="rect">
            <a:avLst/>
          </a:prstGeom>
        </p:spPr>
      </p:pic>
    </p:spTree>
    <p:extLst>
      <p:ext uri="{BB962C8B-B14F-4D97-AF65-F5344CB8AC3E}">
        <p14:creationId xmlns:p14="http://schemas.microsoft.com/office/powerpoint/2010/main" val="248985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49901-9E01-427B-A949-C036963BBE31}"/>
              </a:ext>
            </a:extLst>
          </p:cNvPr>
          <p:cNvSpPr txBox="1"/>
          <p:nvPr/>
        </p:nvSpPr>
        <p:spPr>
          <a:xfrm>
            <a:off x="609600" y="1536174"/>
            <a:ext cx="10972800" cy="4708981"/>
          </a:xfrm>
          <a:prstGeom prst="rect">
            <a:avLst/>
          </a:prstGeom>
          <a:noFill/>
        </p:spPr>
        <p:txBody>
          <a:bodyPr wrap="square" rtlCol="0">
            <a:spAutoFit/>
          </a:bodyPr>
          <a:lstStyle/>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A Microfinance Institution (MFI) is an organization that offers financial services to low income populations. MFS becomes very useful when targeting especially the unbanked poor families living in remote areas with not much sources of income. The Microfinance services (MFS) provided by MFI are Group Loans, Agricultural Loans, Individual Business Loans and so on.</a:t>
            </a:r>
          </a:p>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Many microfinance institutions (MFI), experts and donors are supporting the idea of using mobile financial services (MFS) which they feel are more convenient and efficient, and cost saving, than the traditional high-touch model used since long for the purpose of delivering microfinance services. Though, the MFI industry is primarily focusing on low income families and are very useful in such areas, the implementation of MFS has been uneven with both significant challenges and successes.</a:t>
            </a:r>
          </a:p>
          <a:p>
            <a:pPr algn="r"/>
            <a:endParaRPr lang="en-IN" sz="2000" dirty="0">
              <a:solidFill>
                <a:schemeClr val="bg1"/>
              </a:solidFill>
              <a:latin typeface="Cooper Black" panose="0208090404030B020404" pitchFamily="18" charset="0"/>
            </a:endParaRPr>
          </a:p>
          <a:p>
            <a:pPr algn="r"/>
            <a:endParaRPr lang="en-IN" sz="2000" dirty="0">
              <a:solidFill>
                <a:schemeClr val="bg1"/>
              </a:solidFill>
              <a:latin typeface="Cooper Black" panose="0208090404030B020404" pitchFamily="18" charset="0"/>
            </a:endParaRPr>
          </a:p>
          <a:p>
            <a:pPr algn="r"/>
            <a:r>
              <a:rPr lang="en-IN" sz="1400" dirty="0">
                <a:solidFill>
                  <a:schemeClr val="bg1"/>
                </a:solidFill>
                <a:latin typeface="Cooper Black" panose="0208090404030B020404" pitchFamily="18" charset="0"/>
              </a:rPr>
              <a:t>Continued……………</a:t>
            </a:r>
          </a:p>
        </p:txBody>
      </p:sp>
      <p:sp>
        <p:nvSpPr>
          <p:cNvPr id="2" name="TextBox 1">
            <a:extLst>
              <a:ext uri="{FF2B5EF4-FFF2-40B4-BE49-F238E27FC236}">
                <a16:creationId xmlns:a16="http://schemas.microsoft.com/office/drawing/2014/main" id="{10B2EC31-14AB-4BDC-9434-9A1120EFBF68}"/>
              </a:ext>
            </a:extLst>
          </p:cNvPr>
          <p:cNvSpPr txBox="1"/>
          <p:nvPr/>
        </p:nvSpPr>
        <p:spPr>
          <a:xfrm>
            <a:off x="3670851" y="689113"/>
            <a:ext cx="4664766"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Problem Statement</a:t>
            </a:r>
          </a:p>
        </p:txBody>
      </p:sp>
    </p:spTree>
    <p:extLst>
      <p:ext uri="{BB962C8B-B14F-4D97-AF65-F5344CB8AC3E}">
        <p14:creationId xmlns:p14="http://schemas.microsoft.com/office/powerpoint/2010/main" val="1680572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49901-9E01-427B-A949-C036963BBE31}"/>
              </a:ext>
            </a:extLst>
          </p:cNvPr>
          <p:cNvSpPr txBox="1"/>
          <p:nvPr/>
        </p:nvSpPr>
        <p:spPr>
          <a:xfrm>
            <a:off x="612648" y="1536192"/>
            <a:ext cx="10972800" cy="4708981"/>
          </a:xfrm>
          <a:prstGeom prst="rect">
            <a:avLst/>
          </a:prstGeom>
          <a:noFill/>
        </p:spPr>
        <p:txBody>
          <a:bodyPr wrap="square" rtlCol="0">
            <a:spAutoFit/>
          </a:bodyPr>
          <a:lstStyle/>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This use case is for Telecom Industry. They are a fixed wireless telecommunications network provider. They have launched various products and have developed its business and organization based on the budget operator model, offering better products at Lower Prices to all value conscious customers through a strategy of disruptive innovation that focuses on the subscriber.</a:t>
            </a:r>
          </a:p>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They understand the importance of communication and how it affects a person’s life, thus, focusing on providing their services and products to low income families and poor customers that can help them in the need of hour. </a:t>
            </a:r>
          </a:p>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They are collaborating with an MFI to provide micro-credit on mobile balances to be paid back in 5 days. The Consumer is believed to be defaulter if he deviates from the path of paying back the loaned amount within the time duration of 5 days. For the loan amount of 5 (in Indonesian Rupiah), payback amount should be 6 (in Indonesian Rupiah), while, for the loan amount of 10 (in Indonesian Rupiah), the payback amount should be 12 (in Indonesian Rupiah).</a:t>
            </a:r>
          </a:p>
          <a:p>
            <a:pPr algn="r"/>
            <a:r>
              <a:rPr lang="en-IN" sz="2000" dirty="0">
                <a:solidFill>
                  <a:schemeClr val="bg1"/>
                </a:solidFill>
                <a:latin typeface="Cooper Black" panose="0208090404030B020404" pitchFamily="18" charset="0"/>
              </a:rPr>
              <a:t> </a:t>
            </a:r>
            <a:r>
              <a:rPr lang="en-IN" sz="1400" dirty="0">
                <a:solidFill>
                  <a:schemeClr val="bg1"/>
                </a:solidFill>
                <a:latin typeface="Cooper Black" panose="0208090404030B020404" pitchFamily="18" charset="0"/>
              </a:rPr>
              <a:t>Continued……………</a:t>
            </a:r>
            <a:endParaRPr lang="en-IN" sz="20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094263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49901-9E01-427B-A949-C036963BBE31}"/>
              </a:ext>
            </a:extLst>
          </p:cNvPr>
          <p:cNvSpPr txBox="1"/>
          <p:nvPr/>
        </p:nvSpPr>
        <p:spPr>
          <a:xfrm>
            <a:off x="612648" y="1536192"/>
            <a:ext cx="10972800" cy="1323439"/>
          </a:xfrm>
          <a:prstGeom prst="rect">
            <a:avLst/>
          </a:prstGeom>
          <a:noFill/>
        </p:spPr>
        <p:txBody>
          <a:bodyPr wrap="square" rtlCol="0">
            <a:spAutoFit/>
          </a:bodyPr>
          <a:lstStyle/>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In order to improve the selection of customers for the credit, I need to build an model that will help client in further investment and improvement in selection of customers.</a:t>
            </a:r>
          </a:p>
          <a:p>
            <a:pPr algn="just"/>
            <a:r>
              <a:rPr lang="en-IN" sz="2000" dirty="0">
                <a:solidFill>
                  <a:schemeClr val="bg1"/>
                </a:solidFill>
                <a:latin typeface="Cooper Black" panose="0208090404030B020404" pitchFamily="18" charset="0"/>
              </a:rPr>
              <a:t> </a:t>
            </a:r>
          </a:p>
        </p:txBody>
      </p:sp>
    </p:spTree>
    <p:extLst>
      <p:ext uri="{BB962C8B-B14F-4D97-AF65-F5344CB8AC3E}">
        <p14:creationId xmlns:p14="http://schemas.microsoft.com/office/powerpoint/2010/main" val="3533776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B08A11-349D-4F2A-8B23-A5AE0160E45E}"/>
              </a:ext>
            </a:extLst>
          </p:cNvPr>
          <p:cNvSpPr txBox="1"/>
          <p:nvPr/>
        </p:nvSpPr>
        <p:spPr>
          <a:xfrm>
            <a:off x="612648" y="1536192"/>
            <a:ext cx="10972800" cy="4708981"/>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dirty="0">
                <a:solidFill>
                  <a:schemeClr val="bg1"/>
                </a:solidFill>
                <a:latin typeface="Cooper Black" panose="0208090404030B020404" pitchFamily="18" charset="0"/>
              </a:rPr>
              <a:t>Microcredit is a common form of microfinance that involves an extremely small loan given to an individual to help them become self-employed or grow a small business.</a:t>
            </a:r>
          </a:p>
          <a:p>
            <a:pPr marL="342900" indent="-342900" algn="just">
              <a:buFont typeface="Wingdings" panose="05000000000000000000" pitchFamily="2" charset="2"/>
              <a:buChar char="Ø"/>
            </a:pPr>
            <a:r>
              <a:rPr lang="en-IN" sz="2000" dirty="0">
                <a:solidFill>
                  <a:schemeClr val="bg1"/>
                </a:solidFill>
                <a:latin typeface="Cooper Black" panose="0208090404030B020404" pitchFamily="18" charset="0"/>
              </a:rPr>
              <a:t>In Telecom industry it is a service which the telecom can offer to subscribers and resellers both. Through this service, telco can provide ease of access of airtime stock credit to their resellers when they run out of stock balance, without disrupting the normal flow of business. On the subscriber side, they can remain connected without having to recharge through a voucher or digital top-up. This loan is disbursed in real-time and is calculated based on intelligent reseller/subscriber profiling.</a:t>
            </a:r>
          </a:p>
          <a:p>
            <a:pPr marL="342900" indent="-342900" algn="just">
              <a:buFont typeface="Wingdings" panose="05000000000000000000" pitchFamily="2" charset="2"/>
              <a:buChar char="Ø"/>
            </a:pPr>
            <a:r>
              <a:rPr lang="en-IN" sz="2000" dirty="0">
                <a:solidFill>
                  <a:schemeClr val="bg1"/>
                </a:solidFill>
                <a:latin typeface="Cooper Black" panose="0208090404030B020404" pitchFamily="18" charset="0"/>
              </a:rPr>
              <a:t>When the subscriber or reseller (user) runs out of airtime credit and is unable to recharge, they can dial a USSD code to request for airtime credit. The system will perform user profiling and disburse loans. Next time the user recharges the account, the system will verify if there is any outstanding loan. The loan with a service fee is deducted from the user’s account.</a:t>
            </a:r>
            <a:endParaRPr lang="en-US" sz="2000" dirty="0">
              <a:solidFill>
                <a:schemeClr val="bg1"/>
              </a:solidFill>
              <a:latin typeface="Cooper Black" panose="0208090404030B020404" pitchFamily="18" charset="0"/>
            </a:endParaRPr>
          </a:p>
        </p:txBody>
      </p:sp>
      <p:sp>
        <p:nvSpPr>
          <p:cNvPr id="5" name="TextBox 4">
            <a:extLst>
              <a:ext uri="{FF2B5EF4-FFF2-40B4-BE49-F238E27FC236}">
                <a16:creationId xmlns:a16="http://schemas.microsoft.com/office/drawing/2014/main" id="{5D195968-A4B3-4CE1-8F40-6EEC462C0B3E}"/>
              </a:ext>
            </a:extLst>
          </p:cNvPr>
          <p:cNvSpPr txBox="1"/>
          <p:nvPr/>
        </p:nvSpPr>
        <p:spPr>
          <a:xfrm>
            <a:off x="3749039" y="685800"/>
            <a:ext cx="4804117" cy="523220"/>
          </a:xfrm>
          <a:prstGeom prst="rect">
            <a:avLst/>
          </a:prstGeom>
          <a:noFill/>
          <a:ln>
            <a:noFill/>
          </a:ln>
        </p:spPr>
        <p:txBody>
          <a:bodyPr wrap="square" rtlCol="0">
            <a:spAutoFit/>
          </a:bodyPr>
          <a:lstStyle/>
          <a:p>
            <a:r>
              <a:rPr lang="en-US" sz="2800" b="1" i="1" u="sng" dirty="0">
                <a:solidFill>
                  <a:schemeClr val="bg1"/>
                </a:solidFill>
                <a:latin typeface="Comic Sans MS" panose="030F0702030302020204" pitchFamily="66" charset="0"/>
              </a:rPr>
              <a:t>What is Micro Credit Loan</a:t>
            </a:r>
          </a:p>
        </p:txBody>
      </p:sp>
    </p:spTree>
    <p:extLst>
      <p:ext uri="{BB962C8B-B14F-4D97-AF65-F5344CB8AC3E}">
        <p14:creationId xmlns:p14="http://schemas.microsoft.com/office/powerpoint/2010/main" val="3998529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35D087-26C0-4ABF-B1C9-499F78B02BBB}"/>
              </a:ext>
            </a:extLst>
          </p:cNvPr>
          <p:cNvSpPr txBox="1"/>
          <p:nvPr/>
        </p:nvSpPr>
        <p:spPr>
          <a:xfrm>
            <a:off x="612648" y="1536192"/>
            <a:ext cx="10972800" cy="4093428"/>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209593 rows and 37 columns in the dataset.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21 column which are of float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13 column which are of int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3 columns which are of object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is no null values in the dataset.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‘Unwanted : 0’ contains index however data frame has their own index. So, drop it.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 1 column is unwanted, 1 column contains only one value for all rows, 7 columns contains above 92% zero values. So, drop it.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From one column ‘</a:t>
            </a:r>
            <a:r>
              <a:rPr lang="en-US" sz="2000" dirty="0" err="1">
                <a:solidFill>
                  <a:schemeClr val="bg1"/>
                </a:solidFill>
                <a:latin typeface="Cooper Black" panose="0208090404030B020404" pitchFamily="18" charset="0"/>
              </a:rPr>
              <a:t>pdate</a:t>
            </a:r>
            <a:r>
              <a:rPr lang="en-US" sz="2000" dirty="0">
                <a:solidFill>
                  <a:schemeClr val="bg1"/>
                </a:solidFill>
                <a:latin typeface="Cooper Black" panose="0208090404030B020404" pitchFamily="18" charset="0"/>
              </a:rPr>
              <a:t>’ need to extract day, month &amp; year.</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 </a:t>
            </a:r>
            <a:r>
              <a:rPr lang="en-IN" sz="2000" dirty="0">
                <a:solidFill>
                  <a:schemeClr val="bg1"/>
                </a:solidFill>
                <a:latin typeface="Cooper Black" panose="0208090404030B020404" pitchFamily="18" charset="0"/>
              </a:rPr>
              <a:t>'maxamnt_loans30’ should be 0,6 and 12. Except these three values we need to replace rest value by 0.</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Now the </a:t>
            </a:r>
            <a:r>
              <a:rPr lang="en-US" sz="2000" dirty="0" err="1">
                <a:solidFill>
                  <a:schemeClr val="bg1"/>
                </a:solidFill>
                <a:latin typeface="Cooper Black" panose="0208090404030B020404" pitchFamily="18" charset="0"/>
              </a:rPr>
              <a:t>dataframe</a:t>
            </a:r>
            <a:r>
              <a:rPr lang="en-US" sz="2000" dirty="0">
                <a:solidFill>
                  <a:schemeClr val="bg1"/>
                </a:solidFill>
                <a:latin typeface="Cooper Black" panose="0208090404030B020404" pitchFamily="18" charset="0"/>
              </a:rPr>
              <a:t> contain 209593 rows and 28 columns.</a:t>
            </a:r>
          </a:p>
        </p:txBody>
      </p:sp>
      <p:sp>
        <p:nvSpPr>
          <p:cNvPr id="3" name="TextBox 2">
            <a:extLst>
              <a:ext uri="{FF2B5EF4-FFF2-40B4-BE49-F238E27FC236}">
                <a16:creationId xmlns:a16="http://schemas.microsoft.com/office/drawing/2014/main" id="{D46FCADB-A7A9-4916-A89B-435233D38131}"/>
              </a:ext>
            </a:extLst>
          </p:cNvPr>
          <p:cNvSpPr txBox="1"/>
          <p:nvPr/>
        </p:nvSpPr>
        <p:spPr>
          <a:xfrm>
            <a:off x="3749040"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About Dataset</a:t>
            </a:r>
            <a:endParaRPr lang="en-US" sz="2000" b="1" i="1" u="sng"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4273992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F53017-EE09-4E94-9328-740E511741D1}"/>
              </a:ext>
            </a:extLst>
          </p:cNvPr>
          <p:cNvSpPr txBox="1"/>
          <p:nvPr/>
        </p:nvSpPr>
        <p:spPr>
          <a:xfrm>
            <a:off x="3749040" y="685800"/>
            <a:ext cx="4709160"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Exploratory Data Analysis</a:t>
            </a:r>
          </a:p>
        </p:txBody>
      </p:sp>
      <p:pic>
        <p:nvPicPr>
          <p:cNvPr id="4" name="Picture 3">
            <a:extLst>
              <a:ext uri="{FF2B5EF4-FFF2-40B4-BE49-F238E27FC236}">
                <a16:creationId xmlns:a16="http://schemas.microsoft.com/office/drawing/2014/main" id="{10368DE8-FCBB-4A37-9FB6-E3153B6F442B}"/>
              </a:ext>
            </a:extLst>
          </p:cNvPr>
          <p:cNvPicPr>
            <a:picLocks noChangeAspect="1"/>
          </p:cNvPicPr>
          <p:nvPr/>
        </p:nvPicPr>
        <p:blipFill>
          <a:blip r:embed="rId2"/>
          <a:stretch>
            <a:fillRect/>
          </a:stretch>
        </p:blipFill>
        <p:spPr>
          <a:xfrm>
            <a:off x="536099" y="1941342"/>
            <a:ext cx="5559902" cy="4353441"/>
          </a:xfrm>
          <a:prstGeom prst="rect">
            <a:avLst/>
          </a:prstGeom>
        </p:spPr>
      </p:pic>
      <p:pic>
        <p:nvPicPr>
          <p:cNvPr id="6" name="Picture 5">
            <a:extLst>
              <a:ext uri="{FF2B5EF4-FFF2-40B4-BE49-F238E27FC236}">
                <a16:creationId xmlns:a16="http://schemas.microsoft.com/office/drawing/2014/main" id="{FBD9D1D1-FFB0-47D6-815D-FFD85EE2D4D7}"/>
              </a:ext>
            </a:extLst>
          </p:cNvPr>
          <p:cNvPicPr>
            <a:picLocks noChangeAspect="1"/>
          </p:cNvPicPr>
          <p:nvPr/>
        </p:nvPicPr>
        <p:blipFill>
          <a:blip r:embed="rId3"/>
          <a:stretch>
            <a:fillRect/>
          </a:stretch>
        </p:blipFill>
        <p:spPr>
          <a:xfrm>
            <a:off x="6096001" y="1941342"/>
            <a:ext cx="5559902" cy="4353441"/>
          </a:xfrm>
          <a:prstGeom prst="rect">
            <a:avLst/>
          </a:prstGeom>
        </p:spPr>
      </p:pic>
      <p:sp>
        <p:nvSpPr>
          <p:cNvPr id="7" name="TextBox 6">
            <a:extLst>
              <a:ext uri="{FF2B5EF4-FFF2-40B4-BE49-F238E27FC236}">
                <a16:creationId xmlns:a16="http://schemas.microsoft.com/office/drawing/2014/main" id="{31594385-502D-4552-9A19-2C768D54D27B}"/>
              </a:ext>
            </a:extLst>
          </p:cNvPr>
          <p:cNvSpPr txBox="1"/>
          <p:nvPr/>
        </p:nvSpPr>
        <p:spPr>
          <a:xfrm>
            <a:off x="536098" y="1332859"/>
            <a:ext cx="6976050" cy="461665"/>
          </a:xfrm>
          <a:prstGeom prst="rect">
            <a:avLst/>
          </a:prstGeom>
          <a:noFill/>
        </p:spPr>
        <p:txBody>
          <a:bodyPr wrap="square" rtlCol="0">
            <a:spAutoFit/>
          </a:bodyPr>
          <a:lstStyle/>
          <a:p>
            <a:r>
              <a:rPr lang="en-US" sz="2400" b="1" i="1" u="sng" dirty="0">
                <a:solidFill>
                  <a:schemeClr val="bg1"/>
                </a:solidFill>
                <a:latin typeface="Comic Sans MS" panose="030F0702030302020204" pitchFamily="66" charset="0"/>
              </a:rPr>
              <a:t>a).Univariate Analysis</a:t>
            </a:r>
            <a:r>
              <a:rPr lang="en-US" sz="2400" b="1" i="1" dirty="0">
                <a:solidFill>
                  <a:schemeClr val="bg1"/>
                </a:solidFill>
                <a:latin typeface="Comic Sans MS" panose="030F0702030302020204" pitchFamily="66" charset="0"/>
              </a:rPr>
              <a:t>:</a:t>
            </a:r>
          </a:p>
        </p:txBody>
      </p:sp>
    </p:spTree>
    <p:extLst>
      <p:ext uri="{BB962C8B-B14F-4D97-AF65-F5344CB8AC3E}">
        <p14:creationId xmlns:p14="http://schemas.microsoft.com/office/powerpoint/2010/main" val="767133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B8B4A9-888B-4CE0-800D-0026BED8F38A}"/>
              </a:ext>
            </a:extLst>
          </p:cNvPr>
          <p:cNvPicPr>
            <a:picLocks noChangeAspect="1"/>
          </p:cNvPicPr>
          <p:nvPr/>
        </p:nvPicPr>
        <p:blipFill>
          <a:blip r:embed="rId2"/>
          <a:stretch>
            <a:fillRect/>
          </a:stretch>
        </p:blipFill>
        <p:spPr>
          <a:xfrm>
            <a:off x="539496" y="1941342"/>
            <a:ext cx="5824728" cy="4356163"/>
          </a:xfrm>
          <a:prstGeom prst="rect">
            <a:avLst/>
          </a:prstGeom>
        </p:spPr>
      </p:pic>
      <p:pic>
        <p:nvPicPr>
          <p:cNvPr id="5" name="Picture 4">
            <a:extLst>
              <a:ext uri="{FF2B5EF4-FFF2-40B4-BE49-F238E27FC236}">
                <a16:creationId xmlns:a16="http://schemas.microsoft.com/office/drawing/2014/main" id="{06B1C388-EB29-4789-A298-E1D2AE879B35}"/>
              </a:ext>
            </a:extLst>
          </p:cNvPr>
          <p:cNvPicPr>
            <a:picLocks noChangeAspect="1"/>
          </p:cNvPicPr>
          <p:nvPr/>
        </p:nvPicPr>
        <p:blipFill>
          <a:blip r:embed="rId3"/>
          <a:stretch>
            <a:fillRect/>
          </a:stretch>
        </p:blipFill>
        <p:spPr>
          <a:xfrm>
            <a:off x="6364224" y="1941342"/>
            <a:ext cx="5262162" cy="2316348"/>
          </a:xfrm>
          <a:prstGeom prst="rect">
            <a:avLst/>
          </a:prstGeom>
        </p:spPr>
      </p:pic>
      <p:sp>
        <p:nvSpPr>
          <p:cNvPr id="2" name="TextBox 1">
            <a:extLst>
              <a:ext uri="{FF2B5EF4-FFF2-40B4-BE49-F238E27FC236}">
                <a16:creationId xmlns:a16="http://schemas.microsoft.com/office/drawing/2014/main" id="{6F38964D-515E-4E50-8122-78B5811B5482}"/>
              </a:ext>
            </a:extLst>
          </p:cNvPr>
          <p:cNvSpPr txBox="1"/>
          <p:nvPr/>
        </p:nvSpPr>
        <p:spPr>
          <a:xfrm>
            <a:off x="6718852" y="5049078"/>
            <a:ext cx="4479235" cy="584775"/>
          </a:xfrm>
          <a:prstGeom prst="rect">
            <a:avLst/>
          </a:prstGeom>
          <a:noFill/>
          <a:ln>
            <a:noFill/>
          </a:ln>
        </p:spPr>
        <p:txBody>
          <a:bodyPr wrap="square" rtlCol="0">
            <a:spAutoFit/>
          </a:bodyPr>
          <a:lstStyle/>
          <a:p>
            <a:pPr marL="285750" indent="-285750">
              <a:buFont typeface="Wingdings" panose="05000000000000000000" pitchFamily="2" charset="2"/>
              <a:buChar char="Ø"/>
            </a:pPr>
            <a:r>
              <a:rPr lang="en-US" sz="1600" i="1" dirty="0">
                <a:solidFill>
                  <a:schemeClr val="bg1"/>
                </a:solidFill>
                <a:latin typeface="Cooper Black" panose="0208090404030B020404" pitchFamily="18" charset="0"/>
              </a:rPr>
              <a:t>From the graph it can be seen clearly that skewness is present.</a:t>
            </a:r>
          </a:p>
        </p:txBody>
      </p:sp>
    </p:spTree>
    <p:extLst>
      <p:ext uri="{BB962C8B-B14F-4D97-AF65-F5344CB8AC3E}">
        <p14:creationId xmlns:p14="http://schemas.microsoft.com/office/powerpoint/2010/main" val="3633412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5F093C-88FE-45FD-AEA0-2561A206AF32}"/>
              </a:ext>
            </a:extLst>
          </p:cNvPr>
          <p:cNvPicPr>
            <a:picLocks noChangeAspect="1"/>
          </p:cNvPicPr>
          <p:nvPr/>
        </p:nvPicPr>
        <p:blipFill>
          <a:blip r:embed="rId2"/>
          <a:stretch>
            <a:fillRect/>
          </a:stretch>
        </p:blipFill>
        <p:spPr>
          <a:xfrm>
            <a:off x="530375" y="1969477"/>
            <a:ext cx="5565625" cy="4351809"/>
          </a:xfrm>
          <a:prstGeom prst="rect">
            <a:avLst/>
          </a:prstGeom>
        </p:spPr>
      </p:pic>
      <p:pic>
        <p:nvPicPr>
          <p:cNvPr id="7" name="Picture 6">
            <a:extLst>
              <a:ext uri="{FF2B5EF4-FFF2-40B4-BE49-F238E27FC236}">
                <a16:creationId xmlns:a16="http://schemas.microsoft.com/office/drawing/2014/main" id="{9AC6AEE7-0C7C-4520-A583-86C3D76F16FE}"/>
              </a:ext>
            </a:extLst>
          </p:cNvPr>
          <p:cNvPicPr>
            <a:picLocks noChangeAspect="1"/>
          </p:cNvPicPr>
          <p:nvPr/>
        </p:nvPicPr>
        <p:blipFill>
          <a:blip r:embed="rId3"/>
          <a:stretch>
            <a:fillRect/>
          </a:stretch>
        </p:blipFill>
        <p:spPr>
          <a:xfrm>
            <a:off x="6096000" y="1969477"/>
            <a:ext cx="5565627" cy="4351810"/>
          </a:xfrm>
          <a:prstGeom prst="rect">
            <a:avLst/>
          </a:prstGeom>
        </p:spPr>
      </p:pic>
    </p:spTree>
    <p:extLst>
      <p:ext uri="{BB962C8B-B14F-4D97-AF65-F5344CB8AC3E}">
        <p14:creationId xmlns:p14="http://schemas.microsoft.com/office/powerpoint/2010/main" val="1505547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891EA9-DA81-444A-BAE6-577CFEC48510}"/>
              </a:ext>
            </a:extLst>
          </p:cNvPr>
          <p:cNvPicPr>
            <a:picLocks noChangeAspect="1"/>
          </p:cNvPicPr>
          <p:nvPr/>
        </p:nvPicPr>
        <p:blipFill>
          <a:blip r:embed="rId2"/>
          <a:stretch>
            <a:fillRect/>
          </a:stretch>
        </p:blipFill>
        <p:spPr>
          <a:xfrm>
            <a:off x="539497" y="1380744"/>
            <a:ext cx="5556504" cy="4268650"/>
          </a:xfrm>
          <a:prstGeom prst="rect">
            <a:avLst/>
          </a:prstGeom>
        </p:spPr>
      </p:pic>
      <p:sp>
        <p:nvSpPr>
          <p:cNvPr id="2" name="TextBox 1">
            <a:extLst>
              <a:ext uri="{FF2B5EF4-FFF2-40B4-BE49-F238E27FC236}">
                <a16:creationId xmlns:a16="http://schemas.microsoft.com/office/drawing/2014/main" id="{D8723D17-5749-4E22-9D90-74CFAEE99607}"/>
              </a:ext>
            </a:extLst>
          </p:cNvPr>
          <p:cNvSpPr txBox="1"/>
          <p:nvPr/>
        </p:nvSpPr>
        <p:spPr>
          <a:xfrm>
            <a:off x="6718852" y="3061252"/>
            <a:ext cx="4744278" cy="646331"/>
          </a:xfrm>
          <a:prstGeom prst="rect">
            <a:avLst/>
          </a:prstGeom>
          <a:noFill/>
        </p:spPr>
        <p:txBody>
          <a:bodyPr wrap="square" rtlCol="0">
            <a:spAutoFit/>
          </a:bodyPr>
          <a:lstStyle/>
          <a:p>
            <a:pPr marL="285750" indent="-285750">
              <a:buFont typeface="Wingdings" panose="05000000000000000000" pitchFamily="2" charset="2"/>
              <a:buChar char="Ø"/>
            </a:pPr>
            <a:r>
              <a:rPr lang="en-US" i="1" dirty="0">
                <a:solidFill>
                  <a:schemeClr val="bg1"/>
                </a:solidFill>
                <a:latin typeface="Cooper Black" panose="0208090404030B020404" pitchFamily="18" charset="0"/>
              </a:rPr>
              <a:t>From the graph it can be seen clearly that outliers is also present.</a:t>
            </a:r>
          </a:p>
        </p:txBody>
      </p:sp>
    </p:spTree>
    <p:extLst>
      <p:ext uri="{BB962C8B-B14F-4D97-AF65-F5344CB8AC3E}">
        <p14:creationId xmlns:p14="http://schemas.microsoft.com/office/powerpoint/2010/main" val="3178808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D76790-691C-4EFA-B40E-6B038AF683B0}"/>
              </a:ext>
            </a:extLst>
          </p:cNvPr>
          <p:cNvPicPr>
            <a:picLocks noChangeAspect="1"/>
          </p:cNvPicPr>
          <p:nvPr/>
        </p:nvPicPr>
        <p:blipFill>
          <a:blip r:embed="rId2"/>
          <a:stretch>
            <a:fillRect/>
          </a:stretch>
        </p:blipFill>
        <p:spPr>
          <a:xfrm>
            <a:off x="539495" y="1927274"/>
            <a:ext cx="6622913" cy="4356764"/>
          </a:xfrm>
          <a:prstGeom prst="rect">
            <a:avLst/>
          </a:prstGeom>
        </p:spPr>
      </p:pic>
      <p:sp>
        <p:nvSpPr>
          <p:cNvPr id="2" name="TextBox 1">
            <a:extLst>
              <a:ext uri="{FF2B5EF4-FFF2-40B4-BE49-F238E27FC236}">
                <a16:creationId xmlns:a16="http://schemas.microsoft.com/office/drawing/2014/main" id="{A47D80C5-4E91-49D5-A6AD-5DE4230B6EFD}"/>
              </a:ext>
            </a:extLst>
          </p:cNvPr>
          <p:cNvSpPr txBox="1"/>
          <p:nvPr/>
        </p:nvSpPr>
        <p:spPr>
          <a:xfrm>
            <a:off x="7301947" y="3564835"/>
            <a:ext cx="4350557" cy="1754326"/>
          </a:xfrm>
          <a:prstGeom prst="rect">
            <a:avLst/>
          </a:prstGeom>
          <a:noFill/>
        </p:spPr>
        <p:txBody>
          <a:bodyPr wrap="square" rtlCol="0">
            <a:spAutoFit/>
          </a:bodyPr>
          <a:lstStyle/>
          <a:p>
            <a:pPr marL="285750" indent="-285750">
              <a:buFont typeface="Wingdings" panose="05000000000000000000" pitchFamily="2" charset="2"/>
              <a:buChar char="Ø"/>
            </a:pPr>
            <a:r>
              <a:rPr lang="en-US" i="1" dirty="0">
                <a:solidFill>
                  <a:schemeClr val="bg1"/>
                </a:solidFill>
                <a:latin typeface="Cooper Black" panose="0208090404030B020404" pitchFamily="18" charset="0"/>
              </a:rPr>
              <a:t>‘label’ is target variable.</a:t>
            </a:r>
          </a:p>
          <a:p>
            <a:pPr marL="285750" indent="-285750">
              <a:buFont typeface="Wingdings" panose="05000000000000000000" pitchFamily="2" charset="2"/>
              <a:buChar char="Ø"/>
            </a:pPr>
            <a:r>
              <a:rPr lang="en-US" i="1" dirty="0">
                <a:solidFill>
                  <a:schemeClr val="bg1"/>
                </a:solidFill>
                <a:latin typeface="Cooper Black" panose="0208090404030B020404" pitchFamily="18" charset="0"/>
              </a:rPr>
              <a:t>From the graph it can be seen clearly that  this problem is binary classification problem.</a:t>
            </a:r>
          </a:p>
          <a:p>
            <a:pPr marL="285750" indent="-285750">
              <a:buFont typeface="Wingdings" panose="05000000000000000000" pitchFamily="2" charset="2"/>
              <a:buChar char="Ø"/>
            </a:pPr>
            <a:r>
              <a:rPr lang="en-US" i="1" dirty="0">
                <a:solidFill>
                  <a:schemeClr val="bg1"/>
                </a:solidFill>
                <a:latin typeface="Cooper Black" panose="0208090404030B020404" pitchFamily="18" charset="0"/>
              </a:rPr>
              <a:t>It is also observed that the problem is imbalanced. </a:t>
            </a:r>
          </a:p>
        </p:txBody>
      </p:sp>
    </p:spTree>
    <p:extLst>
      <p:ext uri="{BB962C8B-B14F-4D97-AF65-F5344CB8AC3E}">
        <p14:creationId xmlns:p14="http://schemas.microsoft.com/office/powerpoint/2010/main" val="1713599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C9FB55-9E82-4742-B356-39941C12BBEA}"/>
              </a:ext>
            </a:extLst>
          </p:cNvPr>
          <p:cNvPicPr>
            <a:picLocks noChangeAspect="1"/>
          </p:cNvPicPr>
          <p:nvPr/>
        </p:nvPicPr>
        <p:blipFill>
          <a:blip r:embed="rId2"/>
          <a:stretch>
            <a:fillRect/>
          </a:stretch>
        </p:blipFill>
        <p:spPr>
          <a:xfrm>
            <a:off x="539495" y="1941341"/>
            <a:ext cx="6620959" cy="4360983"/>
          </a:xfrm>
          <a:prstGeom prst="rect">
            <a:avLst/>
          </a:prstGeom>
        </p:spPr>
      </p:pic>
      <p:sp>
        <p:nvSpPr>
          <p:cNvPr id="4" name="TextBox 3">
            <a:extLst>
              <a:ext uri="{FF2B5EF4-FFF2-40B4-BE49-F238E27FC236}">
                <a16:creationId xmlns:a16="http://schemas.microsoft.com/office/drawing/2014/main" id="{F5EFC4AA-D2EC-4554-8B03-93FB572E19DF}"/>
              </a:ext>
            </a:extLst>
          </p:cNvPr>
          <p:cNvSpPr txBox="1"/>
          <p:nvPr/>
        </p:nvSpPr>
        <p:spPr>
          <a:xfrm>
            <a:off x="536098" y="1332859"/>
            <a:ext cx="5559901" cy="461665"/>
          </a:xfrm>
          <a:prstGeom prst="rect">
            <a:avLst/>
          </a:prstGeom>
          <a:noFill/>
        </p:spPr>
        <p:txBody>
          <a:bodyPr wrap="square" rtlCol="0">
            <a:spAutoFit/>
          </a:bodyPr>
          <a:lstStyle/>
          <a:p>
            <a:r>
              <a:rPr lang="en-US" sz="2400" b="1" i="1" u="sng" dirty="0">
                <a:solidFill>
                  <a:schemeClr val="bg1"/>
                </a:solidFill>
                <a:latin typeface="Comic Sans MS" panose="030F0702030302020204" pitchFamily="66" charset="0"/>
              </a:rPr>
              <a:t>b).bivariate Analysis:</a:t>
            </a:r>
            <a:r>
              <a:rPr lang="en-US" sz="2400" b="1" i="1" dirty="0">
                <a:solidFill>
                  <a:schemeClr val="bg1"/>
                </a:solidFill>
                <a:latin typeface="Comic Sans MS" panose="030F0702030302020204" pitchFamily="66" charset="0"/>
              </a:rPr>
              <a:t> </a:t>
            </a:r>
            <a:endParaRPr lang="en-US" sz="2400" b="1" i="1" u="sng" dirty="0">
              <a:solidFill>
                <a:schemeClr val="bg1"/>
              </a:solidFill>
              <a:latin typeface="Comic Sans MS" panose="030F0702030302020204" pitchFamily="66" charset="0"/>
            </a:endParaRPr>
          </a:p>
        </p:txBody>
      </p:sp>
      <p:sp>
        <p:nvSpPr>
          <p:cNvPr id="2" name="TextBox 1">
            <a:extLst>
              <a:ext uri="{FF2B5EF4-FFF2-40B4-BE49-F238E27FC236}">
                <a16:creationId xmlns:a16="http://schemas.microsoft.com/office/drawing/2014/main" id="{A8638FE0-F7EB-40CA-969E-28D01758A376}"/>
              </a:ext>
            </a:extLst>
          </p:cNvPr>
          <p:cNvSpPr txBox="1"/>
          <p:nvPr/>
        </p:nvSpPr>
        <p:spPr>
          <a:xfrm>
            <a:off x="7407965" y="2080591"/>
            <a:ext cx="4094922" cy="738664"/>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Defaulter are most in ‘</a:t>
            </a:r>
            <a:r>
              <a:rPr lang="en-US" sz="1400" dirty="0" err="1">
                <a:solidFill>
                  <a:schemeClr val="bg1"/>
                </a:solidFill>
                <a:latin typeface="Cooper Black" panose="0208090404030B020404" pitchFamily="18" charset="0"/>
              </a:rPr>
              <a:t>aon</a:t>
            </a:r>
            <a:r>
              <a:rPr lang="en-US" sz="1400" dirty="0">
                <a:solidFill>
                  <a:schemeClr val="bg1"/>
                </a:solidFill>
                <a:latin typeface="Cooper Black" panose="0208090404030B020404" pitchFamily="18" charset="0"/>
              </a:rPr>
              <a:t>’.</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‘daily_decr30’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‘daily_decr90</a:t>
            </a:r>
            <a:r>
              <a:rPr lang="en-US" sz="1400" dirty="0">
                <a:solidFill>
                  <a:schemeClr val="bg1"/>
                </a:solidFill>
              </a:rPr>
              <a:t>’</a:t>
            </a:r>
          </a:p>
        </p:txBody>
      </p:sp>
      <p:sp>
        <p:nvSpPr>
          <p:cNvPr id="5" name="TextBox 4">
            <a:extLst>
              <a:ext uri="{FF2B5EF4-FFF2-40B4-BE49-F238E27FC236}">
                <a16:creationId xmlns:a16="http://schemas.microsoft.com/office/drawing/2014/main" id="{F55AEE4B-4153-4108-AD1B-B300D375037B}"/>
              </a:ext>
            </a:extLst>
          </p:cNvPr>
          <p:cNvSpPr txBox="1"/>
          <p:nvPr/>
        </p:nvSpPr>
        <p:spPr>
          <a:xfrm>
            <a:off x="7407965" y="3429000"/>
            <a:ext cx="4094922" cy="954107"/>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‘rental30’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‘rental90’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a:t>
            </a:r>
            <a:r>
              <a:rPr lang="en-US" sz="1400" dirty="0" err="1">
                <a:solidFill>
                  <a:schemeClr val="bg1"/>
                </a:solidFill>
                <a:latin typeface="Cooper Black" panose="0208090404030B020404" pitchFamily="18" charset="0"/>
              </a:rPr>
              <a:t>last_rech_date_ma</a:t>
            </a:r>
            <a:r>
              <a:rPr lang="en-US" sz="1400" dirty="0">
                <a:solidFill>
                  <a:schemeClr val="bg1"/>
                </a:solidFill>
                <a:latin typeface="Cooper Black" panose="0208090404030B020404" pitchFamily="18" charset="0"/>
              </a:rPr>
              <a:t>’</a:t>
            </a:r>
          </a:p>
        </p:txBody>
      </p:sp>
      <p:sp>
        <p:nvSpPr>
          <p:cNvPr id="8" name="TextBox 7">
            <a:extLst>
              <a:ext uri="{FF2B5EF4-FFF2-40B4-BE49-F238E27FC236}">
                <a16:creationId xmlns:a16="http://schemas.microsoft.com/office/drawing/2014/main" id="{BDED7CE4-31CF-4AEB-8E28-A35755F592AA}"/>
              </a:ext>
            </a:extLst>
          </p:cNvPr>
          <p:cNvSpPr txBox="1"/>
          <p:nvPr/>
        </p:nvSpPr>
        <p:spPr>
          <a:xfrm>
            <a:off x="7407965" y="4732664"/>
            <a:ext cx="4094922" cy="1384995"/>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a:t>
            </a:r>
            <a:r>
              <a:rPr lang="en-US" sz="1400" dirty="0" err="1">
                <a:solidFill>
                  <a:schemeClr val="bg1"/>
                </a:solidFill>
                <a:latin typeface="Cooper Black" panose="0208090404030B020404" pitchFamily="18" charset="0"/>
              </a:rPr>
              <a:t>last_rech_amt_ma</a:t>
            </a:r>
            <a:r>
              <a:rPr lang="en-US" sz="1400" dirty="0">
                <a:solidFill>
                  <a:schemeClr val="bg1"/>
                </a:solidFill>
                <a:latin typeface="Cooper Black" panose="0208090404030B020404" pitchFamily="18" charset="0"/>
              </a:rPr>
              <a:t>’</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‘cnt_ma_rech30’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‘fr_ma_rech30’</a:t>
            </a:r>
          </a:p>
        </p:txBody>
      </p:sp>
    </p:spTree>
    <p:extLst>
      <p:ext uri="{BB962C8B-B14F-4D97-AF65-F5344CB8AC3E}">
        <p14:creationId xmlns:p14="http://schemas.microsoft.com/office/powerpoint/2010/main" val="3813396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F10DC2-B0B7-45D3-B886-3AF23A630166}"/>
              </a:ext>
            </a:extLst>
          </p:cNvPr>
          <p:cNvPicPr>
            <a:picLocks noChangeAspect="1"/>
          </p:cNvPicPr>
          <p:nvPr/>
        </p:nvPicPr>
        <p:blipFill>
          <a:blip r:embed="rId2"/>
          <a:stretch>
            <a:fillRect/>
          </a:stretch>
        </p:blipFill>
        <p:spPr>
          <a:xfrm>
            <a:off x="539496" y="1955408"/>
            <a:ext cx="6620256" cy="4346917"/>
          </a:xfrm>
          <a:prstGeom prst="rect">
            <a:avLst/>
          </a:prstGeom>
        </p:spPr>
      </p:pic>
      <p:sp>
        <p:nvSpPr>
          <p:cNvPr id="4" name="TextBox 3">
            <a:extLst>
              <a:ext uri="{FF2B5EF4-FFF2-40B4-BE49-F238E27FC236}">
                <a16:creationId xmlns:a16="http://schemas.microsoft.com/office/drawing/2014/main" id="{89B35BEB-2FB9-44B2-B9C2-741C770D9F1E}"/>
              </a:ext>
            </a:extLst>
          </p:cNvPr>
          <p:cNvSpPr txBox="1"/>
          <p:nvPr/>
        </p:nvSpPr>
        <p:spPr>
          <a:xfrm>
            <a:off x="7275443" y="1955408"/>
            <a:ext cx="4094922" cy="1384995"/>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‘sumamnt_ma_rech30’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‘medianamnt_ma_rech30’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Defaulter are most in ‘medianmarechprebal30’</a:t>
            </a:r>
          </a:p>
        </p:txBody>
      </p:sp>
      <p:sp>
        <p:nvSpPr>
          <p:cNvPr id="5" name="TextBox 4">
            <a:extLst>
              <a:ext uri="{FF2B5EF4-FFF2-40B4-BE49-F238E27FC236}">
                <a16:creationId xmlns:a16="http://schemas.microsoft.com/office/drawing/2014/main" id="{EB06FD54-3768-4593-9C2B-56307087BC5B}"/>
              </a:ext>
            </a:extLst>
          </p:cNvPr>
          <p:cNvSpPr txBox="1"/>
          <p:nvPr/>
        </p:nvSpPr>
        <p:spPr>
          <a:xfrm>
            <a:off x="7275443" y="3525068"/>
            <a:ext cx="4094922" cy="1384995"/>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‘cnt_ma_rech90’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‘fr_ma_rech90’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‘sumamnt_ma_rech90’</a:t>
            </a:r>
          </a:p>
        </p:txBody>
      </p:sp>
      <p:sp>
        <p:nvSpPr>
          <p:cNvPr id="6" name="TextBox 5">
            <a:extLst>
              <a:ext uri="{FF2B5EF4-FFF2-40B4-BE49-F238E27FC236}">
                <a16:creationId xmlns:a16="http://schemas.microsoft.com/office/drawing/2014/main" id="{DAC6FB69-6522-4F8E-9756-3D690B944861}"/>
              </a:ext>
            </a:extLst>
          </p:cNvPr>
          <p:cNvSpPr txBox="1"/>
          <p:nvPr/>
        </p:nvSpPr>
        <p:spPr>
          <a:xfrm>
            <a:off x="7275443" y="4879284"/>
            <a:ext cx="4094922" cy="1169551"/>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‘medianamnt_ma_rech90’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‘medianmarechprebal90’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‘cnt_loans30’</a:t>
            </a:r>
          </a:p>
        </p:txBody>
      </p:sp>
    </p:spTree>
    <p:extLst>
      <p:ext uri="{BB962C8B-B14F-4D97-AF65-F5344CB8AC3E}">
        <p14:creationId xmlns:p14="http://schemas.microsoft.com/office/powerpoint/2010/main" val="220376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6E1C88-3941-47F0-8E54-622DBBCD2872}"/>
              </a:ext>
            </a:extLst>
          </p:cNvPr>
          <p:cNvPicPr>
            <a:picLocks noChangeAspect="1"/>
          </p:cNvPicPr>
          <p:nvPr/>
        </p:nvPicPr>
        <p:blipFill>
          <a:blip r:embed="rId2"/>
          <a:stretch>
            <a:fillRect/>
          </a:stretch>
        </p:blipFill>
        <p:spPr>
          <a:xfrm>
            <a:off x="539496" y="1955409"/>
            <a:ext cx="6748272" cy="4360984"/>
          </a:xfrm>
          <a:prstGeom prst="rect">
            <a:avLst/>
          </a:prstGeom>
        </p:spPr>
      </p:pic>
      <p:sp>
        <p:nvSpPr>
          <p:cNvPr id="4" name="TextBox 3">
            <a:extLst>
              <a:ext uri="{FF2B5EF4-FFF2-40B4-BE49-F238E27FC236}">
                <a16:creationId xmlns:a16="http://schemas.microsoft.com/office/drawing/2014/main" id="{0426D27D-E5F8-4CF4-A2D1-BDBC25E7626C}"/>
              </a:ext>
            </a:extLst>
          </p:cNvPr>
          <p:cNvSpPr txBox="1"/>
          <p:nvPr/>
        </p:nvSpPr>
        <p:spPr>
          <a:xfrm>
            <a:off x="7407965" y="2080591"/>
            <a:ext cx="4094922" cy="1169551"/>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‘amnt_loans30’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‘maxamnt_loans30’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‘cnt_loans90’</a:t>
            </a:r>
          </a:p>
        </p:txBody>
      </p:sp>
      <p:sp>
        <p:nvSpPr>
          <p:cNvPr id="5" name="TextBox 4">
            <a:extLst>
              <a:ext uri="{FF2B5EF4-FFF2-40B4-BE49-F238E27FC236}">
                <a16:creationId xmlns:a16="http://schemas.microsoft.com/office/drawing/2014/main" id="{6A940040-A744-4477-A38D-53CEBF786991}"/>
              </a:ext>
            </a:extLst>
          </p:cNvPr>
          <p:cNvSpPr txBox="1"/>
          <p:nvPr/>
        </p:nvSpPr>
        <p:spPr>
          <a:xfrm>
            <a:off x="7407965" y="3650251"/>
            <a:ext cx="4094922" cy="1169551"/>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‘amnt_loans90’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‘maxamnt_loans90’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‘payback30’</a:t>
            </a:r>
          </a:p>
        </p:txBody>
      </p:sp>
      <p:sp>
        <p:nvSpPr>
          <p:cNvPr id="7" name="TextBox 6">
            <a:extLst>
              <a:ext uri="{FF2B5EF4-FFF2-40B4-BE49-F238E27FC236}">
                <a16:creationId xmlns:a16="http://schemas.microsoft.com/office/drawing/2014/main" id="{ECC36D47-7DF3-46FD-8DDD-63F6D89A3BA3}"/>
              </a:ext>
            </a:extLst>
          </p:cNvPr>
          <p:cNvSpPr txBox="1"/>
          <p:nvPr/>
        </p:nvSpPr>
        <p:spPr>
          <a:xfrm>
            <a:off x="7407965" y="5021851"/>
            <a:ext cx="4094922" cy="738664"/>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‘payback90’</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‘Date’</a:t>
            </a:r>
          </a:p>
          <a:p>
            <a:pPr marL="285750" indent="-285750">
              <a:buFont typeface="Wingdings" panose="05000000000000000000" pitchFamily="2" charset="2"/>
              <a:buChar char="Ø"/>
            </a:pPr>
            <a:r>
              <a:rPr lang="en-US" sz="1400" dirty="0">
                <a:solidFill>
                  <a:schemeClr val="bg1"/>
                </a:solidFill>
                <a:latin typeface="Cooper Black" panose="0208090404030B020404" pitchFamily="18" charset="0"/>
              </a:rPr>
              <a:t>Non-defaulter are most in ‘Month’</a:t>
            </a:r>
          </a:p>
        </p:txBody>
      </p:sp>
    </p:spTree>
    <p:extLst>
      <p:ext uri="{BB962C8B-B14F-4D97-AF65-F5344CB8AC3E}">
        <p14:creationId xmlns:p14="http://schemas.microsoft.com/office/powerpoint/2010/main" val="486098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B41664-D90E-48E0-9FD4-9BCC6A570CD8}"/>
              </a:ext>
            </a:extLst>
          </p:cNvPr>
          <p:cNvPicPr>
            <a:picLocks noChangeAspect="1"/>
          </p:cNvPicPr>
          <p:nvPr/>
        </p:nvPicPr>
        <p:blipFill>
          <a:blip r:embed="rId2"/>
          <a:stretch>
            <a:fillRect/>
          </a:stretch>
        </p:blipFill>
        <p:spPr>
          <a:xfrm>
            <a:off x="539496" y="1463040"/>
            <a:ext cx="7465021" cy="4874017"/>
          </a:xfrm>
          <a:prstGeom prst="rect">
            <a:avLst/>
          </a:prstGeom>
        </p:spPr>
      </p:pic>
      <p:sp>
        <p:nvSpPr>
          <p:cNvPr id="4" name="TextBox 3">
            <a:extLst>
              <a:ext uri="{FF2B5EF4-FFF2-40B4-BE49-F238E27FC236}">
                <a16:creationId xmlns:a16="http://schemas.microsoft.com/office/drawing/2014/main" id="{EBB930DC-5B14-49F0-AC83-AF6BD57DF4E7}"/>
              </a:ext>
            </a:extLst>
          </p:cNvPr>
          <p:cNvSpPr txBox="1"/>
          <p:nvPr/>
        </p:nvSpPr>
        <p:spPr>
          <a:xfrm>
            <a:off x="3749039" y="685800"/>
            <a:ext cx="6154615"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Correlation matrix using Heatmap</a:t>
            </a:r>
          </a:p>
        </p:txBody>
      </p:sp>
    </p:spTree>
    <p:extLst>
      <p:ext uri="{BB962C8B-B14F-4D97-AF65-F5344CB8AC3E}">
        <p14:creationId xmlns:p14="http://schemas.microsoft.com/office/powerpoint/2010/main" val="1342785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2A0BAE-6939-4038-A9E6-80C833745D1E}"/>
              </a:ext>
            </a:extLst>
          </p:cNvPr>
          <p:cNvSpPr/>
          <p:nvPr/>
        </p:nvSpPr>
        <p:spPr>
          <a:xfrm>
            <a:off x="4465983" y="1536192"/>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Dealing with Outliers</a:t>
            </a:r>
          </a:p>
        </p:txBody>
      </p:sp>
      <p:sp>
        <p:nvSpPr>
          <p:cNvPr id="11" name="Rectangle 10">
            <a:extLst>
              <a:ext uri="{FF2B5EF4-FFF2-40B4-BE49-F238E27FC236}">
                <a16:creationId xmlns:a16="http://schemas.microsoft.com/office/drawing/2014/main" id="{5081BA6B-47E6-4CC3-A0B5-458C677FA04B}"/>
              </a:ext>
            </a:extLst>
          </p:cNvPr>
          <p:cNvSpPr/>
          <p:nvPr/>
        </p:nvSpPr>
        <p:spPr>
          <a:xfrm>
            <a:off x="4465983" y="2614383"/>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Dealing with Skewness</a:t>
            </a:r>
          </a:p>
        </p:txBody>
      </p:sp>
      <p:sp>
        <p:nvSpPr>
          <p:cNvPr id="12" name="Rectangle 11">
            <a:extLst>
              <a:ext uri="{FF2B5EF4-FFF2-40B4-BE49-F238E27FC236}">
                <a16:creationId xmlns:a16="http://schemas.microsoft.com/office/drawing/2014/main" id="{66074C3A-1E77-4F99-B91C-6EE620E69344}"/>
              </a:ext>
            </a:extLst>
          </p:cNvPr>
          <p:cNvSpPr/>
          <p:nvPr/>
        </p:nvSpPr>
        <p:spPr>
          <a:xfrm>
            <a:off x="4465983" y="3696091"/>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Scaling the dataset</a:t>
            </a:r>
          </a:p>
        </p:txBody>
      </p:sp>
      <p:sp>
        <p:nvSpPr>
          <p:cNvPr id="13" name="Rectangle 12">
            <a:extLst>
              <a:ext uri="{FF2B5EF4-FFF2-40B4-BE49-F238E27FC236}">
                <a16:creationId xmlns:a16="http://schemas.microsoft.com/office/drawing/2014/main" id="{1EF8C724-6DA9-4C8C-8A07-57C13467CC92}"/>
              </a:ext>
            </a:extLst>
          </p:cNvPr>
          <p:cNvSpPr/>
          <p:nvPr/>
        </p:nvSpPr>
        <p:spPr>
          <a:xfrm>
            <a:off x="4465983" y="4777799"/>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Dealing with </a:t>
            </a:r>
            <a:r>
              <a:rPr lang="en-US" dirty="0" err="1">
                <a:solidFill>
                  <a:schemeClr val="bg1"/>
                </a:solidFill>
                <a:latin typeface="Cooper Black" panose="0208090404030B020404" pitchFamily="18" charset="0"/>
              </a:rPr>
              <a:t>Imbalancing</a:t>
            </a:r>
            <a:endParaRPr lang="en-US" dirty="0">
              <a:solidFill>
                <a:schemeClr val="bg1"/>
              </a:solidFill>
              <a:latin typeface="Cooper Black" panose="0208090404030B020404" pitchFamily="18" charset="0"/>
            </a:endParaRPr>
          </a:p>
        </p:txBody>
      </p:sp>
      <p:cxnSp>
        <p:nvCxnSpPr>
          <p:cNvPr id="14" name="Straight Arrow Connector 13">
            <a:extLst>
              <a:ext uri="{FF2B5EF4-FFF2-40B4-BE49-F238E27FC236}">
                <a16:creationId xmlns:a16="http://schemas.microsoft.com/office/drawing/2014/main" id="{D7514CE0-3061-4B05-84EC-5606D5085901}"/>
              </a:ext>
            </a:extLst>
          </p:cNvPr>
          <p:cNvCxnSpPr>
            <a:stCxn id="4" idx="2"/>
            <a:endCxn id="11" idx="0"/>
          </p:cNvCxnSpPr>
          <p:nvPr/>
        </p:nvCxnSpPr>
        <p:spPr>
          <a:xfrm>
            <a:off x="5857461" y="2185547"/>
            <a:ext cx="0" cy="42883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BEEF51B-3FC1-486D-8A58-9D5231918164}"/>
              </a:ext>
            </a:extLst>
          </p:cNvPr>
          <p:cNvCxnSpPr/>
          <p:nvPr/>
        </p:nvCxnSpPr>
        <p:spPr>
          <a:xfrm>
            <a:off x="5862762" y="3263738"/>
            <a:ext cx="0" cy="43235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A1AE66A-0240-4394-8480-0C02F5DDDD7D}"/>
              </a:ext>
            </a:extLst>
          </p:cNvPr>
          <p:cNvCxnSpPr/>
          <p:nvPr/>
        </p:nvCxnSpPr>
        <p:spPr>
          <a:xfrm>
            <a:off x="5857461" y="4345446"/>
            <a:ext cx="0" cy="43235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CCD4738-8820-431B-909C-F05C92F8D0B4}"/>
              </a:ext>
            </a:extLst>
          </p:cNvPr>
          <p:cNvSpPr txBox="1"/>
          <p:nvPr/>
        </p:nvSpPr>
        <p:spPr>
          <a:xfrm>
            <a:off x="7476877" y="1536192"/>
            <a:ext cx="3670852" cy="830997"/>
          </a:xfrm>
          <a:prstGeom prst="rect">
            <a:avLst/>
          </a:prstGeom>
          <a:noFill/>
        </p:spPr>
        <p:txBody>
          <a:bodyPr wrap="square" rtlCol="0">
            <a:spAutoFit/>
          </a:bodyPr>
          <a:lstStyle/>
          <a:p>
            <a:pPr marL="171450" indent="-171450">
              <a:buFont typeface="Wingdings" panose="05000000000000000000" pitchFamily="2" charset="2"/>
              <a:buChar char="§"/>
            </a:pPr>
            <a:r>
              <a:rPr lang="en-US" sz="1200" dirty="0">
                <a:solidFill>
                  <a:schemeClr val="bg1"/>
                </a:solidFill>
              </a:rPr>
              <a:t>Using IQR and z-score method, the loss of data is above 7-8%.</a:t>
            </a:r>
          </a:p>
          <a:p>
            <a:pPr marL="171450" indent="-171450">
              <a:buFont typeface="Wingdings" panose="05000000000000000000" pitchFamily="2" charset="2"/>
              <a:buChar char="§"/>
            </a:pPr>
            <a:r>
              <a:rPr lang="en-US" sz="1200" dirty="0">
                <a:solidFill>
                  <a:schemeClr val="bg1"/>
                </a:solidFill>
              </a:rPr>
              <a:t>Percentile method is able to reduce the outliers under the given condition.</a:t>
            </a:r>
          </a:p>
        </p:txBody>
      </p:sp>
      <p:sp>
        <p:nvSpPr>
          <p:cNvPr id="21" name="TextBox 20">
            <a:extLst>
              <a:ext uri="{FF2B5EF4-FFF2-40B4-BE49-F238E27FC236}">
                <a16:creationId xmlns:a16="http://schemas.microsoft.com/office/drawing/2014/main" id="{1AC45FEB-2F54-410A-BF52-BAB9D167A453}"/>
              </a:ext>
            </a:extLst>
          </p:cNvPr>
          <p:cNvSpPr txBox="1"/>
          <p:nvPr/>
        </p:nvSpPr>
        <p:spPr>
          <a:xfrm>
            <a:off x="7659757" y="2615184"/>
            <a:ext cx="3670852" cy="461665"/>
          </a:xfrm>
          <a:prstGeom prst="rect">
            <a:avLst/>
          </a:prstGeom>
          <a:noFill/>
        </p:spPr>
        <p:txBody>
          <a:bodyPr wrap="square" rtlCol="0">
            <a:spAutoFit/>
          </a:bodyPr>
          <a:lstStyle/>
          <a:p>
            <a:pPr marL="171450" indent="-171450">
              <a:buFont typeface="Wingdings" panose="05000000000000000000" pitchFamily="2" charset="2"/>
              <a:buChar char="§"/>
            </a:pPr>
            <a:r>
              <a:rPr lang="en-US" sz="1200" dirty="0">
                <a:solidFill>
                  <a:schemeClr val="bg1"/>
                </a:solidFill>
              </a:rPr>
              <a:t>‘yeo-</a:t>
            </a:r>
            <a:r>
              <a:rPr lang="en-US" sz="1200" dirty="0" err="1">
                <a:solidFill>
                  <a:schemeClr val="bg1"/>
                </a:solidFill>
              </a:rPr>
              <a:t>johnson</a:t>
            </a:r>
            <a:r>
              <a:rPr lang="en-US" sz="1200" dirty="0">
                <a:solidFill>
                  <a:schemeClr val="bg1"/>
                </a:solidFill>
              </a:rPr>
              <a:t>’ method of Power Transformer is used to remove the skewness. </a:t>
            </a:r>
          </a:p>
        </p:txBody>
      </p:sp>
      <p:sp>
        <p:nvSpPr>
          <p:cNvPr id="22" name="TextBox 21">
            <a:extLst>
              <a:ext uri="{FF2B5EF4-FFF2-40B4-BE49-F238E27FC236}">
                <a16:creationId xmlns:a16="http://schemas.microsoft.com/office/drawing/2014/main" id="{06D75AA8-19C0-438F-8D47-B3ACC2395567}"/>
              </a:ext>
            </a:extLst>
          </p:cNvPr>
          <p:cNvSpPr txBox="1"/>
          <p:nvPr/>
        </p:nvSpPr>
        <p:spPr>
          <a:xfrm>
            <a:off x="7659757" y="3694176"/>
            <a:ext cx="3670852" cy="461665"/>
          </a:xfrm>
          <a:prstGeom prst="rect">
            <a:avLst/>
          </a:prstGeom>
          <a:noFill/>
        </p:spPr>
        <p:txBody>
          <a:bodyPr wrap="square" rtlCol="0">
            <a:spAutoFit/>
          </a:bodyPr>
          <a:lstStyle/>
          <a:p>
            <a:pPr marL="171450" indent="-171450">
              <a:buFont typeface="Wingdings" panose="05000000000000000000" pitchFamily="2" charset="2"/>
              <a:buChar char="§"/>
            </a:pPr>
            <a:r>
              <a:rPr lang="en-US" sz="1200" dirty="0">
                <a:solidFill>
                  <a:schemeClr val="bg1"/>
                </a:solidFill>
              </a:rPr>
              <a:t>‘Standard Scaler’ is used to normalize the dataset.</a:t>
            </a:r>
          </a:p>
        </p:txBody>
      </p:sp>
      <p:sp>
        <p:nvSpPr>
          <p:cNvPr id="23" name="TextBox 22">
            <a:extLst>
              <a:ext uri="{FF2B5EF4-FFF2-40B4-BE49-F238E27FC236}">
                <a16:creationId xmlns:a16="http://schemas.microsoft.com/office/drawing/2014/main" id="{1B06D950-E74F-4785-B1C7-B9CA560FFEAF}"/>
              </a:ext>
            </a:extLst>
          </p:cNvPr>
          <p:cNvSpPr txBox="1"/>
          <p:nvPr/>
        </p:nvSpPr>
        <p:spPr>
          <a:xfrm>
            <a:off x="7659757" y="4782312"/>
            <a:ext cx="3670852" cy="461665"/>
          </a:xfrm>
          <a:prstGeom prst="rect">
            <a:avLst/>
          </a:prstGeom>
          <a:noFill/>
        </p:spPr>
        <p:txBody>
          <a:bodyPr wrap="square" rtlCol="0">
            <a:spAutoFit/>
          </a:bodyPr>
          <a:lstStyle/>
          <a:p>
            <a:pPr marL="171450" indent="-171450">
              <a:buFont typeface="Wingdings" panose="05000000000000000000" pitchFamily="2" charset="2"/>
              <a:buChar char="§"/>
            </a:pPr>
            <a:r>
              <a:rPr lang="en-US" sz="1200" dirty="0">
                <a:solidFill>
                  <a:schemeClr val="bg1"/>
                </a:solidFill>
              </a:rPr>
              <a:t>‘Over Sampling’ of SMOTE algorithm is used to deal with </a:t>
            </a:r>
            <a:r>
              <a:rPr lang="en-US" sz="1200" dirty="0" err="1">
                <a:solidFill>
                  <a:schemeClr val="bg1"/>
                </a:solidFill>
              </a:rPr>
              <a:t>imbalancing</a:t>
            </a:r>
            <a:r>
              <a:rPr lang="en-US" sz="1200" dirty="0">
                <a:solidFill>
                  <a:schemeClr val="bg1"/>
                </a:solidFill>
              </a:rPr>
              <a:t>.</a:t>
            </a:r>
          </a:p>
        </p:txBody>
      </p:sp>
      <p:sp>
        <p:nvSpPr>
          <p:cNvPr id="24" name="TextBox 23">
            <a:extLst>
              <a:ext uri="{FF2B5EF4-FFF2-40B4-BE49-F238E27FC236}">
                <a16:creationId xmlns:a16="http://schemas.microsoft.com/office/drawing/2014/main" id="{2C7F4091-E587-4C4C-9F2C-1770C98C581D}"/>
              </a:ext>
            </a:extLst>
          </p:cNvPr>
          <p:cNvSpPr txBox="1"/>
          <p:nvPr/>
        </p:nvSpPr>
        <p:spPr>
          <a:xfrm>
            <a:off x="3749040"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Features Engineering</a:t>
            </a:r>
          </a:p>
        </p:txBody>
      </p:sp>
    </p:spTree>
    <p:extLst>
      <p:ext uri="{BB962C8B-B14F-4D97-AF65-F5344CB8AC3E}">
        <p14:creationId xmlns:p14="http://schemas.microsoft.com/office/powerpoint/2010/main" val="2934491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EEF448-B448-493F-BBBF-67682474F23C}"/>
              </a:ext>
            </a:extLst>
          </p:cNvPr>
          <p:cNvSpPr txBox="1"/>
          <p:nvPr/>
        </p:nvSpPr>
        <p:spPr>
          <a:xfrm>
            <a:off x="3666744" y="685800"/>
            <a:ext cx="4709160"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Model Initiating</a:t>
            </a:r>
          </a:p>
        </p:txBody>
      </p:sp>
      <p:sp>
        <p:nvSpPr>
          <p:cNvPr id="4" name="Rectangle 3">
            <a:extLst>
              <a:ext uri="{FF2B5EF4-FFF2-40B4-BE49-F238E27FC236}">
                <a16:creationId xmlns:a16="http://schemas.microsoft.com/office/drawing/2014/main" id="{9A6AE0D5-2691-4560-B7CB-AEE17B3364BE}"/>
              </a:ext>
            </a:extLst>
          </p:cNvPr>
          <p:cNvSpPr/>
          <p:nvPr/>
        </p:nvSpPr>
        <p:spPr>
          <a:xfrm>
            <a:off x="4618382" y="1536192"/>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Find best Random State </a:t>
            </a:r>
          </a:p>
        </p:txBody>
      </p:sp>
      <p:sp>
        <p:nvSpPr>
          <p:cNvPr id="5" name="Rectangle 4">
            <a:extLst>
              <a:ext uri="{FF2B5EF4-FFF2-40B4-BE49-F238E27FC236}">
                <a16:creationId xmlns:a16="http://schemas.microsoft.com/office/drawing/2014/main" id="{B2476426-E32F-4BF3-A02A-5D91F2AD7ABA}"/>
              </a:ext>
            </a:extLst>
          </p:cNvPr>
          <p:cNvSpPr/>
          <p:nvPr/>
        </p:nvSpPr>
        <p:spPr>
          <a:xfrm>
            <a:off x="4604924" y="3196376"/>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Model Building</a:t>
            </a:r>
          </a:p>
        </p:txBody>
      </p:sp>
      <p:sp>
        <p:nvSpPr>
          <p:cNvPr id="6" name="Rectangle 5">
            <a:extLst>
              <a:ext uri="{FF2B5EF4-FFF2-40B4-BE49-F238E27FC236}">
                <a16:creationId xmlns:a16="http://schemas.microsoft.com/office/drawing/2014/main" id="{7195E926-8D40-494D-A8E3-EB19048A818C}"/>
              </a:ext>
            </a:extLst>
          </p:cNvPr>
          <p:cNvSpPr/>
          <p:nvPr/>
        </p:nvSpPr>
        <p:spPr>
          <a:xfrm>
            <a:off x="4604924" y="4026468"/>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Accuracy Score</a:t>
            </a:r>
          </a:p>
        </p:txBody>
      </p:sp>
      <p:sp>
        <p:nvSpPr>
          <p:cNvPr id="8" name="Rectangle 7">
            <a:extLst>
              <a:ext uri="{FF2B5EF4-FFF2-40B4-BE49-F238E27FC236}">
                <a16:creationId xmlns:a16="http://schemas.microsoft.com/office/drawing/2014/main" id="{132B6DF1-E61E-4918-B9E4-C3601BB9045F}"/>
              </a:ext>
            </a:extLst>
          </p:cNvPr>
          <p:cNvSpPr/>
          <p:nvPr/>
        </p:nvSpPr>
        <p:spPr>
          <a:xfrm>
            <a:off x="4604924" y="5679153"/>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ROC_AUC Curve </a:t>
            </a:r>
          </a:p>
          <a:p>
            <a:pPr algn="ctr"/>
            <a:r>
              <a:rPr lang="en-US" sz="1600" dirty="0">
                <a:solidFill>
                  <a:schemeClr val="bg1"/>
                </a:solidFill>
                <a:latin typeface="Cooper Black" panose="0208090404030B020404" pitchFamily="18" charset="0"/>
              </a:rPr>
              <a:t>&amp; Score</a:t>
            </a:r>
          </a:p>
        </p:txBody>
      </p:sp>
      <p:sp>
        <p:nvSpPr>
          <p:cNvPr id="9" name="Rectangle 8">
            <a:extLst>
              <a:ext uri="{FF2B5EF4-FFF2-40B4-BE49-F238E27FC236}">
                <a16:creationId xmlns:a16="http://schemas.microsoft.com/office/drawing/2014/main" id="{AFEAD6C1-2B13-48DA-95DA-3BF2E75BD258}"/>
              </a:ext>
            </a:extLst>
          </p:cNvPr>
          <p:cNvSpPr/>
          <p:nvPr/>
        </p:nvSpPr>
        <p:spPr>
          <a:xfrm>
            <a:off x="4604924" y="4858133"/>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Cross-Validation Score</a:t>
            </a:r>
          </a:p>
        </p:txBody>
      </p:sp>
      <p:sp>
        <p:nvSpPr>
          <p:cNvPr id="10" name="Rectangle 9">
            <a:extLst>
              <a:ext uri="{FF2B5EF4-FFF2-40B4-BE49-F238E27FC236}">
                <a16:creationId xmlns:a16="http://schemas.microsoft.com/office/drawing/2014/main" id="{8A01072B-4FBF-470F-8EF7-FE2896C53DBE}"/>
              </a:ext>
            </a:extLst>
          </p:cNvPr>
          <p:cNvSpPr/>
          <p:nvPr/>
        </p:nvSpPr>
        <p:spPr>
          <a:xfrm>
            <a:off x="4618382" y="2366284"/>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Split dataset using </a:t>
            </a:r>
            <a:r>
              <a:rPr lang="en-US" sz="1600" dirty="0" err="1">
                <a:solidFill>
                  <a:schemeClr val="bg1"/>
                </a:solidFill>
                <a:latin typeface="Cooper Black" panose="0208090404030B020404" pitchFamily="18" charset="0"/>
              </a:rPr>
              <a:t>Train_Test</a:t>
            </a:r>
            <a:r>
              <a:rPr lang="en-US" sz="1600" dirty="0">
                <a:solidFill>
                  <a:schemeClr val="bg1"/>
                </a:solidFill>
                <a:latin typeface="Cooper Black" panose="0208090404030B020404" pitchFamily="18" charset="0"/>
              </a:rPr>
              <a:t> Split</a:t>
            </a:r>
          </a:p>
        </p:txBody>
      </p:sp>
      <p:cxnSp>
        <p:nvCxnSpPr>
          <p:cNvPr id="11" name="Straight Arrow Connector 10">
            <a:extLst>
              <a:ext uri="{FF2B5EF4-FFF2-40B4-BE49-F238E27FC236}">
                <a16:creationId xmlns:a16="http://schemas.microsoft.com/office/drawing/2014/main" id="{EB3EB430-A950-4B33-B752-2A1E59A45B52}"/>
              </a:ext>
            </a:extLst>
          </p:cNvPr>
          <p:cNvCxnSpPr>
            <a:stCxn id="4" idx="2"/>
            <a:endCxn id="10" idx="0"/>
          </p:cNvCxnSpPr>
          <p:nvPr/>
        </p:nvCxnSpPr>
        <p:spPr>
          <a:xfrm>
            <a:off x="6009860" y="2039112"/>
            <a:ext cx="0" cy="3271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6F6D547-5796-41B3-90C9-7FC5D4FE1259}"/>
              </a:ext>
            </a:extLst>
          </p:cNvPr>
          <p:cNvCxnSpPr/>
          <p:nvPr/>
        </p:nvCxnSpPr>
        <p:spPr>
          <a:xfrm>
            <a:off x="5996402" y="2869204"/>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2AA16DD-827E-4E12-945A-88E1CC45842C}"/>
              </a:ext>
            </a:extLst>
          </p:cNvPr>
          <p:cNvCxnSpPr/>
          <p:nvPr/>
        </p:nvCxnSpPr>
        <p:spPr>
          <a:xfrm>
            <a:off x="5982075" y="3699296"/>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AF1A9AD-FAE7-40A6-BEA7-95FAB56FF1EF}"/>
              </a:ext>
            </a:extLst>
          </p:cNvPr>
          <p:cNvCxnSpPr/>
          <p:nvPr/>
        </p:nvCxnSpPr>
        <p:spPr>
          <a:xfrm>
            <a:off x="5982075" y="4529388"/>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241DFAC-6648-4ED4-A8D0-E227FA2894F5}"/>
              </a:ext>
            </a:extLst>
          </p:cNvPr>
          <p:cNvCxnSpPr/>
          <p:nvPr/>
        </p:nvCxnSpPr>
        <p:spPr>
          <a:xfrm>
            <a:off x="6009860" y="5361053"/>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6041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73F807-8ED2-45B3-9B00-5D6C79129FC6}"/>
              </a:ext>
            </a:extLst>
          </p:cNvPr>
          <p:cNvSpPr txBox="1"/>
          <p:nvPr/>
        </p:nvSpPr>
        <p:spPr>
          <a:xfrm>
            <a:off x="3749040" y="685800"/>
            <a:ext cx="4709160"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Insights of all Models</a:t>
            </a:r>
          </a:p>
        </p:txBody>
      </p:sp>
      <p:pic>
        <p:nvPicPr>
          <p:cNvPr id="4" name="Picture 3">
            <a:extLst>
              <a:ext uri="{FF2B5EF4-FFF2-40B4-BE49-F238E27FC236}">
                <a16:creationId xmlns:a16="http://schemas.microsoft.com/office/drawing/2014/main" id="{0D578DC6-E8CE-4266-8D8C-C856CA8F981D}"/>
              </a:ext>
            </a:extLst>
          </p:cNvPr>
          <p:cNvPicPr>
            <a:picLocks noChangeAspect="1"/>
          </p:cNvPicPr>
          <p:nvPr/>
        </p:nvPicPr>
        <p:blipFill>
          <a:blip r:embed="rId2"/>
          <a:stretch>
            <a:fillRect/>
          </a:stretch>
        </p:blipFill>
        <p:spPr>
          <a:xfrm>
            <a:off x="1098893" y="1801368"/>
            <a:ext cx="4485981" cy="3879159"/>
          </a:xfrm>
          <a:prstGeom prst="rect">
            <a:avLst/>
          </a:prstGeom>
        </p:spPr>
      </p:pic>
      <p:pic>
        <p:nvPicPr>
          <p:cNvPr id="6" name="Picture 5">
            <a:extLst>
              <a:ext uri="{FF2B5EF4-FFF2-40B4-BE49-F238E27FC236}">
                <a16:creationId xmlns:a16="http://schemas.microsoft.com/office/drawing/2014/main" id="{FBC37FD6-C645-49E4-80FB-9D08EF6321BF}"/>
              </a:ext>
            </a:extLst>
          </p:cNvPr>
          <p:cNvPicPr>
            <a:picLocks noChangeAspect="1"/>
          </p:cNvPicPr>
          <p:nvPr/>
        </p:nvPicPr>
        <p:blipFill>
          <a:blip r:embed="rId3"/>
          <a:stretch>
            <a:fillRect/>
          </a:stretch>
        </p:blipFill>
        <p:spPr>
          <a:xfrm>
            <a:off x="6217920" y="1801368"/>
            <a:ext cx="4480560" cy="3879159"/>
          </a:xfrm>
          <a:prstGeom prst="rect">
            <a:avLst/>
          </a:prstGeom>
        </p:spPr>
      </p:pic>
      <p:sp>
        <p:nvSpPr>
          <p:cNvPr id="7" name="TextBox 6">
            <a:extLst>
              <a:ext uri="{FF2B5EF4-FFF2-40B4-BE49-F238E27FC236}">
                <a16:creationId xmlns:a16="http://schemas.microsoft.com/office/drawing/2014/main" id="{AD6C75DF-997A-4517-8755-E4882FCA1085}"/>
              </a:ext>
            </a:extLst>
          </p:cNvPr>
          <p:cNvSpPr txBox="1"/>
          <p:nvPr/>
        </p:nvSpPr>
        <p:spPr>
          <a:xfrm>
            <a:off x="9551963" y="5992837"/>
            <a:ext cx="2067951" cy="307777"/>
          </a:xfrm>
          <a:prstGeom prst="rect">
            <a:avLst/>
          </a:prstGeom>
          <a:noFill/>
        </p:spPr>
        <p:txBody>
          <a:bodyPr wrap="square" rtlCol="0">
            <a:spAutoFit/>
          </a:bodyPr>
          <a:lstStyle/>
          <a:p>
            <a:pPr algn="r"/>
            <a:r>
              <a:rPr lang="en-US" sz="1400" dirty="0">
                <a:solidFill>
                  <a:schemeClr val="bg1"/>
                </a:solidFill>
                <a:latin typeface="Cooper Black" panose="0208090404030B020404" pitchFamily="18" charset="0"/>
              </a:rPr>
              <a:t>Continued…………….</a:t>
            </a:r>
          </a:p>
        </p:txBody>
      </p:sp>
    </p:spTree>
    <p:extLst>
      <p:ext uri="{BB962C8B-B14F-4D97-AF65-F5344CB8AC3E}">
        <p14:creationId xmlns:p14="http://schemas.microsoft.com/office/powerpoint/2010/main" val="2186807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009FC7B-4F6C-4163-A3D5-CFACA4FF2F75}"/>
              </a:ext>
            </a:extLst>
          </p:cNvPr>
          <p:cNvPicPr>
            <a:picLocks noChangeAspect="1"/>
          </p:cNvPicPr>
          <p:nvPr/>
        </p:nvPicPr>
        <p:blipFill>
          <a:blip r:embed="rId2"/>
          <a:stretch>
            <a:fillRect/>
          </a:stretch>
        </p:blipFill>
        <p:spPr>
          <a:xfrm>
            <a:off x="1162120" y="1804985"/>
            <a:ext cx="4493091" cy="3878363"/>
          </a:xfrm>
          <a:prstGeom prst="rect">
            <a:avLst/>
          </a:prstGeom>
        </p:spPr>
      </p:pic>
      <p:pic>
        <p:nvPicPr>
          <p:cNvPr id="9" name="Picture 8">
            <a:extLst>
              <a:ext uri="{FF2B5EF4-FFF2-40B4-BE49-F238E27FC236}">
                <a16:creationId xmlns:a16="http://schemas.microsoft.com/office/drawing/2014/main" id="{2E6A0B2B-7AAD-48E1-BB7D-92745A2D867E}"/>
              </a:ext>
            </a:extLst>
          </p:cNvPr>
          <p:cNvPicPr>
            <a:picLocks noChangeAspect="1"/>
          </p:cNvPicPr>
          <p:nvPr/>
        </p:nvPicPr>
        <p:blipFill>
          <a:blip r:embed="rId3"/>
          <a:stretch>
            <a:fillRect/>
          </a:stretch>
        </p:blipFill>
        <p:spPr>
          <a:xfrm>
            <a:off x="6405488" y="1804987"/>
            <a:ext cx="4493091" cy="3878361"/>
          </a:xfrm>
          <a:prstGeom prst="rect">
            <a:avLst/>
          </a:prstGeom>
        </p:spPr>
      </p:pic>
      <p:sp>
        <p:nvSpPr>
          <p:cNvPr id="10" name="TextBox 9">
            <a:extLst>
              <a:ext uri="{FF2B5EF4-FFF2-40B4-BE49-F238E27FC236}">
                <a16:creationId xmlns:a16="http://schemas.microsoft.com/office/drawing/2014/main" id="{18C09645-2FAA-4F27-9785-F6469C109E57}"/>
              </a:ext>
            </a:extLst>
          </p:cNvPr>
          <p:cNvSpPr txBox="1"/>
          <p:nvPr/>
        </p:nvSpPr>
        <p:spPr>
          <a:xfrm>
            <a:off x="9551963" y="5992837"/>
            <a:ext cx="2067951" cy="307777"/>
          </a:xfrm>
          <a:prstGeom prst="rect">
            <a:avLst/>
          </a:prstGeom>
          <a:noFill/>
        </p:spPr>
        <p:txBody>
          <a:bodyPr wrap="square" rtlCol="0">
            <a:spAutoFit/>
          </a:bodyPr>
          <a:lstStyle/>
          <a:p>
            <a:pPr algn="r"/>
            <a:r>
              <a:rPr lang="en-US" sz="1400" dirty="0">
                <a:solidFill>
                  <a:schemeClr val="bg1"/>
                </a:solidFill>
                <a:latin typeface="Cooper Black" panose="0208090404030B020404" pitchFamily="18" charset="0"/>
              </a:rPr>
              <a:t>Continued…………….</a:t>
            </a:r>
          </a:p>
        </p:txBody>
      </p:sp>
    </p:spTree>
    <p:extLst>
      <p:ext uri="{BB962C8B-B14F-4D97-AF65-F5344CB8AC3E}">
        <p14:creationId xmlns:p14="http://schemas.microsoft.com/office/powerpoint/2010/main" val="2088605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446B42-F7FA-4BFC-A64E-32CADC3207B1}"/>
              </a:ext>
            </a:extLst>
          </p:cNvPr>
          <p:cNvPicPr>
            <a:picLocks noChangeAspect="1"/>
          </p:cNvPicPr>
          <p:nvPr/>
        </p:nvPicPr>
        <p:blipFill>
          <a:blip r:embed="rId2"/>
          <a:stretch>
            <a:fillRect/>
          </a:stretch>
        </p:blipFill>
        <p:spPr>
          <a:xfrm>
            <a:off x="1176190" y="1790917"/>
            <a:ext cx="4493091" cy="3878363"/>
          </a:xfrm>
          <a:prstGeom prst="rect">
            <a:avLst/>
          </a:prstGeom>
        </p:spPr>
      </p:pic>
      <p:pic>
        <p:nvPicPr>
          <p:cNvPr id="6" name="Picture 5">
            <a:extLst>
              <a:ext uri="{FF2B5EF4-FFF2-40B4-BE49-F238E27FC236}">
                <a16:creationId xmlns:a16="http://schemas.microsoft.com/office/drawing/2014/main" id="{C9F5F301-C3EE-40F4-88DF-E958D7422E40}"/>
              </a:ext>
            </a:extLst>
          </p:cNvPr>
          <p:cNvPicPr>
            <a:picLocks noChangeAspect="1"/>
          </p:cNvPicPr>
          <p:nvPr/>
        </p:nvPicPr>
        <p:blipFill>
          <a:blip r:embed="rId3"/>
          <a:stretch>
            <a:fillRect/>
          </a:stretch>
        </p:blipFill>
        <p:spPr>
          <a:xfrm>
            <a:off x="6240559" y="1804987"/>
            <a:ext cx="4493091" cy="3864293"/>
          </a:xfrm>
          <a:prstGeom prst="rect">
            <a:avLst/>
          </a:prstGeom>
        </p:spPr>
      </p:pic>
      <p:sp>
        <p:nvSpPr>
          <p:cNvPr id="7" name="TextBox 6">
            <a:extLst>
              <a:ext uri="{FF2B5EF4-FFF2-40B4-BE49-F238E27FC236}">
                <a16:creationId xmlns:a16="http://schemas.microsoft.com/office/drawing/2014/main" id="{87FD6F71-C60E-4E1E-A3E9-64654CD53094}"/>
              </a:ext>
            </a:extLst>
          </p:cNvPr>
          <p:cNvSpPr txBox="1"/>
          <p:nvPr/>
        </p:nvSpPr>
        <p:spPr>
          <a:xfrm>
            <a:off x="9551963" y="5992837"/>
            <a:ext cx="2067951" cy="307777"/>
          </a:xfrm>
          <a:prstGeom prst="rect">
            <a:avLst/>
          </a:prstGeom>
          <a:noFill/>
        </p:spPr>
        <p:txBody>
          <a:bodyPr wrap="square" rtlCol="0">
            <a:spAutoFit/>
          </a:bodyPr>
          <a:lstStyle/>
          <a:p>
            <a:pPr algn="r"/>
            <a:r>
              <a:rPr lang="en-US" sz="1400" dirty="0">
                <a:solidFill>
                  <a:schemeClr val="bg1"/>
                </a:solidFill>
                <a:latin typeface="Cooper Black" panose="0208090404030B020404" pitchFamily="18" charset="0"/>
              </a:rPr>
              <a:t>Continued…………….</a:t>
            </a:r>
          </a:p>
        </p:txBody>
      </p:sp>
    </p:spTree>
    <p:extLst>
      <p:ext uri="{BB962C8B-B14F-4D97-AF65-F5344CB8AC3E}">
        <p14:creationId xmlns:p14="http://schemas.microsoft.com/office/powerpoint/2010/main" val="3228838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2744CE-7510-401C-9EE4-D35BE5C7A389}"/>
              </a:ext>
            </a:extLst>
          </p:cNvPr>
          <p:cNvPicPr>
            <a:picLocks noChangeAspect="1"/>
          </p:cNvPicPr>
          <p:nvPr/>
        </p:nvPicPr>
        <p:blipFill>
          <a:blip r:embed="rId2"/>
          <a:stretch>
            <a:fillRect/>
          </a:stretch>
        </p:blipFill>
        <p:spPr>
          <a:xfrm>
            <a:off x="1162122" y="1804987"/>
            <a:ext cx="4493091" cy="3878361"/>
          </a:xfrm>
          <a:prstGeom prst="rect">
            <a:avLst/>
          </a:prstGeom>
        </p:spPr>
      </p:pic>
      <p:pic>
        <p:nvPicPr>
          <p:cNvPr id="6" name="Picture 5">
            <a:extLst>
              <a:ext uri="{FF2B5EF4-FFF2-40B4-BE49-F238E27FC236}">
                <a16:creationId xmlns:a16="http://schemas.microsoft.com/office/drawing/2014/main" id="{813E782E-19A7-460E-B921-BCDC12C1C717}"/>
              </a:ext>
            </a:extLst>
          </p:cNvPr>
          <p:cNvPicPr>
            <a:picLocks noChangeAspect="1"/>
          </p:cNvPicPr>
          <p:nvPr/>
        </p:nvPicPr>
        <p:blipFill>
          <a:blip r:embed="rId3"/>
          <a:stretch>
            <a:fillRect/>
          </a:stretch>
        </p:blipFill>
        <p:spPr>
          <a:xfrm>
            <a:off x="6353101" y="1804987"/>
            <a:ext cx="4493091" cy="3878361"/>
          </a:xfrm>
          <a:prstGeom prst="rect">
            <a:avLst/>
          </a:prstGeom>
        </p:spPr>
      </p:pic>
    </p:spTree>
    <p:extLst>
      <p:ext uri="{BB962C8B-B14F-4D97-AF65-F5344CB8AC3E}">
        <p14:creationId xmlns:p14="http://schemas.microsoft.com/office/powerpoint/2010/main" val="3744105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E9930E-A4B7-46D8-91B5-3C7673BCBFA3}"/>
              </a:ext>
            </a:extLst>
          </p:cNvPr>
          <p:cNvPicPr>
            <a:picLocks noChangeAspect="1"/>
          </p:cNvPicPr>
          <p:nvPr/>
        </p:nvPicPr>
        <p:blipFill>
          <a:blip r:embed="rId2"/>
          <a:stretch>
            <a:fillRect/>
          </a:stretch>
        </p:blipFill>
        <p:spPr>
          <a:xfrm>
            <a:off x="539496" y="1380744"/>
            <a:ext cx="6620256" cy="4907514"/>
          </a:xfrm>
          <a:prstGeom prst="rect">
            <a:avLst/>
          </a:prstGeom>
        </p:spPr>
      </p:pic>
      <p:sp>
        <p:nvSpPr>
          <p:cNvPr id="5" name="TextBox 4">
            <a:extLst>
              <a:ext uri="{FF2B5EF4-FFF2-40B4-BE49-F238E27FC236}">
                <a16:creationId xmlns:a16="http://schemas.microsoft.com/office/drawing/2014/main" id="{D727C49C-56A9-4CE9-A5FC-02DB7C20AD94}"/>
              </a:ext>
            </a:extLst>
          </p:cNvPr>
          <p:cNvSpPr txBox="1"/>
          <p:nvPr/>
        </p:nvSpPr>
        <p:spPr>
          <a:xfrm>
            <a:off x="3666744"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ROC AUC Curve</a:t>
            </a:r>
          </a:p>
        </p:txBody>
      </p:sp>
      <p:sp>
        <p:nvSpPr>
          <p:cNvPr id="2" name="TextBox 1">
            <a:extLst>
              <a:ext uri="{FF2B5EF4-FFF2-40B4-BE49-F238E27FC236}">
                <a16:creationId xmlns:a16="http://schemas.microsoft.com/office/drawing/2014/main" id="{36273EBB-79A6-4E2C-AC23-642DFBDFCE7F}"/>
              </a:ext>
            </a:extLst>
          </p:cNvPr>
          <p:cNvSpPr txBox="1"/>
          <p:nvPr/>
        </p:nvSpPr>
        <p:spPr>
          <a:xfrm>
            <a:off x="7513983" y="2955235"/>
            <a:ext cx="3988904" cy="584775"/>
          </a:xfrm>
          <a:prstGeom prst="rect">
            <a:avLst/>
          </a:prstGeom>
          <a:noFill/>
        </p:spPr>
        <p:txBody>
          <a:bodyPr wrap="square" rtlCol="0">
            <a:spAutoFit/>
          </a:bodyPr>
          <a:lstStyle/>
          <a:p>
            <a:pPr marL="285750" indent="-285750">
              <a:buFont typeface="Wingdings" panose="05000000000000000000" pitchFamily="2" charset="2"/>
              <a:buChar char="Ø"/>
            </a:pPr>
            <a:r>
              <a:rPr lang="en-US" sz="1600" i="1" dirty="0">
                <a:solidFill>
                  <a:schemeClr val="bg1"/>
                </a:solidFill>
                <a:latin typeface="Cooper Black" panose="0208090404030B020404" pitchFamily="18" charset="0"/>
              </a:rPr>
              <a:t>Random Forest Classifier and  XGB Classifier have  best score.</a:t>
            </a:r>
          </a:p>
        </p:txBody>
      </p:sp>
    </p:spTree>
    <p:extLst>
      <p:ext uri="{BB962C8B-B14F-4D97-AF65-F5344CB8AC3E}">
        <p14:creationId xmlns:p14="http://schemas.microsoft.com/office/powerpoint/2010/main" val="2390296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5CEABE-AE00-4C7A-AADC-627A2853F4FB}"/>
              </a:ext>
            </a:extLst>
          </p:cNvPr>
          <p:cNvPicPr>
            <a:picLocks noChangeAspect="1"/>
          </p:cNvPicPr>
          <p:nvPr/>
        </p:nvPicPr>
        <p:blipFill>
          <a:blip r:embed="rId2"/>
          <a:stretch>
            <a:fillRect/>
          </a:stretch>
        </p:blipFill>
        <p:spPr>
          <a:xfrm>
            <a:off x="576774" y="1448972"/>
            <a:ext cx="11043139" cy="3024554"/>
          </a:xfrm>
          <a:prstGeom prst="rect">
            <a:avLst/>
          </a:prstGeom>
        </p:spPr>
      </p:pic>
      <p:sp>
        <p:nvSpPr>
          <p:cNvPr id="4" name="TextBox 3">
            <a:extLst>
              <a:ext uri="{FF2B5EF4-FFF2-40B4-BE49-F238E27FC236}">
                <a16:creationId xmlns:a16="http://schemas.microsoft.com/office/drawing/2014/main" id="{4205EFEA-7B53-4F21-BC26-2099BD24EB45}"/>
              </a:ext>
            </a:extLst>
          </p:cNvPr>
          <p:cNvSpPr txBox="1"/>
          <p:nvPr/>
        </p:nvSpPr>
        <p:spPr>
          <a:xfrm>
            <a:off x="3666744"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Scores of All Models</a:t>
            </a:r>
          </a:p>
        </p:txBody>
      </p:sp>
      <p:sp>
        <p:nvSpPr>
          <p:cNvPr id="2" name="TextBox 1">
            <a:extLst>
              <a:ext uri="{FF2B5EF4-FFF2-40B4-BE49-F238E27FC236}">
                <a16:creationId xmlns:a16="http://schemas.microsoft.com/office/drawing/2014/main" id="{669E1A47-61BD-4D25-8D56-BEA0D2466D59}"/>
              </a:ext>
            </a:extLst>
          </p:cNvPr>
          <p:cNvSpPr txBox="1"/>
          <p:nvPr/>
        </p:nvSpPr>
        <p:spPr>
          <a:xfrm>
            <a:off x="1616765" y="5049078"/>
            <a:ext cx="8481392" cy="1077218"/>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Accuracy score of Random Forest Classifier and XGB Classifier are also good. </a:t>
            </a:r>
            <a:r>
              <a:rPr lang="en-IN" sz="1600" dirty="0">
                <a:solidFill>
                  <a:schemeClr val="bg1"/>
                </a:solidFill>
                <a:latin typeface="Cooper Black" panose="0208090404030B020404" pitchFamily="18" charset="0"/>
              </a:rPr>
              <a:t>The difference between accuracy score and cross validation score is less for XGB Classifier as compared with Random Forest Classifier. So, XGB Classifier is final model on this dataset.</a:t>
            </a:r>
            <a:endParaRPr lang="en-US" sz="16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1042882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479C3E-DF1D-4A06-86EE-5490BB3EAEB3}"/>
              </a:ext>
            </a:extLst>
          </p:cNvPr>
          <p:cNvPicPr>
            <a:picLocks noChangeAspect="1"/>
          </p:cNvPicPr>
          <p:nvPr/>
        </p:nvPicPr>
        <p:blipFill>
          <a:blip r:embed="rId2"/>
          <a:stretch>
            <a:fillRect/>
          </a:stretch>
        </p:blipFill>
        <p:spPr>
          <a:xfrm>
            <a:off x="576072" y="1453896"/>
            <a:ext cx="11045952" cy="3385389"/>
          </a:xfrm>
          <a:prstGeom prst="rect">
            <a:avLst/>
          </a:prstGeom>
        </p:spPr>
      </p:pic>
      <p:sp>
        <p:nvSpPr>
          <p:cNvPr id="5" name="TextBox 4">
            <a:extLst>
              <a:ext uri="{FF2B5EF4-FFF2-40B4-BE49-F238E27FC236}">
                <a16:creationId xmlns:a16="http://schemas.microsoft.com/office/drawing/2014/main" id="{2D8B7515-0F66-4938-8417-4A0A6615872E}"/>
              </a:ext>
            </a:extLst>
          </p:cNvPr>
          <p:cNvSpPr txBox="1"/>
          <p:nvPr/>
        </p:nvSpPr>
        <p:spPr>
          <a:xfrm>
            <a:off x="3666744"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Hyperparameter Tuning</a:t>
            </a:r>
          </a:p>
        </p:txBody>
      </p:sp>
      <p:sp>
        <p:nvSpPr>
          <p:cNvPr id="2" name="TextBox 1">
            <a:extLst>
              <a:ext uri="{FF2B5EF4-FFF2-40B4-BE49-F238E27FC236}">
                <a16:creationId xmlns:a16="http://schemas.microsoft.com/office/drawing/2014/main" id="{7C15761B-72BA-4824-AEED-FB3A248E983C}"/>
              </a:ext>
            </a:extLst>
          </p:cNvPr>
          <p:cNvSpPr txBox="1"/>
          <p:nvPr/>
        </p:nvSpPr>
        <p:spPr>
          <a:xfrm>
            <a:off x="2796209" y="5208105"/>
            <a:ext cx="6400800" cy="830997"/>
          </a:xfrm>
          <a:prstGeom prst="rect">
            <a:avLst/>
          </a:prstGeom>
          <a:noFill/>
        </p:spPr>
        <p:txBody>
          <a:bodyPr wrap="square" rtlCol="0">
            <a:spAutoFit/>
          </a:bodyPr>
          <a:lstStyle/>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After hyperparameter tuning, not able to improve performance.  So, default parameters are best parameters.</a:t>
            </a:r>
            <a:endParaRPr lang="en-US" sz="16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354828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A47F35-E022-4C78-9FA3-144D680DC022}"/>
              </a:ext>
            </a:extLst>
          </p:cNvPr>
          <p:cNvSpPr txBox="1"/>
          <p:nvPr/>
        </p:nvSpPr>
        <p:spPr>
          <a:xfrm>
            <a:off x="3666744"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Conclusion</a:t>
            </a:r>
          </a:p>
        </p:txBody>
      </p:sp>
      <p:sp>
        <p:nvSpPr>
          <p:cNvPr id="3" name="TextBox 2">
            <a:extLst>
              <a:ext uri="{FF2B5EF4-FFF2-40B4-BE49-F238E27FC236}">
                <a16:creationId xmlns:a16="http://schemas.microsoft.com/office/drawing/2014/main" id="{E9CA2B1B-97D4-4BEB-BFD8-9DCD8A3592EA}"/>
              </a:ext>
            </a:extLst>
          </p:cNvPr>
          <p:cNvSpPr txBox="1"/>
          <p:nvPr/>
        </p:nvSpPr>
        <p:spPr>
          <a:xfrm>
            <a:off x="1789044" y="1895061"/>
            <a:ext cx="9660835" cy="2800767"/>
          </a:xfrm>
          <a:prstGeom prst="rect">
            <a:avLst/>
          </a:prstGeom>
          <a:noFill/>
        </p:spPr>
        <p:txBody>
          <a:bodyPr wrap="square" rtlCol="0">
            <a:spAutoFit/>
          </a:bodyPr>
          <a:lstStyle/>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Mostly, the customers have the intension of repaying. There are certain cases when the customers have no intension of repayment but the number of such customers are few. With the model built, we can certainly determine those customers having intension of repayment or not.</a:t>
            </a:r>
          </a:p>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I used total 8 algorithm to build best model on this dataset. </a:t>
            </a:r>
          </a:p>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Random Forest Classifier and XGB Classifier out of 8 model performed better on this dataset.</a:t>
            </a:r>
          </a:p>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Comparing both models based on different metrics </a:t>
            </a:r>
            <a:r>
              <a:rPr lang="en-IN" sz="1600" dirty="0">
                <a:solidFill>
                  <a:schemeClr val="bg1"/>
                </a:solidFill>
                <a:latin typeface="Cooper Black" panose="0208090404030B020404" pitchFamily="18" charset="0"/>
              </a:rPr>
              <a:t>XGB Classifier is final model on this dataset.</a:t>
            </a:r>
          </a:p>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XGB classifier gives 95.08% accurate prediction on test dataset or accuracy of model is 95.08% </a:t>
            </a:r>
            <a:endParaRPr lang="en-US" sz="16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884978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B0D890-D711-4A36-AEE1-D18288C6FE79}"/>
              </a:ext>
            </a:extLst>
          </p:cNvPr>
          <p:cNvSpPr/>
          <p:nvPr/>
        </p:nvSpPr>
        <p:spPr>
          <a:xfrm>
            <a:off x="3139325" y="2967335"/>
            <a:ext cx="5913350" cy="923330"/>
          </a:xfrm>
          <a:prstGeom prst="rect">
            <a:avLst/>
          </a:prstGeom>
          <a:noFill/>
          <a:scene3d>
            <a:camera prst="isometricOffAxis1Right"/>
            <a:lightRig rig="threePt" dir="t"/>
          </a:scene3d>
        </p:spPr>
        <p:txBody>
          <a:bodyPr wrap="none" lIns="91440" tIns="45720" rIns="91440" bIns="45720">
            <a:spAutoFit/>
          </a:bodyPr>
          <a:lstStyle/>
          <a:p>
            <a:pPr algn="ctr"/>
            <a:r>
              <a:rPr lang="en-US" sz="5400" b="1" i="1" cap="none" spc="0" dirty="0">
                <a:ln w="12700">
                  <a:solidFill>
                    <a:schemeClr val="accent3">
                      <a:lumMod val="50000"/>
                    </a:schemeClr>
                  </a:solidFill>
                  <a:prstDash val="solid"/>
                </a:ln>
                <a:solidFill>
                  <a:schemeClr val="bg1"/>
                </a:solidFill>
                <a:effectLst>
                  <a:outerShdw blurRad="38100" dist="38100" dir="2700000" algn="tl">
                    <a:srgbClr val="000000">
                      <a:alpha val="43137"/>
                    </a:srgbClr>
                  </a:outerShdw>
                </a:effectLst>
                <a:latin typeface="Cooper Black" panose="0208090404030B020404" pitchFamily="18" charset="0"/>
              </a:rPr>
              <a:t>Thank You………</a:t>
            </a:r>
            <a:endParaRPr lang="en-US" sz="5400" b="1" cap="none" spc="0" dirty="0">
              <a:ln w="12700">
                <a:solidFill>
                  <a:schemeClr val="accent3">
                    <a:lumMod val="50000"/>
                  </a:schemeClr>
                </a:solidFill>
                <a:prstDash val="solid"/>
              </a:ln>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799441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874</TotalTime>
  <Words>1367</Words>
  <Application>Microsoft Office PowerPoint</Application>
  <PresentationFormat>Widescreen</PresentationFormat>
  <Paragraphs>100</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Century Gothic</vt:lpstr>
      <vt:lpstr>Comic Sans MS</vt:lpstr>
      <vt:lpstr>Cooper Black</vt:lpstr>
      <vt:lpstr>Wingdings</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rohit kachhal</dc:creator>
  <cp:lastModifiedBy>rohit kachhal</cp:lastModifiedBy>
  <cp:revision>93</cp:revision>
  <dcterms:created xsi:type="dcterms:W3CDTF">2022-01-23T10:41:27Z</dcterms:created>
  <dcterms:modified xsi:type="dcterms:W3CDTF">2022-02-09T19:34:53Z</dcterms:modified>
</cp:coreProperties>
</file>