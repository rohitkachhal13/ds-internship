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77" r:id="rId2"/>
    <p:sldId id="256" r:id="rId3"/>
    <p:sldId id="279" r:id="rId4"/>
    <p:sldId id="276" r:id="rId5"/>
    <p:sldId id="257" r:id="rId6"/>
    <p:sldId id="258" r:id="rId7"/>
    <p:sldId id="297" r:id="rId8"/>
    <p:sldId id="280" r:id="rId9"/>
    <p:sldId id="281" r:id="rId10"/>
    <p:sldId id="282" r:id="rId11"/>
    <p:sldId id="285" r:id="rId12"/>
    <p:sldId id="284" r:id="rId13"/>
    <p:sldId id="296" r:id="rId14"/>
    <p:sldId id="262" r:id="rId15"/>
    <p:sldId id="286" r:id="rId16"/>
    <p:sldId id="287" r:id="rId17"/>
    <p:sldId id="291" r:id="rId18"/>
    <p:sldId id="294" r:id="rId19"/>
    <p:sldId id="295" r:id="rId20"/>
    <p:sldId id="278" r:id="rId2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291" autoAdjust="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5923F103-BC34-4FE4-A40E-EDDEECFDA5D0}" type="datetimeFigureOut">
              <a:rPr lang="en-US" dirty="0"/>
              <a:pPr/>
              <a:t>23-Feb-22</a:t>
            </a:fld>
            <a:endParaRPr lang="en-US" dirty="0"/>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US" dirty="0"/>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C9CA7B-DFD4-44B5-8C60-D14B8CD1FB59}"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34E6425-0181-43F2-84FC-787E803FD2F8}"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DB8791-F1B0-41E7-B7FD-A781E65C4266}" type="datetimeFigureOut">
              <a:rPr lang="en-US" dirty="0"/>
              <a:t>23-Feb-22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FDD63B2-E120-4ED8-B27B-C685F510A5FE}" type="datetimeFigureOut">
              <a:rPr lang="en-US" dirty="0"/>
              <a:t>23-Feb-22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AA18ACC-A947-437B-A130-35BD54FDF1E9}" type="datetimeFigureOut">
              <a:rPr lang="en-US" dirty="0"/>
              <a:t>23-Feb-22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C8D7E02-BCB8-4D50-A234-369438C08659}" type="datetimeFigureOut">
              <a:rPr lang="en-US" dirty="0"/>
              <a:t>23-Feb-22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76E86A4C-8E40-4F87-A4F0-01A0687C5742}" type="datetimeFigureOut">
              <a:rPr lang="en-US" dirty="0"/>
              <a:t>23-Feb-22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5E72C73-2D91-4E12-BA25-F0AA0C03599B}" type="datetimeFigureOut">
              <a:rPr lang="en-US" dirty="0"/>
              <a:t>23-Feb-22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923A1CC3-2375-41D4-9E03-427CAF2A4C1A}" type="datetimeFigureOut">
              <a:rPr lang="en-US" dirty="0"/>
              <a:t>23-Feb-22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FF16868-8199-4C2C-A5B1-63AEE139F88E}"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AAD9FF7F-6988-44CC-821B-644E70CD2F73}"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5C12C299-16B2-4475-990D-751901EACC14}"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FE86839-B9D8-4651-8783-F325ECE74E65}" type="datetimeFigureOut">
              <a:rPr lang="en-US" dirty="0"/>
              <a:t>23-Feb-22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D484F64-32F6-45C5-931F-ADC1662401D0}" type="datetimeFigureOut">
              <a:rPr lang="en-US" dirty="0"/>
              <a:t>23-Feb-22</a:t>
            </a:fld>
            <a:endParaRPr lang="en-US" dirty="0"/>
          </a:p>
        </p:txBody>
      </p:sp>
      <p:sp>
        <p:nvSpPr>
          <p:cNvPr id="8" name="Footer Placeholder 7"/>
          <p:cNvSpPr>
            <a:spLocks noGrp="1"/>
          </p:cNvSpPr>
          <p:nvPr>
            <p:ph type="ftr" sz="quarter" idx="11"/>
          </p:nvPr>
        </p:nvSpPr>
        <p:spPr>
          <a:xfrm>
            <a:off x="561111" y="6391838"/>
            <a:ext cx="3644282" cy="304801"/>
          </a:xfrm>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53086D93-FCAC-47E0-A2EE-787E62CA814C}"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CDA879A6-0FD0-4734-A311-86BFCA472E6E}" type="datetimeFigureOut">
              <a:rPr lang="en-US" dirty="0"/>
              <a:t>23-Feb-22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2BE451C3-0FF4-47C4-B829-773ADF60F88C}" type="datetimeFigureOut">
              <a:rPr lang="en-US" dirty="0"/>
              <a:t>23-Feb-22</a:t>
            </a:fld>
            <a:endParaRPr lang="en-US" dirty="0"/>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US" dirty="0"/>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73" r:id="rId3"/>
    <p:sldLayoutId id="2147483652" r:id="rId4"/>
    <p:sldLayoutId id="2147483653" r:id="rId5"/>
    <p:sldLayoutId id="2147483654" r:id="rId6"/>
    <p:sldLayoutId id="2147483655" r:id="rId7"/>
    <p:sldLayoutId id="2147483656" r:id="rId8"/>
    <p:sldLayoutId id="2147483668" r:id="rId9"/>
    <p:sldLayoutId id="2147483667" r:id="rId10"/>
    <p:sldLayoutId id="2147483661" r:id="rId11"/>
    <p:sldLayoutId id="2147483672" r:id="rId12"/>
    <p:sldLayoutId id="2147483662" r:id="rId13"/>
    <p:sldLayoutId id="2147483669" r:id="rId14"/>
    <p:sldLayoutId id="2147483670" r:id="rId15"/>
    <p:sldLayoutId id="2147483658" r:id="rId16"/>
    <p:sldLayoutId id="2147483659" r:id="rId17"/>
  </p:sldLayoutIdLst>
  <p:hf sldNum="0" hdr="0" ftr="0" dt="0"/>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20.jp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21.jp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7CC65F2B-0827-4778-9267-CC640BF8A202}"/>
              </a:ext>
            </a:extLst>
          </p:cNvPr>
          <p:cNvSpPr txBox="1"/>
          <p:nvPr/>
        </p:nvSpPr>
        <p:spPr>
          <a:xfrm>
            <a:off x="470325" y="4103446"/>
            <a:ext cx="11251349" cy="1200329"/>
          </a:xfrm>
          <a:prstGeom prst="rect">
            <a:avLst/>
          </a:prstGeom>
          <a:noFill/>
        </p:spPr>
        <p:txBody>
          <a:bodyPr wrap="square" rtlCol="0">
            <a:spAutoFit/>
          </a:bodyPr>
          <a:lstStyle/>
          <a:p>
            <a:pPr algn="ctr"/>
            <a:r>
              <a:rPr lang="en-IN" sz="3600" b="1" i="1" u="sng" dirty="0">
                <a:solidFill>
                  <a:schemeClr val="bg1"/>
                </a:solidFill>
                <a:latin typeface="Comic Sans MS" panose="030F0702030302020204" pitchFamily="66" charset="0"/>
              </a:rPr>
              <a:t>Used car </a:t>
            </a:r>
          </a:p>
          <a:p>
            <a:pPr algn="ctr"/>
            <a:r>
              <a:rPr lang="en-IN" sz="3600" b="1" i="1" u="sng" dirty="0">
                <a:solidFill>
                  <a:schemeClr val="bg1"/>
                </a:solidFill>
                <a:latin typeface="Comic Sans MS" panose="030F0702030302020204" pitchFamily="66" charset="0"/>
              </a:rPr>
              <a:t>Price Prediction</a:t>
            </a:r>
            <a:endParaRPr lang="en-US" sz="3600" b="1" i="1" u="sng" dirty="0">
              <a:solidFill>
                <a:schemeClr val="bg1"/>
              </a:solidFill>
              <a:latin typeface="Comic Sans MS" panose="030F0702030302020204" pitchFamily="66" charset="0"/>
            </a:endParaRPr>
          </a:p>
        </p:txBody>
      </p:sp>
      <p:pic>
        <p:nvPicPr>
          <p:cNvPr id="4" name="Picture 3">
            <a:extLst>
              <a:ext uri="{FF2B5EF4-FFF2-40B4-BE49-F238E27FC236}">
                <a16:creationId xmlns:a16="http://schemas.microsoft.com/office/drawing/2014/main" id="{F3C71545-CB5F-4E13-8CD3-00CCBBBD1EE8}"/>
              </a:ext>
            </a:extLst>
          </p:cNvPr>
          <p:cNvPicPr>
            <a:picLocks noChangeAspect="1"/>
          </p:cNvPicPr>
          <p:nvPr/>
        </p:nvPicPr>
        <p:blipFill>
          <a:blip r:embed="rId2"/>
          <a:stretch>
            <a:fillRect/>
          </a:stretch>
        </p:blipFill>
        <p:spPr>
          <a:xfrm>
            <a:off x="3882887" y="1179443"/>
            <a:ext cx="4532243" cy="2698716"/>
          </a:xfrm>
          <a:prstGeom prst="rect">
            <a:avLst/>
          </a:prstGeom>
        </p:spPr>
      </p:pic>
    </p:spTree>
    <p:extLst>
      <p:ext uri="{BB962C8B-B14F-4D97-AF65-F5344CB8AC3E}">
        <p14:creationId xmlns:p14="http://schemas.microsoft.com/office/powerpoint/2010/main" val="24898570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09600" y="1536174"/>
            <a:ext cx="10972800" cy="4924425"/>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With the </a:t>
            </a:r>
            <a:r>
              <a:rPr lang="en-IN" sz="2000" dirty="0" err="1">
                <a:solidFill>
                  <a:schemeClr val="bg1"/>
                </a:solidFill>
                <a:latin typeface="Cooper Black" panose="0208090404030B020404" pitchFamily="18" charset="0"/>
              </a:rPr>
              <a:t>covid</a:t>
            </a:r>
            <a:r>
              <a:rPr lang="en-IN" sz="2000" dirty="0">
                <a:solidFill>
                  <a:schemeClr val="bg1"/>
                </a:solidFill>
                <a:latin typeface="Cooper Black" panose="0208090404030B020404" pitchFamily="18" charset="0"/>
              </a:rPr>
              <a:t> 19 impact in the market, lot of changes are observed in the car market. Now some cars are in demand hence making them costly and some are not in demand hence cheaper. Small traders, who sell used cars, with the change in market due to </a:t>
            </a:r>
            <a:r>
              <a:rPr lang="en-IN" sz="2000" dirty="0" err="1">
                <a:solidFill>
                  <a:schemeClr val="bg1"/>
                </a:solidFill>
                <a:latin typeface="Cooper Black" panose="0208090404030B020404" pitchFamily="18" charset="0"/>
              </a:rPr>
              <a:t>covid</a:t>
            </a:r>
            <a:r>
              <a:rPr lang="en-IN" sz="2000" dirty="0">
                <a:solidFill>
                  <a:schemeClr val="bg1"/>
                </a:solidFill>
                <a:latin typeface="Cooper Black" panose="0208090404030B020404" pitchFamily="18" charset="0"/>
              </a:rPr>
              <a:t> 19 impact, are facing problems with their previous car price valuation machine learning models. So, need to build a new machine learning models from new data. I have to make car price valuation model. This project contains two phase-</a:t>
            </a:r>
          </a:p>
          <a:p>
            <a:pPr marL="342900" indent="-342900" algn="just">
              <a:buFont typeface="Wingdings" panose="05000000000000000000" pitchFamily="2" charset="2"/>
              <a:buChar char="v"/>
            </a:pPr>
            <a:r>
              <a:rPr lang="en-IN" sz="2000" u="sng" dirty="0">
                <a:solidFill>
                  <a:schemeClr val="bg1"/>
                </a:solidFill>
                <a:latin typeface="Cooper Black" panose="0208090404030B020404" pitchFamily="18" charset="0"/>
              </a:rPr>
              <a:t>Data Collection Phase :</a:t>
            </a:r>
            <a:r>
              <a:rPr lang="en-IN" sz="2000" dirty="0">
                <a:solidFill>
                  <a:schemeClr val="bg1"/>
                </a:solidFill>
                <a:latin typeface="Cooper Black" panose="0208090404030B020404" pitchFamily="18" charset="0"/>
              </a:rPr>
              <a:t> I have to scrape at least 5000 used cars data. I can scrape more data as well, it’s up to me. I need to scrape the data of used cars from websites (</a:t>
            </a:r>
            <a:r>
              <a:rPr lang="en-IN" sz="2000" dirty="0" err="1">
                <a:solidFill>
                  <a:schemeClr val="bg1"/>
                </a:solidFill>
                <a:latin typeface="Cooper Black" panose="0208090404030B020404" pitchFamily="18" charset="0"/>
              </a:rPr>
              <a:t>Olx</a:t>
            </a:r>
            <a:r>
              <a:rPr lang="en-IN" sz="2000" dirty="0">
                <a:solidFill>
                  <a:schemeClr val="bg1"/>
                </a:solidFill>
                <a:latin typeface="Cooper Black" panose="0208090404030B020404" pitchFamily="18" charset="0"/>
              </a:rPr>
              <a:t>, </a:t>
            </a:r>
            <a:r>
              <a:rPr lang="en-IN" sz="2000" dirty="0" err="1">
                <a:solidFill>
                  <a:schemeClr val="bg1"/>
                </a:solidFill>
                <a:latin typeface="Cooper Black" panose="0208090404030B020404" pitchFamily="18" charset="0"/>
              </a:rPr>
              <a:t>cardekho</a:t>
            </a:r>
            <a:r>
              <a:rPr lang="en-IN" sz="2000" dirty="0">
                <a:solidFill>
                  <a:schemeClr val="bg1"/>
                </a:solidFill>
                <a:latin typeface="Cooper Black" panose="0208090404030B020404" pitchFamily="18" charset="0"/>
              </a:rPr>
              <a:t>, Cars24 etc.). I have to fetch data for different locations. The number of columns for data doesn’t have limit. Generally, these columns are Brand, model, variant, manufacturing year, driven </a:t>
            </a:r>
            <a:r>
              <a:rPr lang="en-IN" sz="2000" dirty="0" err="1">
                <a:solidFill>
                  <a:schemeClr val="bg1"/>
                </a:solidFill>
                <a:latin typeface="Cooper Black" panose="0208090404030B020404" pitchFamily="18" charset="0"/>
              </a:rPr>
              <a:t>kilometers</a:t>
            </a:r>
            <a:r>
              <a:rPr lang="en-IN" sz="2000" dirty="0">
                <a:solidFill>
                  <a:schemeClr val="bg1"/>
                </a:solidFill>
                <a:latin typeface="Cooper Black" panose="0208090404030B020404" pitchFamily="18" charset="0"/>
              </a:rPr>
              <a:t>, fuel, number of owners, location and at last target variable Price of the car. I can make changes to it, </a:t>
            </a:r>
            <a:r>
              <a:rPr lang="en-IN" sz="2000" dirty="0" err="1">
                <a:solidFill>
                  <a:schemeClr val="bg1"/>
                </a:solidFill>
                <a:latin typeface="Cooper Black" panose="0208090404030B020404" pitchFamily="18" charset="0"/>
              </a:rPr>
              <a:t>i</a:t>
            </a:r>
            <a:r>
              <a:rPr lang="en-IN" sz="2000" dirty="0">
                <a:solidFill>
                  <a:schemeClr val="bg1"/>
                </a:solidFill>
                <a:latin typeface="Cooper Black" panose="0208090404030B020404" pitchFamily="18" charset="0"/>
              </a:rPr>
              <a:t> can add or remove some columns, it completely depends on the website from which I am fetching the data.</a:t>
            </a:r>
          </a:p>
          <a:p>
            <a:pPr algn="r"/>
            <a:r>
              <a:rPr lang="en-IN" sz="1400" dirty="0">
                <a:solidFill>
                  <a:schemeClr val="bg1"/>
                </a:solidFill>
                <a:latin typeface="Cooper Black" panose="0208090404030B020404" pitchFamily="18" charset="0"/>
              </a:rPr>
              <a:t>Continued……………</a:t>
            </a:r>
          </a:p>
        </p:txBody>
      </p:sp>
      <p:sp>
        <p:nvSpPr>
          <p:cNvPr id="2" name="TextBox 1">
            <a:extLst>
              <a:ext uri="{FF2B5EF4-FFF2-40B4-BE49-F238E27FC236}">
                <a16:creationId xmlns:a16="http://schemas.microsoft.com/office/drawing/2014/main" id="{10B2EC31-14AB-4BDC-9434-9A1120EFBF68}"/>
              </a:ext>
            </a:extLst>
          </p:cNvPr>
          <p:cNvSpPr txBox="1"/>
          <p:nvPr/>
        </p:nvSpPr>
        <p:spPr>
          <a:xfrm>
            <a:off x="3670851" y="689113"/>
            <a:ext cx="4664766"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Problem Statement</a:t>
            </a:r>
          </a:p>
        </p:txBody>
      </p:sp>
    </p:spTree>
    <p:extLst>
      <p:ext uri="{BB962C8B-B14F-4D97-AF65-F5344CB8AC3E}">
        <p14:creationId xmlns:p14="http://schemas.microsoft.com/office/powerpoint/2010/main" val="16805728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4649901-9E01-427B-A949-C036963BBE31}"/>
              </a:ext>
            </a:extLst>
          </p:cNvPr>
          <p:cNvSpPr txBox="1"/>
          <p:nvPr/>
        </p:nvSpPr>
        <p:spPr>
          <a:xfrm>
            <a:off x="612648" y="1536192"/>
            <a:ext cx="10972800" cy="3170099"/>
          </a:xfrm>
          <a:prstGeom prst="rect">
            <a:avLst/>
          </a:prstGeom>
          <a:noFill/>
        </p:spPr>
        <p:txBody>
          <a:bodyPr wrap="square" rtlCol="0">
            <a:spAutoFit/>
          </a:bodyPr>
          <a:lstStyle/>
          <a:p>
            <a:pPr marL="342900" indent="-342900" algn="just">
              <a:buFont typeface="Wingdings" panose="05000000000000000000" pitchFamily="2" charset="2"/>
              <a:buChar char="v"/>
            </a:pPr>
            <a:r>
              <a:rPr lang="en-IN" sz="2000" u="sng" dirty="0">
                <a:solidFill>
                  <a:schemeClr val="bg1"/>
                </a:solidFill>
                <a:latin typeface="Cooper Black" panose="0208090404030B020404" pitchFamily="18" charset="0"/>
              </a:rPr>
              <a:t>Model Building Phase:</a:t>
            </a:r>
            <a:r>
              <a:rPr lang="en-IN" sz="2000" dirty="0">
                <a:solidFill>
                  <a:schemeClr val="bg1"/>
                </a:solidFill>
                <a:latin typeface="Cooper Black" panose="0208090404030B020404" pitchFamily="18" charset="0"/>
              </a:rPr>
              <a:t> After collecting the data, I need to build a machine learning model. Before model building I have to do all data pre-processing steps. Try different models with different hyper parameters and select the best model.</a:t>
            </a:r>
          </a:p>
          <a:p>
            <a:pPr marL="342900" indent="-342900" algn="just">
              <a:buFont typeface="Wingdings" panose="05000000000000000000" pitchFamily="2" charset="2"/>
              <a:buChar char="v"/>
            </a:pPr>
            <a:r>
              <a:rPr lang="en-IN" sz="2000" dirty="0">
                <a:solidFill>
                  <a:schemeClr val="bg1"/>
                </a:solidFill>
                <a:latin typeface="Cooper Black" panose="0208090404030B020404" pitchFamily="18" charset="0"/>
              </a:rPr>
              <a:t>Steps that are Include:</a:t>
            </a:r>
          </a:p>
          <a:p>
            <a:pPr algn="just"/>
            <a:r>
              <a:rPr lang="en-IN" sz="2000" dirty="0">
                <a:solidFill>
                  <a:schemeClr val="bg1"/>
                </a:solidFill>
                <a:latin typeface="Cooper Black" panose="0208090404030B020404" pitchFamily="18" charset="0"/>
              </a:rPr>
              <a:t>     1. Data Cleaning</a:t>
            </a:r>
          </a:p>
          <a:p>
            <a:pPr algn="just"/>
            <a:r>
              <a:rPr lang="en-IN" sz="2000" dirty="0">
                <a:solidFill>
                  <a:schemeClr val="bg1"/>
                </a:solidFill>
                <a:latin typeface="Cooper Black" panose="0208090404030B020404" pitchFamily="18" charset="0"/>
              </a:rPr>
              <a:t>     2. Exploratory Data Analysis</a:t>
            </a:r>
          </a:p>
          <a:p>
            <a:pPr algn="just"/>
            <a:r>
              <a:rPr lang="en-IN" sz="2000" dirty="0">
                <a:solidFill>
                  <a:schemeClr val="bg1"/>
                </a:solidFill>
                <a:latin typeface="Cooper Black" panose="0208090404030B020404" pitchFamily="18" charset="0"/>
              </a:rPr>
              <a:t>     3. Data Pre-processing</a:t>
            </a:r>
          </a:p>
          <a:p>
            <a:pPr algn="just"/>
            <a:r>
              <a:rPr lang="en-IN" sz="2000" dirty="0">
                <a:solidFill>
                  <a:schemeClr val="bg1"/>
                </a:solidFill>
                <a:latin typeface="Cooper Black" panose="0208090404030B020404" pitchFamily="18" charset="0"/>
              </a:rPr>
              <a:t>     4. Model Building</a:t>
            </a:r>
          </a:p>
          <a:p>
            <a:pPr algn="just"/>
            <a:r>
              <a:rPr lang="en-IN" sz="2000" dirty="0">
                <a:solidFill>
                  <a:schemeClr val="bg1"/>
                </a:solidFill>
                <a:latin typeface="Cooper Black" panose="0208090404030B020404" pitchFamily="18" charset="0"/>
              </a:rPr>
              <a:t>     5. Model Evaluation</a:t>
            </a:r>
          </a:p>
          <a:p>
            <a:pPr algn="just"/>
            <a:r>
              <a:rPr lang="en-IN" sz="2000" dirty="0">
                <a:solidFill>
                  <a:schemeClr val="bg1"/>
                </a:solidFill>
                <a:latin typeface="Cooper Black" panose="0208090404030B020404" pitchFamily="18" charset="0"/>
              </a:rPr>
              <a:t>     6. Selecting the best model</a:t>
            </a:r>
          </a:p>
        </p:txBody>
      </p:sp>
    </p:spTree>
    <p:extLst>
      <p:ext uri="{BB962C8B-B14F-4D97-AF65-F5344CB8AC3E}">
        <p14:creationId xmlns:p14="http://schemas.microsoft.com/office/powerpoint/2010/main" val="309426365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335D087-26C0-4ABF-B1C9-499F78B02BBB}"/>
              </a:ext>
            </a:extLst>
          </p:cNvPr>
          <p:cNvSpPr txBox="1"/>
          <p:nvPr/>
        </p:nvSpPr>
        <p:spPr>
          <a:xfrm>
            <a:off x="612648" y="1536192"/>
            <a:ext cx="10972800" cy="3477875"/>
          </a:xfrm>
          <a:prstGeom prst="rect">
            <a:avLst/>
          </a:prstGeom>
          <a:noFill/>
        </p:spPr>
        <p:txBody>
          <a:bodyPr wrap="square" rtlCol="0">
            <a:spAutoFit/>
          </a:bodyPr>
          <a:lstStyle/>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Initially, there are 5545 rows and 7 columns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6 columns which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1 column which is of int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‘Unwanted : 0’ contains index however data frame has their own index. So, drop it.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After data cleaning there are 5545 rows and 9 columns in the dataset.</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2 columns which are of int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are 7 columns which are of object type.</a:t>
            </a:r>
          </a:p>
          <a:p>
            <a:pPr marL="342900" indent="-342900">
              <a:buFont typeface="Wingdings" panose="05000000000000000000" pitchFamily="2" charset="2"/>
              <a:buChar char="Ø"/>
            </a:pPr>
            <a:r>
              <a:rPr lang="en-US" sz="2000" dirty="0">
                <a:solidFill>
                  <a:schemeClr val="bg1"/>
                </a:solidFill>
                <a:latin typeface="Cooper Black" panose="0208090404030B020404" pitchFamily="18" charset="0"/>
              </a:rPr>
              <a:t>There is no null values in the dataset.</a:t>
            </a:r>
          </a:p>
          <a:p>
            <a:pPr marL="342900" indent="-342900">
              <a:buFont typeface="Wingdings" panose="05000000000000000000" pitchFamily="2" charset="2"/>
              <a:buChar char="Ø"/>
            </a:pPr>
            <a:r>
              <a:rPr lang="en-IN" sz="2000" dirty="0">
                <a:solidFill>
                  <a:schemeClr val="bg1"/>
                </a:solidFill>
                <a:latin typeface="Cooper Black" panose="0208090404030B020404" pitchFamily="18" charset="0"/>
              </a:rPr>
              <a:t>'</a:t>
            </a:r>
            <a:r>
              <a:rPr lang="en-IN" sz="2000" dirty="0" err="1">
                <a:solidFill>
                  <a:schemeClr val="bg1"/>
                </a:solidFill>
                <a:latin typeface="Cooper Black" panose="0208090404030B020404" pitchFamily="18" charset="0"/>
              </a:rPr>
              <a:t>Transmission_Type</a:t>
            </a:r>
            <a:r>
              <a:rPr lang="en-IN" sz="2000" dirty="0">
                <a:solidFill>
                  <a:schemeClr val="bg1"/>
                </a:solidFill>
                <a:latin typeface="Cooper Black" panose="0208090404030B020404" pitchFamily="18" charset="0"/>
              </a:rPr>
              <a:t>’  column has 89 value for which </a:t>
            </a:r>
            <a:r>
              <a:rPr lang="en-IN" sz="2000" dirty="0" err="1">
                <a:solidFill>
                  <a:schemeClr val="bg1"/>
                </a:solidFill>
                <a:latin typeface="Cooper Black" panose="0208090404030B020404" pitchFamily="18" charset="0"/>
              </a:rPr>
              <a:t>Transmission_Type</a:t>
            </a:r>
            <a:r>
              <a:rPr lang="en-IN" sz="2000" dirty="0">
                <a:solidFill>
                  <a:schemeClr val="bg1"/>
                </a:solidFill>
                <a:latin typeface="Cooper Black" panose="0208090404030B020404" pitchFamily="18" charset="0"/>
              </a:rPr>
              <a:t> is not defined. So, I replace it with 'Not Defined'.</a:t>
            </a:r>
            <a:endParaRPr lang="en-US" sz="2000" dirty="0">
              <a:solidFill>
                <a:schemeClr val="bg1"/>
              </a:solidFill>
              <a:latin typeface="Cooper Black" panose="0208090404030B020404" pitchFamily="18" charset="0"/>
            </a:endParaRPr>
          </a:p>
        </p:txBody>
      </p:sp>
      <p:sp>
        <p:nvSpPr>
          <p:cNvPr id="3" name="TextBox 2">
            <a:extLst>
              <a:ext uri="{FF2B5EF4-FFF2-40B4-BE49-F238E27FC236}">
                <a16:creationId xmlns:a16="http://schemas.microsoft.com/office/drawing/2014/main" id="{D46FCADB-A7A9-4916-A89B-435233D38131}"/>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About Dataset</a:t>
            </a:r>
            <a:endParaRPr lang="en-US" sz="2000" b="1" i="1" u="sng"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42739928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CF53017-EE09-4E94-9328-740E511741D1}"/>
              </a:ext>
            </a:extLst>
          </p:cNvPr>
          <p:cNvSpPr txBox="1"/>
          <p:nvPr/>
        </p:nvSpPr>
        <p:spPr>
          <a:xfrm>
            <a:off x="3749040"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Exploratory Data Analysis</a:t>
            </a:r>
          </a:p>
        </p:txBody>
      </p:sp>
      <p:sp>
        <p:nvSpPr>
          <p:cNvPr id="7" name="TextBox 6">
            <a:extLst>
              <a:ext uri="{FF2B5EF4-FFF2-40B4-BE49-F238E27FC236}">
                <a16:creationId xmlns:a16="http://schemas.microsoft.com/office/drawing/2014/main" id="{31594385-502D-4552-9A19-2C768D54D27B}"/>
              </a:ext>
            </a:extLst>
          </p:cNvPr>
          <p:cNvSpPr txBox="1"/>
          <p:nvPr/>
        </p:nvSpPr>
        <p:spPr>
          <a:xfrm>
            <a:off x="536098" y="1332859"/>
            <a:ext cx="6976050" cy="461665"/>
          </a:xfrm>
          <a:prstGeom prst="rect">
            <a:avLst/>
          </a:prstGeom>
          <a:noFill/>
        </p:spPr>
        <p:txBody>
          <a:bodyPr wrap="square" rtlCol="0">
            <a:spAutoFit/>
          </a:bodyPr>
          <a:lstStyle/>
          <a:p>
            <a:r>
              <a:rPr lang="en-US" sz="2400" b="1" i="1" u="sng" dirty="0">
                <a:solidFill>
                  <a:schemeClr val="bg1"/>
                </a:solidFill>
                <a:latin typeface="Comic Sans MS" panose="030F0702030302020204" pitchFamily="66" charset="0"/>
              </a:rPr>
              <a:t>a).Univariate Analysis</a:t>
            </a:r>
            <a:r>
              <a:rPr lang="en-US" sz="2400" b="1" i="1" dirty="0">
                <a:solidFill>
                  <a:schemeClr val="bg1"/>
                </a:solidFill>
                <a:latin typeface="Comic Sans MS" panose="030F0702030302020204" pitchFamily="66" charset="0"/>
              </a:rPr>
              <a:t>:</a:t>
            </a:r>
          </a:p>
        </p:txBody>
      </p:sp>
      <p:pic>
        <p:nvPicPr>
          <p:cNvPr id="5" name="Picture 4">
            <a:extLst>
              <a:ext uri="{FF2B5EF4-FFF2-40B4-BE49-F238E27FC236}">
                <a16:creationId xmlns:a16="http://schemas.microsoft.com/office/drawing/2014/main" id="{33F1D97A-D5E8-40C6-B054-1B57E8B84A00}"/>
              </a:ext>
            </a:extLst>
          </p:cNvPr>
          <p:cNvPicPr>
            <a:picLocks noChangeAspect="1"/>
          </p:cNvPicPr>
          <p:nvPr/>
        </p:nvPicPr>
        <p:blipFill>
          <a:blip r:embed="rId2"/>
          <a:stretch>
            <a:fillRect/>
          </a:stretch>
        </p:blipFill>
        <p:spPr>
          <a:xfrm>
            <a:off x="536098" y="2103894"/>
            <a:ext cx="5559902" cy="3606778"/>
          </a:xfrm>
          <a:prstGeom prst="rect">
            <a:avLst/>
          </a:prstGeom>
        </p:spPr>
      </p:pic>
      <p:pic>
        <p:nvPicPr>
          <p:cNvPr id="9" name="Picture 8">
            <a:extLst>
              <a:ext uri="{FF2B5EF4-FFF2-40B4-BE49-F238E27FC236}">
                <a16:creationId xmlns:a16="http://schemas.microsoft.com/office/drawing/2014/main" id="{C9D575FD-031F-4764-9CC9-2502C79C8292}"/>
              </a:ext>
            </a:extLst>
          </p:cNvPr>
          <p:cNvPicPr>
            <a:picLocks noChangeAspect="1"/>
          </p:cNvPicPr>
          <p:nvPr/>
        </p:nvPicPr>
        <p:blipFill>
          <a:blip r:embed="rId3"/>
          <a:stretch>
            <a:fillRect/>
          </a:stretch>
        </p:blipFill>
        <p:spPr>
          <a:xfrm>
            <a:off x="6096000" y="2103895"/>
            <a:ext cx="5559902" cy="3606778"/>
          </a:xfrm>
          <a:prstGeom prst="rect">
            <a:avLst/>
          </a:prstGeom>
        </p:spPr>
      </p:pic>
    </p:spTree>
    <p:extLst>
      <p:ext uri="{BB962C8B-B14F-4D97-AF65-F5344CB8AC3E}">
        <p14:creationId xmlns:p14="http://schemas.microsoft.com/office/powerpoint/2010/main" val="7671339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C5E9354-239C-4BB7-8C80-4E19C61D7DA5}"/>
              </a:ext>
            </a:extLst>
          </p:cNvPr>
          <p:cNvPicPr>
            <a:picLocks noChangeAspect="1"/>
          </p:cNvPicPr>
          <p:nvPr/>
        </p:nvPicPr>
        <p:blipFill>
          <a:blip r:embed="rId2"/>
          <a:stretch>
            <a:fillRect/>
          </a:stretch>
        </p:blipFill>
        <p:spPr>
          <a:xfrm>
            <a:off x="565614" y="1941342"/>
            <a:ext cx="5798610" cy="3602736"/>
          </a:xfrm>
          <a:prstGeom prst="rect">
            <a:avLst/>
          </a:prstGeom>
        </p:spPr>
      </p:pic>
      <p:sp>
        <p:nvSpPr>
          <p:cNvPr id="9" name="TextBox 8">
            <a:extLst>
              <a:ext uri="{FF2B5EF4-FFF2-40B4-BE49-F238E27FC236}">
                <a16:creationId xmlns:a16="http://schemas.microsoft.com/office/drawing/2014/main" id="{286CBD8B-ABA4-4565-B2B4-F6C288FF3F76}"/>
              </a:ext>
            </a:extLst>
          </p:cNvPr>
          <p:cNvSpPr txBox="1"/>
          <p:nvPr/>
        </p:nvSpPr>
        <p:spPr>
          <a:xfrm>
            <a:off x="6736334" y="2743200"/>
            <a:ext cx="4890052" cy="1077218"/>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From these graph, it is observed that data is not normally distributed.</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There is skewness in the dataset.</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Outliers are also present in the dataset.  </a:t>
            </a:r>
          </a:p>
        </p:txBody>
      </p:sp>
    </p:spTree>
    <p:extLst>
      <p:ext uri="{BB962C8B-B14F-4D97-AF65-F5344CB8AC3E}">
        <p14:creationId xmlns:p14="http://schemas.microsoft.com/office/powerpoint/2010/main" val="36334120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8B22957-69A8-4362-832E-52DFDB4B381B}"/>
              </a:ext>
            </a:extLst>
          </p:cNvPr>
          <p:cNvPicPr>
            <a:picLocks noChangeAspect="1"/>
          </p:cNvPicPr>
          <p:nvPr/>
        </p:nvPicPr>
        <p:blipFill>
          <a:blip r:embed="rId2"/>
          <a:stretch>
            <a:fillRect/>
          </a:stretch>
        </p:blipFill>
        <p:spPr>
          <a:xfrm>
            <a:off x="542062" y="500629"/>
            <a:ext cx="5553937" cy="2928372"/>
          </a:xfrm>
          <a:prstGeom prst="rect">
            <a:avLst/>
          </a:prstGeom>
        </p:spPr>
      </p:pic>
      <p:pic>
        <p:nvPicPr>
          <p:cNvPr id="4" name="Picture 3">
            <a:extLst>
              <a:ext uri="{FF2B5EF4-FFF2-40B4-BE49-F238E27FC236}">
                <a16:creationId xmlns:a16="http://schemas.microsoft.com/office/drawing/2014/main" id="{825BB22B-7325-4DD5-8A60-667716BD0225}"/>
              </a:ext>
            </a:extLst>
          </p:cNvPr>
          <p:cNvPicPr>
            <a:picLocks noChangeAspect="1"/>
          </p:cNvPicPr>
          <p:nvPr/>
        </p:nvPicPr>
        <p:blipFill>
          <a:blip r:embed="rId3"/>
          <a:stretch>
            <a:fillRect/>
          </a:stretch>
        </p:blipFill>
        <p:spPr>
          <a:xfrm>
            <a:off x="6096000" y="3429000"/>
            <a:ext cx="5553937" cy="2928373"/>
          </a:xfrm>
          <a:prstGeom prst="rect">
            <a:avLst/>
          </a:prstGeom>
        </p:spPr>
      </p:pic>
      <p:sp>
        <p:nvSpPr>
          <p:cNvPr id="7" name="TextBox 6">
            <a:extLst>
              <a:ext uri="{FF2B5EF4-FFF2-40B4-BE49-F238E27FC236}">
                <a16:creationId xmlns:a16="http://schemas.microsoft.com/office/drawing/2014/main" id="{2665809A-81D2-4AD3-BBCF-3845333FC653}"/>
              </a:ext>
            </a:extLst>
          </p:cNvPr>
          <p:cNvSpPr txBox="1"/>
          <p:nvPr/>
        </p:nvSpPr>
        <p:spPr>
          <a:xfrm>
            <a:off x="6533322" y="1683026"/>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Most available cars are of ‘Maruti’, followed by ‘Hyundai’.  </a:t>
            </a:r>
          </a:p>
        </p:txBody>
      </p:sp>
      <p:sp>
        <p:nvSpPr>
          <p:cNvPr id="9" name="TextBox 8">
            <a:extLst>
              <a:ext uri="{FF2B5EF4-FFF2-40B4-BE49-F238E27FC236}">
                <a16:creationId xmlns:a16="http://schemas.microsoft.com/office/drawing/2014/main" id="{843CB839-671B-4AE4-82B7-D21842E8818C}"/>
              </a:ext>
            </a:extLst>
          </p:cNvPr>
          <p:cNvSpPr txBox="1"/>
          <p:nvPr/>
        </p:nvSpPr>
        <p:spPr>
          <a:xfrm>
            <a:off x="722244" y="4600799"/>
            <a:ext cx="4890052" cy="830997"/>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Most available model are ‘Swift’ of ‘Maruti’, followed by ‘Grand i10’ of ‘Hyundai’.  </a:t>
            </a:r>
          </a:p>
        </p:txBody>
      </p:sp>
    </p:spTree>
    <p:extLst>
      <p:ext uri="{BB962C8B-B14F-4D97-AF65-F5344CB8AC3E}">
        <p14:creationId xmlns:p14="http://schemas.microsoft.com/office/powerpoint/2010/main" val="33454686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246504ED-ECB1-483A-A58A-D617BB6C2631}"/>
              </a:ext>
            </a:extLst>
          </p:cNvPr>
          <p:cNvPicPr>
            <a:picLocks noChangeAspect="1"/>
          </p:cNvPicPr>
          <p:nvPr/>
        </p:nvPicPr>
        <p:blipFill>
          <a:blip r:embed="rId2"/>
          <a:stretch>
            <a:fillRect/>
          </a:stretch>
        </p:blipFill>
        <p:spPr>
          <a:xfrm>
            <a:off x="6096000" y="3429000"/>
            <a:ext cx="5556039" cy="2908764"/>
          </a:xfrm>
          <a:prstGeom prst="rect">
            <a:avLst/>
          </a:prstGeom>
        </p:spPr>
      </p:pic>
      <p:pic>
        <p:nvPicPr>
          <p:cNvPr id="9" name="Picture 8">
            <a:extLst>
              <a:ext uri="{FF2B5EF4-FFF2-40B4-BE49-F238E27FC236}">
                <a16:creationId xmlns:a16="http://schemas.microsoft.com/office/drawing/2014/main" id="{0C88B9E1-7948-4388-BBA2-C3C76E038D7A}"/>
              </a:ext>
            </a:extLst>
          </p:cNvPr>
          <p:cNvPicPr>
            <a:picLocks noChangeAspect="1"/>
          </p:cNvPicPr>
          <p:nvPr/>
        </p:nvPicPr>
        <p:blipFill>
          <a:blip r:embed="rId3"/>
          <a:stretch>
            <a:fillRect/>
          </a:stretch>
        </p:blipFill>
        <p:spPr>
          <a:xfrm>
            <a:off x="539961" y="502666"/>
            <a:ext cx="5553937" cy="2926334"/>
          </a:xfrm>
          <a:prstGeom prst="rect">
            <a:avLst/>
          </a:prstGeom>
        </p:spPr>
      </p:pic>
      <p:sp>
        <p:nvSpPr>
          <p:cNvPr id="11" name="TextBox 10">
            <a:extLst>
              <a:ext uri="{FF2B5EF4-FFF2-40B4-BE49-F238E27FC236}">
                <a16:creationId xmlns:a16="http://schemas.microsoft.com/office/drawing/2014/main" id="{C855E6F1-BEB4-4EDD-A074-FAA0236A4048}"/>
              </a:ext>
            </a:extLst>
          </p:cNvPr>
          <p:cNvSpPr txBox="1"/>
          <p:nvPr/>
        </p:nvSpPr>
        <p:spPr>
          <a:xfrm>
            <a:off x="6533322" y="1683026"/>
            <a:ext cx="4890052" cy="33855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Mostly have fuel type as ‘Petrol’.  </a:t>
            </a:r>
          </a:p>
        </p:txBody>
      </p:sp>
      <p:sp>
        <p:nvSpPr>
          <p:cNvPr id="12" name="TextBox 11">
            <a:extLst>
              <a:ext uri="{FF2B5EF4-FFF2-40B4-BE49-F238E27FC236}">
                <a16:creationId xmlns:a16="http://schemas.microsoft.com/office/drawing/2014/main" id="{10C59D48-606F-4DFD-8825-511D72DEE3E8}"/>
              </a:ext>
            </a:extLst>
          </p:cNvPr>
          <p:cNvSpPr txBox="1"/>
          <p:nvPr/>
        </p:nvSpPr>
        <p:spPr>
          <a:xfrm>
            <a:off x="871903" y="4459356"/>
            <a:ext cx="4890052" cy="830997"/>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The cars that have ‘Manufacturing Year’  as 2017 are most in counting, followed by 2018. </a:t>
            </a:r>
          </a:p>
        </p:txBody>
      </p:sp>
    </p:spTree>
    <p:extLst>
      <p:ext uri="{BB962C8B-B14F-4D97-AF65-F5344CB8AC3E}">
        <p14:creationId xmlns:p14="http://schemas.microsoft.com/office/powerpoint/2010/main" val="15055471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E7212C7-0A21-4214-BF6C-C67BC90F3F95}"/>
              </a:ext>
            </a:extLst>
          </p:cNvPr>
          <p:cNvPicPr>
            <a:picLocks noChangeAspect="1"/>
          </p:cNvPicPr>
          <p:nvPr/>
        </p:nvPicPr>
        <p:blipFill>
          <a:blip r:embed="rId2"/>
          <a:stretch>
            <a:fillRect/>
          </a:stretch>
        </p:blipFill>
        <p:spPr>
          <a:xfrm>
            <a:off x="6096000" y="3429000"/>
            <a:ext cx="5539409" cy="2895600"/>
          </a:xfrm>
          <a:prstGeom prst="rect">
            <a:avLst/>
          </a:prstGeom>
        </p:spPr>
      </p:pic>
      <p:pic>
        <p:nvPicPr>
          <p:cNvPr id="8" name="Picture 7">
            <a:extLst>
              <a:ext uri="{FF2B5EF4-FFF2-40B4-BE49-F238E27FC236}">
                <a16:creationId xmlns:a16="http://schemas.microsoft.com/office/drawing/2014/main" id="{B82FE84C-6029-457B-BFCB-2A74A507C7FE}"/>
              </a:ext>
            </a:extLst>
          </p:cNvPr>
          <p:cNvPicPr>
            <a:picLocks noChangeAspect="1"/>
          </p:cNvPicPr>
          <p:nvPr/>
        </p:nvPicPr>
        <p:blipFill>
          <a:blip r:embed="rId3"/>
          <a:stretch>
            <a:fillRect/>
          </a:stretch>
        </p:blipFill>
        <p:spPr>
          <a:xfrm>
            <a:off x="554256" y="533400"/>
            <a:ext cx="5541744" cy="2914141"/>
          </a:xfrm>
          <a:prstGeom prst="rect">
            <a:avLst/>
          </a:prstGeom>
        </p:spPr>
      </p:pic>
      <p:sp>
        <p:nvSpPr>
          <p:cNvPr id="9" name="TextBox 8">
            <a:extLst>
              <a:ext uri="{FF2B5EF4-FFF2-40B4-BE49-F238E27FC236}">
                <a16:creationId xmlns:a16="http://schemas.microsoft.com/office/drawing/2014/main" id="{E9CE884F-178E-4D29-9A95-D55ED116568B}"/>
              </a:ext>
            </a:extLst>
          </p:cNvPr>
          <p:cNvSpPr txBox="1"/>
          <p:nvPr/>
        </p:nvSpPr>
        <p:spPr>
          <a:xfrm>
            <a:off x="6533322" y="1683026"/>
            <a:ext cx="4890052" cy="33855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‘Transmission Type’ as ‘Manual’ are most.</a:t>
            </a:r>
          </a:p>
        </p:txBody>
      </p:sp>
      <p:sp>
        <p:nvSpPr>
          <p:cNvPr id="10" name="TextBox 9">
            <a:extLst>
              <a:ext uri="{FF2B5EF4-FFF2-40B4-BE49-F238E27FC236}">
                <a16:creationId xmlns:a16="http://schemas.microsoft.com/office/drawing/2014/main" id="{2D707D58-6F90-4B82-A4AE-A907F20F9BCE}"/>
              </a:ext>
            </a:extLst>
          </p:cNvPr>
          <p:cNvSpPr txBox="1"/>
          <p:nvPr/>
        </p:nvSpPr>
        <p:spPr>
          <a:xfrm>
            <a:off x="880102" y="4446104"/>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Mostly available cars have 1</a:t>
            </a:r>
            <a:r>
              <a:rPr lang="en-US" sz="1600" baseline="30000" dirty="0">
                <a:solidFill>
                  <a:schemeClr val="bg1"/>
                </a:solidFill>
                <a:latin typeface="Cooper Black" panose="0208090404030B020404" pitchFamily="18" charset="0"/>
              </a:rPr>
              <a:t>st</a:t>
            </a:r>
            <a:r>
              <a:rPr lang="en-US" sz="1600" dirty="0">
                <a:solidFill>
                  <a:schemeClr val="bg1"/>
                </a:solidFill>
                <a:latin typeface="Cooper Black" panose="0208090404030B020404" pitchFamily="18" charset="0"/>
              </a:rPr>
              <a:t> owner as </a:t>
            </a:r>
            <a:r>
              <a:rPr lang="en-US" sz="1600" dirty="0" err="1">
                <a:solidFill>
                  <a:schemeClr val="bg1"/>
                </a:solidFill>
                <a:latin typeface="Cooper Black" panose="0208090404030B020404" pitchFamily="18" charset="0"/>
              </a:rPr>
              <a:t>No_Of_Owner</a:t>
            </a:r>
            <a:r>
              <a:rPr lang="en-US" sz="1600" dirty="0">
                <a:solidFill>
                  <a:schemeClr val="bg1"/>
                </a:solidFill>
                <a:latin typeface="Cooper Black" panose="0208090404030B020404" pitchFamily="18" charset="0"/>
              </a:rPr>
              <a:t>.</a:t>
            </a:r>
          </a:p>
        </p:txBody>
      </p:sp>
    </p:spTree>
    <p:extLst>
      <p:ext uri="{BB962C8B-B14F-4D97-AF65-F5344CB8AC3E}">
        <p14:creationId xmlns:p14="http://schemas.microsoft.com/office/powerpoint/2010/main" val="317880856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F5EFC4AA-D2EC-4554-8B03-93FB572E19DF}"/>
              </a:ext>
            </a:extLst>
          </p:cNvPr>
          <p:cNvSpPr txBox="1"/>
          <p:nvPr/>
        </p:nvSpPr>
        <p:spPr>
          <a:xfrm>
            <a:off x="536098" y="1332859"/>
            <a:ext cx="5559901" cy="461665"/>
          </a:xfrm>
          <a:prstGeom prst="rect">
            <a:avLst/>
          </a:prstGeom>
          <a:noFill/>
        </p:spPr>
        <p:txBody>
          <a:bodyPr wrap="square" rtlCol="0">
            <a:spAutoFit/>
          </a:bodyPr>
          <a:lstStyle/>
          <a:p>
            <a:r>
              <a:rPr lang="en-US" sz="2400" b="1" i="1" u="sng" dirty="0">
                <a:solidFill>
                  <a:schemeClr val="bg1"/>
                </a:solidFill>
                <a:latin typeface="Comic Sans MS" panose="030F0702030302020204" pitchFamily="66" charset="0"/>
              </a:rPr>
              <a:t>b).bivariate Analysis:</a:t>
            </a:r>
            <a:r>
              <a:rPr lang="en-US" sz="2400" b="1" i="1" dirty="0">
                <a:solidFill>
                  <a:schemeClr val="bg1"/>
                </a:solidFill>
                <a:latin typeface="Comic Sans MS" panose="030F0702030302020204" pitchFamily="66" charset="0"/>
              </a:rPr>
              <a:t> </a:t>
            </a:r>
            <a:endParaRPr lang="en-US" sz="2400" b="1" i="1" u="sng" dirty="0">
              <a:solidFill>
                <a:schemeClr val="bg1"/>
              </a:solidFill>
              <a:latin typeface="Comic Sans MS" panose="030F0702030302020204" pitchFamily="66" charset="0"/>
            </a:endParaRPr>
          </a:p>
        </p:txBody>
      </p:sp>
      <p:pic>
        <p:nvPicPr>
          <p:cNvPr id="7" name="Picture 6">
            <a:extLst>
              <a:ext uri="{FF2B5EF4-FFF2-40B4-BE49-F238E27FC236}">
                <a16:creationId xmlns:a16="http://schemas.microsoft.com/office/drawing/2014/main" id="{CB78B48A-F464-432A-B52F-2C9FB44082C1}"/>
              </a:ext>
            </a:extLst>
          </p:cNvPr>
          <p:cNvPicPr>
            <a:picLocks noChangeAspect="1"/>
          </p:cNvPicPr>
          <p:nvPr/>
        </p:nvPicPr>
        <p:blipFill>
          <a:blip r:embed="rId2"/>
          <a:stretch>
            <a:fillRect/>
          </a:stretch>
        </p:blipFill>
        <p:spPr>
          <a:xfrm>
            <a:off x="536098" y="2199860"/>
            <a:ext cx="5559901" cy="4081669"/>
          </a:xfrm>
          <a:prstGeom prst="rect">
            <a:avLst/>
          </a:prstGeom>
        </p:spPr>
      </p:pic>
      <p:sp>
        <p:nvSpPr>
          <p:cNvPr id="11" name="TextBox 10">
            <a:extLst>
              <a:ext uri="{FF2B5EF4-FFF2-40B4-BE49-F238E27FC236}">
                <a16:creationId xmlns:a16="http://schemas.microsoft.com/office/drawing/2014/main" id="{68C0D629-9932-4BE6-8658-FFE91E435763}"/>
              </a:ext>
            </a:extLst>
          </p:cNvPr>
          <p:cNvSpPr txBox="1"/>
          <p:nvPr/>
        </p:nvSpPr>
        <p:spPr>
          <a:xfrm>
            <a:off x="6453809" y="3136612"/>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‘Mercedes’ cars are expensive, followed by ‘Jaguar’. </a:t>
            </a:r>
          </a:p>
        </p:txBody>
      </p:sp>
    </p:spTree>
    <p:extLst>
      <p:ext uri="{BB962C8B-B14F-4D97-AF65-F5344CB8AC3E}">
        <p14:creationId xmlns:p14="http://schemas.microsoft.com/office/powerpoint/2010/main" val="38133965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9086938-CA6A-491D-958D-EFDA58BACDD1}"/>
              </a:ext>
            </a:extLst>
          </p:cNvPr>
          <p:cNvPicPr>
            <a:picLocks noChangeAspect="1"/>
          </p:cNvPicPr>
          <p:nvPr/>
        </p:nvPicPr>
        <p:blipFill>
          <a:blip r:embed="rId2"/>
          <a:stretch>
            <a:fillRect/>
          </a:stretch>
        </p:blipFill>
        <p:spPr>
          <a:xfrm>
            <a:off x="6096000" y="3428999"/>
            <a:ext cx="5561381" cy="2905539"/>
          </a:xfrm>
          <a:prstGeom prst="rect">
            <a:avLst/>
          </a:prstGeom>
        </p:spPr>
      </p:pic>
      <p:pic>
        <p:nvPicPr>
          <p:cNvPr id="10" name="Picture 9">
            <a:extLst>
              <a:ext uri="{FF2B5EF4-FFF2-40B4-BE49-F238E27FC236}">
                <a16:creationId xmlns:a16="http://schemas.microsoft.com/office/drawing/2014/main" id="{DDC64490-5DFF-465E-B665-8F3C42BA3B1E}"/>
              </a:ext>
            </a:extLst>
          </p:cNvPr>
          <p:cNvPicPr>
            <a:picLocks noChangeAspect="1"/>
          </p:cNvPicPr>
          <p:nvPr/>
        </p:nvPicPr>
        <p:blipFill>
          <a:blip r:embed="rId3"/>
          <a:stretch>
            <a:fillRect/>
          </a:stretch>
        </p:blipFill>
        <p:spPr>
          <a:xfrm>
            <a:off x="534619" y="523462"/>
            <a:ext cx="5560034" cy="2905537"/>
          </a:xfrm>
          <a:prstGeom prst="rect">
            <a:avLst/>
          </a:prstGeom>
        </p:spPr>
      </p:pic>
      <p:sp>
        <p:nvSpPr>
          <p:cNvPr id="11" name="TextBox 10">
            <a:extLst>
              <a:ext uri="{FF2B5EF4-FFF2-40B4-BE49-F238E27FC236}">
                <a16:creationId xmlns:a16="http://schemas.microsoft.com/office/drawing/2014/main" id="{E05C8036-14FC-4D38-AB02-AF9A3A0FE5B0}"/>
              </a:ext>
            </a:extLst>
          </p:cNvPr>
          <p:cNvSpPr txBox="1"/>
          <p:nvPr/>
        </p:nvSpPr>
        <p:spPr>
          <a:xfrm>
            <a:off x="6533322" y="1683026"/>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‘Benz GLC Class’ of ‘Mercedes’ are the most expensive car in the dataset.  </a:t>
            </a:r>
          </a:p>
        </p:txBody>
      </p:sp>
      <p:sp>
        <p:nvSpPr>
          <p:cNvPr id="12" name="TextBox 11">
            <a:extLst>
              <a:ext uri="{FF2B5EF4-FFF2-40B4-BE49-F238E27FC236}">
                <a16:creationId xmlns:a16="http://schemas.microsoft.com/office/drawing/2014/main" id="{87CC9523-C1D1-488B-8371-323C75C9E89C}"/>
              </a:ext>
            </a:extLst>
          </p:cNvPr>
          <p:cNvSpPr txBox="1"/>
          <p:nvPr/>
        </p:nvSpPr>
        <p:spPr>
          <a:xfrm>
            <a:off x="869610" y="4446105"/>
            <a:ext cx="4890052" cy="33855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‘Diesel’ as ‘</a:t>
            </a:r>
            <a:r>
              <a:rPr lang="en-US" sz="1600" dirty="0" err="1">
                <a:solidFill>
                  <a:schemeClr val="bg1"/>
                </a:solidFill>
                <a:latin typeface="Cooper Black" panose="0208090404030B020404" pitchFamily="18" charset="0"/>
              </a:rPr>
              <a:t>fuel_Type</a:t>
            </a:r>
            <a:r>
              <a:rPr lang="en-US" sz="1600" dirty="0">
                <a:solidFill>
                  <a:schemeClr val="bg1"/>
                </a:solidFill>
                <a:latin typeface="Cooper Black" panose="0208090404030B020404" pitchFamily="18" charset="0"/>
              </a:rPr>
              <a:t>’  cars are costly.  </a:t>
            </a:r>
          </a:p>
        </p:txBody>
      </p:sp>
    </p:spTree>
    <p:extLst>
      <p:ext uri="{BB962C8B-B14F-4D97-AF65-F5344CB8AC3E}">
        <p14:creationId xmlns:p14="http://schemas.microsoft.com/office/powerpoint/2010/main" val="22037613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693F77F-8020-49CF-AEEE-B532FDDBC869}"/>
              </a:ext>
            </a:extLst>
          </p:cNvPr>
          <p:cNvPicPr>
            <a:picLocks noChangeAspect="1"/>
          </p:cNvPicPr>
          <p:nvPr/>
        </p:nvPicPr>
        <p:blipFill>
          <a:blip r:embed="rId2"/>
          <a:stretch>
            <a:fillRect/>
          </a:stretch>
        </p:blipFill>
        <p:spPr>
          <a:xfrm>
            <a:off x="6096000" y="3429000"/>
            <a:ext cx="5565913" cy="2905539"/>
          </a:xfrm>
          <a:prstGeom prst="rect">
            <a:avLst/>
          </a:prstGeom>
        </p:spPr>
      </p:pic>
      <p:pic>
        <p:nvPicPr>
          <p:cNvPr id="10" name="Picture 9">
            <a:extLst>
              <a:ext uri="{FF2B5EF4-FFF2-40B4-BE49-F238E27FC236}">
                <a16:creationId xmlns:a16="http://schemas.microsoft.com/office/drawing/2014/main" id="{F5141B5D-6E6D-4D33-8255-657009C50244}"/>
              </a:ext>
            </a:extLst>
          </p:cNvPr>
          <p:cNvPicPr>
            <a:picLocks noChangeAspect="1"/>
          </p:cNvPicPr>
          <p:nvPr/>
        </p:nvPicPr>
        <p:blipFill>
          <a:blip r:embed="rId3"/>
          <a:stretch>
            <a:fillRect/>
          </a:stretch>
        </p:blipFill>
        <p:spPr>
          <a:xfrm>
            <a:off x="530087" y="523461"/>
            <a:ext cx="5560034" cy="2905539"/>
          </a:xfrm>
          <a:prstGeom prst="rect">
            <a:avLst/>
          </a:prstGeom>
        </p:spPr>
      </p:pic>
      <p:sp>
        <p:nvSpPr>
          <p:cNvPr id="11" name="TextBox 10">
            <a:extLst>
              <a:ext uri="{FF2B5EF4-FFF2-40B4-BE49-F238E27FC236}">
                <a16:creationId xmlns:a16="http://schemas.microsoft.com/office/drawing/2014/main" id="{C19FBD2E-2C08-4696-8B83-BAD4533E5E05}"/>
              </a:ext>
            </a:extLst>
          </p:cNvPr>
          <p:cNvSpPr txBox="1"/>
          <p:nvPr/>
        </p:nvSpPr>
        <p:spPr>
          <a:xfrm>
            <a:off x="6533322" y="1683026"/>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‘Price’ are high when ‘Manufacturing Year’ is 2020, followed by 2021.  </a:t>
            </a:r>
          </a:p>
        </p:txBody>
      </p:sp>
      <p:sp>
        <p:nvSpPr>
          <p:cNvPr id="12" name="TextBox 11">
            <a:extLst>
              <a:ext uri="{FF2B5EF4-FFF2-40B4-BE49-F238E27FC236}">
                <a16:creationId xmlns:a16="http://schemas.microsoft.com/office/drawing/2014/main" id="{A4502047-4D44-475E-B4EF-9A18AE331496}"/>
              </a:ext>
            </a:extLst>
          </p:cNvPr>
          <p:cNvSpPr txBox="1"/>
          <p:nvPr/>
        </p:nvSpPr>
        <p:spPr>
          <a:xfrm>
            <a:off x="974035" y="4446104"/>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‘Automatic’ as ‘</a:t>
            </a:r>
            <a:r>
              <a:rPr lang="en-US" sz="1600" dirty="0" err="1">
                <a:solidFill>
                  <a:schemeClr val="bg1"/>
                </a:solidFill>
                <a:latin typeface="Cooper Black" panose="0208090404030B020404" pitchFamily="18" charset="0"/>
              </a:rPr>
              <a:t>Transmission_Type</a:t>
            </a:r>
            <a:r>
              <a:rPr lang="en-US" sz="1600" dirty="0">
                <a:solidFill>
                  <a:schemeClr val="bg1"/>
                </a:solidFill>
                <a:latin typeface="Cooper Black" panose="0208090404030B020404" pitchFamily="18" charset="0"/>
              </a:rPr>
              <a:t> are expensive.  </a:t>
            </a:r>
          </a:p>
        </p:txBody>
      </p:sp>
    </p:spTree>
    <p:extLst>
      <p:ext uri="{BB962C8B-B14F-4D97-AF65-F5344CB8AC3E}">
        <p14:creationId xmlns:p14="http://schemas.microsoft.com/office/powerpoint/2010/main" val="4860989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7FB3F9F-BC37-48C9-8407-768217650A56}"/>
              </a:ext>
            </a:extLst>
          </p:cNvPr>
          <p:cNvPicPr>
            <a:picLocks noChangeAspect="1"/>
          </p:cNvPicPr>
          <p:nvPr/>
        </p:nvPicPr>
        <p:blipFill>
          <a:blip r:embed="rId2"/>
          <a:stretch>
            <a:fillRect/>
          </a:stretch>
        </p:blipFill>
        <p:spPr>
          <a:xfrm>
            <a:off x="6109469" y="3429000"/>
            <a:ext cx="5539192" cy="2905539"/>
          </a:xfrm>
          <a:prstGeom prst="rect">
            <a:avLst/>
          </a:prstGeom>
        </p:spPr>
      </p:pic>
      <p:pic>
        <p:nvPicPr>
          <p:cNvPr id="4" name="Picture 3">
            <a:extLst>
              <a:ext uri="{FF2B5EF4-FFF2-40B4-BE49-F238E27FC236}">
                <a16:creationId xmlns:a16="http://schemas.microsoft.com/office/drawing/2014/main" id="{11D699F0-48EE-41B0-A28E-6F81573E6000}"/>
              </a:ext>
            </a:extLst>
          </p:cNvPr>
          <p:cNvPicPr>
            <a:picLocks noChangeAspect="1"/>
          </p:cNvPicPr>
          <p:nvPr/>
        </p:nvPicPr>
        <p:blipFill>
          <a:blip r:embed="rId3"/>
          <a:stretch>
            <a:fillRect/>
          </a:stretch>
        </p:blipFill>
        <p:spPr>
          <a:xfrm>
            <a:off x="543339" y="523461"/>
            <a:ext cx="5566130" cy="2905539"/>
          </a:xfrm>
          <a:prstGeom prst="rect">
            <a:avLst/>
          </a:prstGeom>
        </p:spPr>
      </p:pic>
      <p:sp>
        <p:nvSpPr>
          <p:cNvPr id="7" name="TextBox 6">
            <a:extLst>
              <a:ext uri="{FF2B5EF4-FFF2-40B4-BE49-F238E27FC236}">
                <a16:creationId xmlns:a16="http://schemas.microsoft.com/office/drawing/2014/main" id="{88B20243-4C8A-4325-A09E-0E254F5BE7C5}"/>
              </a:ext>
            </a:extLst>
          </p:cNvPr>
          <p:cNvSpPr txBox="1"/>
          <p:nvPr/>
        </p:nvSpPr>
        <p:spPr>
          <a:xfrm>
            <a:off x="6533322" y="1683026"/>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Mostly cars have ‘Km Driven’ between 0 to 10000 KM.</a:t>
            </a:r>
          </a:p>
        </p:txBody>
      </p:sp>
      <p:sp>
        <p:nvSpPr>
          <p:cNvPr id="8" name="TextBox 7">
            <a:extLst>
              <a:ext uri="{FF2B5EF4-FFF2-40B4-BE49-F238E27FC236}">
                <a16:creationId xmlns:a16="http://schemas.microsoft.com/office/drawing/2014/main" id="{D3E99DD2-0B0F-4B3C-B546-56A50177373F}"/>
              </a:ext>
            </a:extLst>
          </p:cNvPr>
          <p:cNvSpPr txBox="1"/>
          <p:nvPr/>
        </p:nvSpPr>
        <p:spPr>
          <a:xfrm>
            <a:off x="1066800" y="4589381"/>
            <a:ext cx="4890052" cy="584775"/>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Cars ‘Price’ is high when the car has ‘</a:t>
            </a:r>
            <a:r>
              <a:rPr lang="en-US" sz="1600" dirty="0" err="1">
                <a:solidFill>
                  <a:schemeClr val="bg1"/>
                </a:solidFill>
                <a:latin typeface="Cooper Black" panose="0208090404030B020404" pitchFamily="18" charset="0"/>
              </a:rPr>
              <a:t>No_Of_Owner</a:t>
            </a:r>
            <a:r>
              <a:rPr lang="en-US" sz="1600" dirty="0">
                <a:solidFill>
                  <a:schemeClr val="bg1"/>
                </a:solidFill>
                <a:latin typeface="Cooper Black" panose="0208090404030B020404" pitchFamily="18" charset="0"/>
              </a:rPr>
              <a:t>’  as ‘1</a:t>
            </a:r>
            <a:r>
              <a:rPr lang="en-US" sz="1600" baseline="30000" dirty="0">
                <a:solidFill>
                  <a:schemeClr val="bg1"/>
                </a:solidFill>
                <a:latin typeface="Cooper Black" panose="0208090404030B020404" pitchFamily="18" charset="0"/>
              </a:rPr>
              <a:t>st</a:t>
            </a:r>
            <a:r>
              <a:rPr lang="en-US" sz="1600" dirty="0">
                <a:solidFill>
                  <a:schemeClr val="bg1"/>
                </a:solidFill>
                <a:latin typeface="Cooper Black" panose="0208090404030B020404" pitchFamily="18" charset="0"/>
              </a:rPr>
              <a:t> owner’.</a:t>
            </a:r>
          </a:p>
        </p:txBody>
      </p:sp>
    </p:spTree>
    <p:extLst>
      <p:ext uri="{BB962C8B-B14F-4D97-AF65-F5344CB8AC3E}">
        <p14:creationId xmlns:p14="http://schemas.microsoft.com/office/powerpoint/2010/main" val="181109122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EBB930DC-5B14-49F0-AC83-AF6BD57DF4E7}"/>
              </a:ext>
            </a:extLst>
          </p:cNvPr>
          <p:cNvSpPr txBox="1"/>
          <p:nvPr/>
        </p:nvSpPr>
        <p:spPr>
          <a:xfrm>
            <a:off x="3749039" y="685800"/>
            <a:ext cx="6154615"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Correlation matrix using Heatmap</a:t>
            </a:r>
          </a:p>
        </p:txBody>
      </p:sp>
      <p:pic>
        <p:nvPicPr>
          <p:cNvPr id="3" name="Picture 2">
            <a:extLst>
              <a:ext uri="{FF2B5EF4-FFF2-40B4-BE49-F238E27FC236}">
                <a16:creationId xmlns:a16="http://schemas.microsoft.com/office/drawing/2014/main" id="{74140B28-DB6D-4293-8BD2-7259659557C2}"/>
              </a:ext>
            </a:extLst>
          </p:cNvPr>
          <p:cNvPicPr>
            <a:picLocks noChangeAspect="1"/>
          </p:cNvPicPr>
          <p:nvPr/>
        </p:nvPicPr>
        <p:blipFill>
          <a:blip r:embed="rId2"/>
          <a:stretch>
            <a:fillRect/>
          </a:stretch>
        </p:blipFill>
        <p:spPr>
          <a:xfrm>
            <a:off x="593841" y="1209020"/>
            <a:ext cx="5502159" cy="5072510"/>
          </a:xfrm>
          <a:prstGeom prst="rect">
            <a:avLst/>
          </a:prstGeom>
        </p:spPr>
      </p:pic>
      <p:sp>
        <p:nvSpPr>
          <p:cNvPr id="6" name="TextBox 5">
            <a:extLst>
              <a:ext uri="{FF2B5EF4-FFF2-40B4-BE49-F238E27FC236}">
                <a16:creationId xmlns:a16="http://schemas.microsoft.com/office/drawing/2014/main" id="{F2B1B1DC-FECF-494C-B028-7AE8182F7819}"/>
              </a:ext>
            </a:extLst>
          </p:cNvPr>
          <p:cNvSpPr txBox="1"/>
          <p:nvPr/>
        </p:nvSpPr>
        <p:spPr>
          <a:xfrm>
            <a:off x="6467062" y="2398644"/>
            <a:ext cx="4890052" cy="338554"/>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Features are not highly correlated.</a:t>
            </a:r>
          </a:p>
        </p:txBody>
      </p:sp>
    </p:spTree>
    <p:extLst>
      <p:ext uri="{BB962C8B-B14F-4D97-AF65-F5344CB8AC3E}">
        <p14:creationId xmlns:p14="http://schemas.microsoft.com/office/powerpoint/2010/main" val="13427856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612A0BAE-6939-4038-A9E6-80C833745D1E}"/>
              </a:ext>
            </a:extLst>
          </p:cNvPr>
          <p:cNvSpPr/>
          <p:nvPr/>
        </p:nvSpPr>
        <p:spPr>
          <a:xfrm>
            <a:off x="4465983" y="1536192"/>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Outliers</a:t>
            </a:r>
          </a:p>
        </p:txBody>
      </p:sp>
      <p:sp>
        <p:nvSpPr>
          <p:cNvPr id="11" name="Rectangle 10">
            <a:extLst>
              <a:ext uri="{FF2B5EF4-FFF2-40B4-BE49-F238E27FC236}">
                <a16:creationId xmlns:a16="http://schemas.microsoft.com/office/drawing/2014/main" id="{5081BA6B-47E6-4CC3-A0B5-458C677FA04B}"/>
              </a:ext>
            </a:extLst>
          </p:cNvPr>
          <p:cNvSpPr/>
          <p:nvPr/>
        </p:nvSpPr>
        <p:spPr>
          <a:xfrm>
            <a:off x="4465983" y="2614383"/>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Dealing with Skewness</a:t>
            </a:r>
          </a:p>
        </p:txBody>
      </p:sp>
      <p:sp>
        <p:nvSpPr>
          <p:cNvPr id="12" name="Rectangle 11">
            <a:extLst>
              <a:ext uri="{FF2B5EF4-FFF2-40B4-BE49-F238E27FC236}">
                <a16:creationId xmlns:a16="http://schemas.microsoft.com/office/drawing/2014/main" id="{66074C3A-1E77-4F99-B91C-6EE620E69344}"/>
              </a:ext>
            </a:extLst>
          </p:cNvPr>
          <p:cNvSpPr/>
          <p:nvPr/>
        </p:nvSpPr>
        <p:spPr>
          <a:xfrm>
            <a:off x="4465983" y="4777799"/>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Scaling the dataset</a:t>
            </a:r>
          </a:p>
        </p:txBody>
      </p:sp>
      <p:sp>
        <p:nvSpPr>
          <p:cNvPr id="13" name="Rectangle 12">
            <a:extLst>
              <a:ext uri="{FF2B5EF4-FFF2-40B4-BE49-F238E27FC236}">
                <a16:creationId xmlns:a16="http://schemas.microsoft.com/office/drawing/2014/main" id="{1EF8C724-6DA9-4C8C-8A07-57C13467CC92}"/>
              </a:ext>
            </a:extLst>
          </p:cNvPr>
          <p:cNvSpPr/>
          <p:nvPr/>
        </p:nvSpPr>
        <p:spPr>
          <a:xfrm>
            <a:off x="4465983" y="3692574"/>
            <a:ext cx="2782956" cy="6493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latin typeface="Cooper Black" panose="0208090404030B020404" pitchFamily="18" charset="0"/>
              </a:rPr>
              <a:t>Encoding </a:t>
            </a:r>
          </a:p>
        </p:txBody>
      </p:sp>
      <p:cxnSp>
        <p:nvCxnSpPr>
          <p:cNvPr id="14" name="Straight Arrow Connector 13">
            <a:extLst>
              <a:ext uri="{FF2B5EF4-FFF2-40B4-BE49-F238E27FC236}">
                <a16:creationId xmlns:a16="http://schemas.microsoft.com/office/drawing/2014/main" id="{D7514CE0-3061-4B05-84EC-5606D5085901}"/>
              </a:ext>
            </a:extLst>
          </p:cNvPr>
          <p:cNvCxnSpPr>
            <a:stCxn id="4" idx="2"/>
            <a:endCxn id="11" idx="0"/>
          </p:cNvCxnSpPr>
          <p:nvPr/>
        </p:nvCxnSpPr>
        <p:spPr>
          <a:xfrm>
            <a:off x="5857461" y="2185547"/>
            <a:ext cx="0" cy="428836"/>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0BEEF51B-3FC1-486D-8A58-9D5231918164}"/>
              </a:ext>
            </a:extLst>
          </p:cNvPr>
          <p:cNvCxnSpPr/>
          <p:nvPr/>
        </p:nvCxnSpPr>
        <p:spPr>
          <a:xfrm>
            <a:off x="5862762" y="3263738"/>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6" name="Straight Arrow Connector 15">
            <a:extLst>
              <a:ext uri="{FF2B5EF4-FFF2-40B4-BE49-F238E27FC236}">
                <a16:creationId xmlns:a16="http://schemas.microsoft.com/office/drawing/2014/main" id="{EA1AE66A-0240-4394-8480-0C02F5DDDD7D}"/>
              </a:ext>
            </a:extLst>
          </p:cNvPr>
          <p:cNvCxnSpPr/>
          <p:nvPr/>
        </p:nvCxnSpPr>
        <p:spPr>
          <a:xfrm>
            <a:off x="5857461" y="4345446"/>
            <a:ext cx="0" cy="432353"/>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8" name="TextBox 17">
            <a:extLst>
              <a:ext uri="{FF2B5EF4-FFF2-40B4-BE49-F238E27FC236}">
                <a16:creationId xmlns:a16="http://schemas.microsoft.com/office/drawing/2014/main" id="{2CCD4738-8820-431B-909C-F05C92F8D0B4}"/>
              </a:ext>
            </a:extLst>
          </p:cNvPr>
          <p:cNvSpPr txBox="1"/>
          <p:nvPr/>
        </p:nvSpPr>
        <p:spPr>
          <a:xfrm>
            <a:off x="7476877" y="1536192"/>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Using IQR and z-score method, the loss of data is 1.69%.</a:t>
            </a:r>
          </a:p>
        </p:txBody>
      </p:sp>
      <p:sp>
        <p:nvSpPr>
          <p:cNvPr id="21" name="TextBox 20">
            <a:extLst>
              <a:ext uri="{FF2B5EF4-FFF2-40B4-BE49-F238E27FC236}">
                <a16:creationId xmlns:a16="http://schemas.microsoft.com/office/drawing/2014/main" id="{1AC45FEB-2F54-410A-BF52-BAB9D167A453}"/>
              </a:ext>
            </a:extLst>
          </p:cNvPr>
          <p:cNvSpPr txBox="1"/>
          <p:nvPr/>
        </p:nvSpPr>
        <p:spPr>
          <a:xfrm>
            <a:off x="7659757" y="2615184"/>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‘yeo-</a:t>
            </a:r>
            <a:r>
              <a:rPr lang="en-US" sz="1200" dirty="0" err="1">
                <a:solidFill>
                  <a:schemeClr val="bg1"/>
                </a:solidFill>
              </a:rPr>
              <a:t>johnson</a:t>
            </a:r>
            <a:r>
              <a:rPr lang="en-US" sz="1200" dirty="0">
                <a:solidFill>
                  <a:schemeClr val="bg1"/>
                </a:solidFill>
              </a:rPr>
              <a:t>’ method of Power Transformer is used to remove the skewness. </a:t>
            </a:r>
          </a:p>
        </p:txBody>
      </p:sp>
      <p:sp>
        <p:nvSpPr>
          <p:cNvPr id="22" name="TextBox 21">
            <a:extLst>
              <a:ext uri="{FF2B5EF4-FFF2-40B4-BE49-F238E27FC236}">
                <a16:creationId xmlns:a16="http://schemas.microsoft.com/office/drawing/2014/main" id="{06D75AA8-19C0-438F-8D47-B3ACC2395567}"/>
              </a:ext>
            </a:extLst>
          </p:cNvPr>
          <p:cNvSpPr txBox="1"/>
          <p:nvPr/>
        </p:nvSpPr>
        <p:spPr>
          <a:xfrm>
            <a:off x="7858539" y="4777799"/>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‘Standard Scaler’ is used to normalize the dataset.</a:t>
            </a:r>
          </a:p>
        </p:txBody>
      </p:sp>
      <p:sp>
        <p:nvSpPr>
          <p:cNvPr id="24" name="TextBox 23">
            <a:extLst>
              <a:ext uri="{FF2B5EF4-FFF2-40B4-BE49-F238E27FC236}">
                <a16:creationId xmlns:a16="http://schemas.microsoft.com/office/drawing/2014/main" id="{2C7F4091-E587-4C4C-9F2C-1770C98C581D}"/>
              </a:ext>
            </a:extLst>
          </p:cNvPr>
          <p:cNvSpPr txBox="1"/>
          <p:nvPr/>
        </p:nvSpPr>
        <p:spPr>
          <a:xfrm>
            <a:off x="3749040"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Features Engineering</a:t>
            </a:r>
          </a:p>
        </p:txBody>
      </p:sp>
      <p:sp>
        <p:nvSpPr>
          <p:cNvPr id="17" name="TextBox 16">
            <a:extLst>
              <a:ext uri="{FF2B5EF4-FFF2-40B4-BE49-F238E27FC236}">
                <a16:creationId xmlns:a16="http://schemas.microsoft.com/office/drawing/2014/main" id="{6636DDC1-9D67-4DAA-A99C-BF07D5D36333}"/>
              </a:ext>
            </a:extLst>
          </p:cNvPr>
          <p:cNvSpPr txBox="1"/>
          <p:nvPr/>
        </p:nvSpPr>
        <p:spPr>
          <a:xfrm>
            <a:off x="7659757" y="3698699"/>
            <a:ext cx="3670852" cy="461665"/>
          </a:xfrm>
          <a:prstGeom prst="rect">
            <a:avLst/>
          </a:prstGeom>
          <a:noFill/>
        </p:spPr>
        <p:txBody>
          <a:bodyPr wrap="square" rtlCol="0">
            <a:spAutoFit/>
          </a:bodyPr>
          <a:lstStyle/>
          <a:p>
            <a:pPr marL="171450" indent="-171450">
              <a:buFont typeface="Wingdings" panose="05000000000000000000" pitchFamily="2" charset="2"/>
              <a:buChar char="§"/>
            </a:pPr>
            <a:r>
              <a:rPr lang="en-US" sz="1200" dirty="0">
                <a:solidFill>
                  <a:schemeClr val="bg1"/>
                </a:solidFill>
              </a:rPr>
              <a:t>‘Label encoder’ is used for encoding the object column. </a:t>
            </a:r>
          </a:p>
        </p:txBody>
      </p:sp>
    </p:spTree>
    <p:extLst>
      <p:ext uri="{BB962C8B-B14F-4D97-AF65-F5344CB8AC3E}">
        <p14:creationId xmlns:p14="http://schemas.microsoft.com/office/powerpoint/2010/main" val="29344918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4EEF448-B448-493F-BBBF-67682474F23C}"/>
              </a:ext>
            </a:extLst>
          </p:cNvPr>
          <p:cNvSpPr txBox="1"/>
          <p:nvPr/>
        </p:nvSpPr>
        <p:spPr>
          <a:xfrm>
            <a:off x="3666744" y="685800"/>
            <a:ext cx="4709160" cy="523220"/>
          </a:xfrm>
          <a:prstGeom prst="rect">
            <a:avLst/>
          </a:prstGeom>
          <a:noFill/>
        </p:spPr>
        <p:txBody>
          <a:bodyPr wrap="square" rtlCol="0">
            <a:spAutoFit/>
          </a:bodyPr>
          <a:lstStyle/>
          <a:p>
            <a:pPr algn="ctr"/>
            <a:r>
              <a:rPr lang="en-US" sz="2800" b="1" i="1" u="sng" dirty="0">
                <a:solidFill>
                  <a:schemeClr val="bg1"/>
                </a:solidFill>
                <a:latin typeface="Comic Sans MS" panose="030F0702030302020204" pitchFamily="66" charset="0"/>
              </a:rPr>
              <a:t>Model Initiating</a:t>
            </a:r>
          </a:p>
        </p:txBody>
      </p:sp>
      <p:sp>
        <p:nvSpPr>
          <p:cNvPr id="4" name="Rectangle 3">
            <a:extLst>
              <a:ext uri="{FF2B5EF4-FFF2-40B4-BE49-F238E27FC236}">
                <a16:creationId xmlns:a16="http://schemas.microsoft.com/office/drawing/2014/main" id="{9A6AE0D5-2691-4560-B7CB-AEE17B3364BE}"/>
              </a:ext>
            </a:extLst>
          </p:cNvPr>
          <p:cNvSpPr/>
          <p:nvPr/>
        </p:nvSpPr>
        <p:spPr>
          <a:xfrm>
            <a:off x="4618382" y="1536192"/>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Find best Random State </a:t>
            </a:r>
          </a:p>
        </p:txBody>
      </p:sp>
      <p:sp>
        <p:nvSpPr>
          <p:cNvPr id="5" name="Rectangle 4">
            <a:extLst>
              <a:ext uri="{FF2B5EF4-FFF2-40B4-BE49-F238E27FC236}">
                <a16:creationId xmlns:a16="http://schemas.microsoft.com/office/drawing/2014/main" id="{B2476426-E32F-4BF3-A02A-5D91F2AD7ABA}"/>
              </a:ext>
            </a:extLst>
          </p:cNvPr>
          <p:cNvSpPr/>
          <p:nvPr/>
        </p:nvSpPr>
        <p:spPr>
          <a:xfrm>
            <a:off x="4604924" y="3196376"/>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Model Building</a:t>
            </a:r>
          </a:p>
        </p:txBody>
      </p:sp>
      <p:sp>
        <p:nvSpPr>
          <p:cNvPr id="6" name="Rectangle 5">
            <a:extLst>
              <a:ext uri="{FF2B5EF4-FFF2-40B4-BE49-F238E27FC236}">
                <a16:creationId xmlns:a16="http://schemas.microsoft.com/office/drawing/2014/main" id="{7195E926-8D40-494D-A8E3-EB19048A818C}"/>
              </a:ext>
            </a:extLst>
          </p:cNvPr>
          <p:cNvSpPr/>
          <p:nvPr/>
        </p:nvSpPr>
        <p:spPr>
          <a:xfrm>
            <a:off x="4604924" y="4026468"/>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R2 Score</a:t>
            </a:r>
          </a:p>
        </p:txBody>
      </p:sp>
      <p:sp>
        <p:nvSpPr>
          <p:cNvPr id="8" name="Rectangle 7">
            <a:extLst>
              <a:ext uri="{FF2B5EF4-FFF2-40B4-BE49-F238E27FC236}">
                <a16:creationId xmlns:a16="http://schemas.microsoft.com/office/drawing/2014/main" id="{132B6DF1-E61E-4918-B9E4-C3601BB9045F}"/>
              </a:ext>
            </a:extLst>
          </p:cNvPr>
          <p:cNvSpPr/>
          <p:nvPr/>
        </p:nvSpPr>
        <p:spPr>
          <a:xfrm>
            <a:off x="4590597" y="4818888"/>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RMSE Score</a:t>
            </a:r>
          </a:p>
        </p:txBody>
      </p:sp>
      <p:sp>
        <p:nvSpPr>
          <p:cNvPr id="9" name="Rectangle 8">
            <a:extLst>
              <a:ext uri="{FF2B5EF4-FFF2-40B4-BE49-F238E27FC236}">
                <a16:creationId xmlns:a16="http://schemas.microsoft.com/office/drawing/2014/main" id="{AFEAD6C1-2B13-48DA-95DA-3BF2E75BD258}"/>
              </a:ext>
            </a:extLst>
          </p:cNvPr>
          <p:cNvSpPr/>
          <p:nvPr/>
        </p:nvSpPr>
        <p:spPr>
          <a:xfrm>
            <a:off x="4590597" y="5686652"/>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Cross-Validation Score</a:t>
            </a:r>
          </a:p>
        </p:txBody>
      </p:sp>
      <p:sp>
        <p:nvSpPr>
          <p:cNvPr id="10" name="Rectangle 9">
            <a:extLst>
              <a:ext uri="{FF2B5EF4-FFF2-40B4-BE49-F238E27FC236}">
                <a16:creationId xmlns:a16="http://schemas.microsoft.com/office/drawing/2014/main" id="{8A01072B-4FBF-470F-8EF7-FE2896C53DBE}"/>
              </a:ext>
            </a:extLst>
          </p:cNvPr>
          <p:cNvSpPr/>
          <p:nvPr/>
        </p:nvSpPr>
        <p:spPr>
          <a:xfrm>
            <a:off x="4618382" y="2366284"/>
            <a:ext cx="2782956" cy="5029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bg1"/>
                </a:solidFill>
                <a:latin typeface="Cooper Black" panose="0208090404030B020404" pitchFamily="18" charset="0"/>
              </a:rPr>
              <a:t>Split dataset using </a:t>
            </a:r>
            <a:r>
              <a:rPr lang="en-US" sz="1600" dirty="0" err="1">
                <a:solidFill>
                  <a:schemeClr val="bg1"/>
                </a:solidFill>
                <a:latin typeface="Cooper Black" panose="0208090404030B020404" pitchFamily="18" charset="0"/>
              </a:rPr>
              <a:t>Train_Test</a:t>
            </a:r>
            <a:r>
              <a:rPr lang="en-US" sz="1600" dirty="0">
                <a:solidFill>
                  <a:schemeClr val="bg1"/>
                </a:solidFill>
                <a:latin typeface="Cooper Black" panose="0208090404030B020404" pitchFamily="18" charset="0"/>
              </a:rPr>
              <a:t> Split</a:t>
            </a:r>
          </a:p>
        </p:txBody>
      </p:sp>
      <p:cxnSp>
        <p:nvCxnSpPr>
          <p:cNvPr id="11" name="Straight Arrow Connector 10">
            <a:extLst>
              <a:ext uri="{FF2B5EF4-FFF2-40B4-BE49-F238E27FC236}">
                <a16:creationId xmlns:a16="http://schemas.microsoft.com/office/drawing/2014/main" id="{EB3EB430-A950-4B33-B752-2A1E59A45B52}"/>
              </a:ext>
            </a:extLst>
          </p:cNvPr>
          <p:cNvCxnSpPr>
            <a:stCxn id="4" idx="2"/>
            <a:endCxn id="10" idx="0"/>
          </p:cNvCxnSpPr>
          <p:nvPr/>
        </p:nvCxnSpPr>
        <p:spPr>
          <a:xfrm>
            <a:off x="6009860" y="2039112"/>
            <a:ext cx="0" cy="327172"/>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a:extLst>
              <a:ext uri="{FF2B5EF4-FFF2-40B4-BE49-F238E27FC236}">
                <a16:creationId xmlns:a16="http://schemas.microsoft.com/office/drawing/2014/main" id="{16F6D547-5796-41B3-90C9-7FC5D4FE1259}"/>
              </a:ext>
            </a:extLst>
          </p:cNvPr>
          <p:cNvCxnSpPr/>
          <p:nvPr/>
        </p:nvCxnSpPr>
        <p:spPr>
          <a:xfrm>
            <a:off x="5996402" y="2869204"/>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3" name="Straight Arrow Connector 12">
            <a:extLst>
              <a:ext uri="{FF2B5EF4-FFF2-40B4-BE49-F238E27FC236}">
                <a16:creationId xmlns:a16="http://schemas.microsoft.com/office/drawing/2014/main" id="{12AA16DD-827E-4E12-945A-88E1CC45842C}"/>
              </a:ext>
            </a:extLst>
          </p:cNvPr>
          <p:cNvCxnSpPr/>
          <p:nvPr/>
        </p:nvCxnSpPr>
        <p:spPr>
          <a:xfrm>
            <a:off x="5982075" y="3699296"/>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4" name="Straight Arrow Connector 13">
            <a:extLst>
              <a:ext uri="{FF2B5EF4-FFF2-40B4-BE49-F238E27FC236}">
                <a16:creationId xmlns:a16="http://schemas.microsoft.com/office/drawing/2014/main" id="{EAF1A9AD-FAE7-40A6-BEA7-95FAB56FF1EF}"/>
              </a:ext>
            </a:extLst>
          </p:cNvPr>
          <p:cNvCxnSpPr/>
          <p:nvPr/>
        </p:nvCxnSpPr>
        <p:spPr>
          <a:xfrm>
            <a:off x="5982075" y="4529388"/>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9241DFAC-6648-4ED4-A8D0-E227FA2894F5}"/>
              </a:ext>
            </a:extLst>
          </p:cNvPr>
          <p:cNvCxnSpPr/>
          <p:nvPr/>
        </p:nvCxnSpPr>
        <p:spPr>
          <a:xfrm>
            <a:off x="6009860" y="5361053"/>
            <a:ext cx="0" cy="328745"/>
          </a:xfrm>
          <a:prstGeom prst="straightConnector1">
            <a:avLst/>
          </a:prstGeom>
          <a:ln>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660413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4205EFEA-7B53-4F21-BC26-2099BD24EB45}"/>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Scores of All Models</a:t>
            </a:r>
          </a:p>
        </p:txBody>
      </p:sp>
      <p:sp>
        <p:nvSpPr>
          <p:cNvPr id="2" name="TextBox 1">
            <a:extLst>
              <a:ext uri="{FF2B5EF4-FFF2-40B4-BE49-F238E27FC236}">
                <a16:creationId xmlns:a16="http://schemas.microsoft.com/office/drawing/2014/main" id="{669E1A47-61BD-4D25-8D56-BEA0D2466D59}"/>
              </a:ext>
            </a:extLst>
          </p:cNvPr>
          <p:cNvSpPr txBox="1"/>
          <p:nvPr/>
        </p:nvSpPr>
        <p:spPr>
          <a:xfrm>
            <a:off x="1616765" y="5049078"/>
            <a:ext cx="8481392" cy="1077218"/>
          </a:xfrm>
          <a:prstGeom prst="rect">
            <a:avLst/>
          </a:prstGeom>
          <a:noFill/>
        </p:spPr>
        <p:txBody>
          <a:bodyPr wrap="square" rtlCol="0">
            <a:spAutoFit/>
          </a:bodyPr>
          <a:lstStyle/>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R2 score of Random Forest Regressor and XGB Regressor are also good. </a:t>
            </a:r>
            <a:r>
              <a:rPr lang="en-IN" sz="1600" dirty="0">
                <a:solidFill>
                  <a:schemeClr val="bg1"/>
                </a:solidFill>
                <a:latin typeface="Cooper Black" panose="0208090404030B020404" pitchFamily="18" charset="0"/>
              </a:rPr>
              <a:t>The RMSE score of </a:t>
            </a:r>
            <a:r>
              <a:rPr lang="en-US" sz="1600" dirty="0">
                <a:solidFill>
                  <a:schemeClr val="bg1"/>
                </a:solidFill>
                <a:latin typeface="Cooper Black" panose="0208090404030B020404" pitchFamily="18" charset="0"/>
              </a:rPr>
              <a:t>XGB Regressor is less. C</a:t>
            </a:r>
            <a:r>
              <a:rPr lang="en-IN" sz="1600" dirty="0">
                <a:solidFill>
                  <a:schemeClr val="bg1"/>
                </a:solidFill>
                <a:latin typeface="Cooper Black" panose="0208090404030B020404" pitchFamily="18" charset="0"/>
              </a:rPr>
              <a:t>ross validation score is less for </a:t>
            </a:r>
            <a:r>
              <a:rPr lang="en-US" sz="1600" dirty="0">
                <a:solidFill>
                  <a:schemeClr val="bg1"/>
                </a:solidFill>
                <a:latin typeface="Cooper Black" panose="0208090404030B020404" pitchFamily="18" charset="0"/>
              </a:rPr>
              <a:t>XGB Regressor</a:t>
            </a:r>
            <a:r>
              <a:rPr lang="en-IN" sz="1600" dirty="0">
                <a:solidFill>
                  <a:schemeClr val="bg1"/>
                </a:solidFill>
                <a:latin typeface="Cooper Black" panose="0208090404030B020404" pitchFamily="18" charset="0"/>
              </a:rPr>
              <a:t> as compared with Random Forest </a:t>
            </a:r>
            <a:r>
              <a:rPr lang="en-US" sz="1600" dirty="0">
                <a:solidFill>
                  <a:schemeClr val="bg1"/>
                </a:solidFill>
                <a:latin typeface="Cooper Black" panose="0208090404030B020404" pitchFamily="18" charset="0"/>
              </a:rPr>
              <a:t>Regressor</a:t>
            </a:r>
            <a:r>
              <a:rPr lang="en-IN" sz="1600" dirty="0">
                <a:solidFill>
                  <a:schemeClr val="bg1"/>
                </a:solidFill>
                <a:latin typeface="Cooper Black" panose="0208090404030B020404" pitchFamily="18" charset="0"/>
              </a:rPr>
              <a:t>. So, XGB </a:t>
            </a:r>
            <a:r>
              <a:rPr lang="en-US" sz="1600" dirty="0">
                <a:solidFill>
                  <a:schemeClr val="bg1"/>
                </a:solidFill>
                <a:latin typeface="Cooper Black" panose="0208090404030B020404" pitchFamily="18" charset="0"/>
              </a:rPr>
              <a:t>Regressor</a:t>
            </a:r>
            <a:r>
              <a:rPr lang="en-IN" sz="1600" dirty="0">
                <a:solidFill>
                  <a:schemeClr val="bg1"/>
                </a:solidFill>
                <a:latin typeface="Cooper Black" panose="0208090404030B020404" pitchFamily="18" charset="0"/>
              </a:rPr>
              <a:t> is final model on this dataset.</a:t>
            </a:r>
            <a:endParaRPr lang="en-US" sz="1600" dirty="0">
              <a:solidFill>
                <a:schemeClr val="bg1"/>
              </a:solidFill>
              <a:latin typeface="Cooper Black" panose="0208090404030B020404" pitchFamily="18" charset="0"/>
            </a:endParaRPr>
          </a:p>
        </p:txBody>
      </p:sp>
      <p:pic>
        <p:nvPicPr>
          <p:cNvPr id="6" name="Picture 5">
            <a:extLst>
              <a:ext uri="{FF2B5EF4-FFF2-40B4-BE49-F238E27FC236}">
                <a16:creationId xmlns:a16="http://schemas.microsoft.com/office/drawing/2014/main" id="{16D9798B-CE56-4F6D-A42D-FA67782946C6}"/>
              </a:ext>
            </a:extLst>
          </p:cNvPr>
          <p:cNvPicPr>
            <a:picLocks noChangeAspect="1"/>
          </p:cNvPicPr>
          <p:nvPr/>
        </p:nvPicPr>
        <p:blipFill>
          <a:blip r:embed="rId2"/>
          <a:stretch>
            <a:fillRect/>
          </a:stretch>
        </p:blipFill>
        <p:spPr>
          <a:xfrm>
            <a:off x="1113183" y="1590261"/>
            <a:ext cx="9965634" cy="3207026"/>
          </a:xfrm>
          <a:prstGeom prst="rect">
            <a:avLst/>
          </a:prstGeom>
        </p:spPr>
      </p:pic>
    </p:spTree>
    <p:extLst>
      <p:ext uri="{BB962C8B-B14F-4D97-AF65-F5344CB8AC3E}">
        <p14:creationId xmlns:p14="http://schemas.microsoft.com/office/powerpoint/2010/main" val="104288284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D8B7515-0F66-4938-8417-4A0A6615872E}"/>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Hyperparameter Tuning</a:t>
            </a:r>
          </a:p>
        </p:txBody>
      </p:sp>
      <p:sp>
        <p:nvSpPr>
          <p:cNvPr id="2" name="TextBox 1">
            <a:extLst>
              <a:ext uri="{FF2B5EF4-FFF2-40B4-BE49-F238E27FC236}">
                <a16:creationId xmlns:a16="http://schemas.microsoft.com/office/drawing/2014/main" id="{7C15761B-72BA-4824-AEED-FB3A248E983C}"/>
              </a:ext>
            </a:extLst>
          </p:cNvPr>
          <p:cNvSpPr txBox="1"/>
          <p:nvPr/>
        </p:nvSpPr>
        <p:spPr>
          <a:xfrm>
            <a:off x="2796209" y="5208105"/>
            <a:ext cx="6400800" cy="83099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After hyperparameter tuning, I am able to improve the performance.  So, using these best parameters we fitted the model and saved the model.</a:t>
            </a:r>
            <a:endParaRPr lang="en-US" sz="1600" dirty="0">
              <a:solidFill>
                <a:schemeClr val="bg1"/>
              </a:solidFill>
              <a:latin typeface="Cooper Black" panose="0208090404030B020404" pitchFamily="18" charset="0"/>
            </a:endParaRPr>
          </a:p>
        </p:txBody>
      </p:sp>
      <p:pic>
        <p:nvPicPr>
          <p:cNvPr id="6" name="Picture 5">
            <a:extLst>
              <a:ext uri="{FF2B5EF4-FFF2-40B4-BE49-F238E27FC236}">
                <a16:creationId xmlns:a16="http://schemas.microsoft.com/office/drawing/2014/main" id="{AC8D6AED-FC02-4628-9E00-5AD375256A60}"/>
              </a:ext>
            </a:extLst>
          </p:cNvPr>
          <p:cNvPicPr>
            <a:picLocks noChangeAspect="1"/>
          </p:cNvPicPr>
          <p:nvPr/>
        </p:nvPicPr>
        <p:blipFill>
          <a:blip r:embed="rId2"/>
          <a:stretch>
            <a:fillRect/>
          </a:stretch>
        </p:blipFill>
        <p:spPr>
          <a:xfrm>
            <a:off x="1205948" y="1417983"/>
            <a:ext cx="9899374" cy="3697356"/>
          </a:xfrm>
          <a:prstGeom prst="rect">
            <a:avLst/>
          </a:prstGeom>
        </p:spPr>
      </p:pic>
    </p:spTree>
    <p:extLst>
      <p:ext uri="{BB962C8B-B14F-4D97-AF65-F5344CB8AC3E}">
        <p14:creationId xmlns:p14="http://schemas.microsoft.com/office/powerpoint/2010/main" val="335482825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3A47F35-E022-4C78-9FA3-144D680DC022}"/>
              </a:ext>
            </a:extLst>
          </p:cNvPr>
          <p:cNvSpPr txBox="1"/>
          <p:nvPr/>
        </p:nvSpPr>
        <p:spPr>
          <a:xfrm>
            <a:off x="3666744" y="685800"/>
            <a:ext cx="4709160" cy="523220"/>
          </a:xfrm>
          <a:prstGeom prst="rect">
            <a:avLst/>
          </a:prstGeom>
          <a:noFill/>
          <a:ln>
            <a:noFill/>
          </a:ln>
        </p:spPr>
        <p:txBody>
          <a:bodyPr wrap="square" rtlCol="0">
            <a:spAutoFit/>
          </a:bodyPr>
          <a:lstStyle/>
          <a:p>
            <a:pPr algn="ctr"/>
            <a:r>
              <a:rPr lang="en-US" sz="2800" b="1" i="1" u="sng" dirty="0">
                <a:solidFill>
                  <a:schemeClr val="bg1"/>
                </a:solidFill>
                <a:latin typeface="Comic Sans MS" panose="030F0702030302020204" pitchFamily="66" charset="0"/>
              </a:rPr>
              <a:t>Conclusion</a:t>
            </a:r>
          </a:p>
        </p:txBody>
      </p:sp>
      <p:sp>
        <p:nvSpPr>
          <p:cNvPr id="3" name="TextBox 2">
            <a:extLst>
              <a:ext uri="{FF2B5EF4-FFF2-40B4-BE49-F238E27FC236}">
                <a16:creationId xmlns:a16="http://schemas.microsoft.com/office/drawing/2014/main" id="{E9CA2B1B-97D4-4BEB-BFD8-9DCD8A3592EA}"/>
              </a:ext>
            </a:extLst>
          </p:cNvPr>
          <p:cNvSpPr txBox="1"/>
          <p:nvPr/>
        </p:nvSpPr>
        <p:spPr>
          <a:xfrm>
            <a:off x="1789044" y="1895061"/>
            <a:ext cx="9660835" cy="2800767"/>
          </a:xfrm>
          <a:prstGeom prst="rect">
            <a:avLst/>
          </a:prstGeom>
          <a:noFill/>
        </p:spPr>
        <p:txBody>
          <a:bodyPr wrap="square" rtlCol="0">
            <a:spAutoFit/>
          </a:bodyPr>
          <a:lstStyle/>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The ‘Price’ of cars are high when  ‘fuel Type’ as ‘Diesel’, ‘Manufacturing Year’ as 2020, ‘Transmission Type’ as ‘Automatic’, ‘No Of Owner’ as ‘1</a:t>
            </a:r>
            <a:r>
              <a:rPr lang="en-IN" sz="1600" baseline="30000" dirty="0">
                <a:solidFill>
                  <a:schemeClr val="bg1"/>
                </a:solidFill>
                <a:latin typeface="Cooper Black" panose="0208090404030B020404" pitchFamily="18" charset="0"/>
              </a:rPr>
              <a:t>st</a:t>
            </a:r>
            <a:r>
              <a:rPr lang="en-IN" sz="1600" dirty="0">
                <a:solidFill>
                  <a:schemeClr val="bg1"/>
                </a:solidFill>
                <a:latin typeface="Cooper Black" panose="0208090404030B020404" pitchFamily="18" charset="0"/>
              </a:rPr>
              <a: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Cars ‘Km Driven’ between 0 to 10000 are most in counting.</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 ‘Mercedes’ car  are most expensive cars.</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‘Benz GLC Class’ model of ‘Mercedes’ are most expensive model.</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I used total 8 algorithm to build the best model on this dataset. </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Random Forest Regressor and XGB Regressor out of 8 model performed best on this dataset.</a:t>
            </a:r>
          </a:p>
          <a:p>
            <a:pPr marL="285750" indent="-285750">
              <a:buFont typeface="Wingdings" panose="05000000000000000000" pitchFamily="2" charset="2"/>
              <a:buChar char="Ø"/>
            </a:pPr>
            <a:r>
              <a:rPr lang="en-US" sz="1600" dirty="0">
                <a:solidFill>
                  <a:schemeClr val="bg1"/>
                </a:solidFill>
                <a:latin typeface="Cooper Black" panose="0208090404030B020404" pitchFamily="18" charset="0"/>
              </a:rPr>
              <a:t>Comparing both models based on different metrics, </a:t>
            </a:r>
            <a:r>
              <a:rPr lang="en-IN" sz="1600" dirty="0">
                <a:solidFill>
                  <a:schemeClr val="bg1"/>
                </a:solidFill>
                <a:latin typeface="Cooper Black" panose="0208090404030B020404" pitchFamily="18" charset="0"/>
              </a:rPr>
              <a:t>XGB Regressor is final model on this dataset.</a:t>
            </a:r>
          </a:p>
          <a:p>
            <a:pPr marL="285750" indent="-285750">
              <a:buFont typeface="Wingdings" panose="05000000000000000000" pitchFamily="2" charset="2"/>
              <a:buChar char="Ø"/>
            </a:pPr>
            <a:r>
              <a:rPr lang="en-IN" sz="1600" dirty="0">
                <a:solidFill>
                  <a:schemeClr val="bg1"/>
                </a:solidFill>
                <a:latin typeface="Cooper Black" panose="0208090404030B020404" pitchFamily="18" charset="0"/>
              </a:rPr>
              <a:t>XGB Regressor gives 96.38% accurate prediction on test dataset. </a:t>
            </a:r>
            <a:endParaRPr lang="en-US" sz="1600" dirty="0">
              <a:solidFill>
                <a:schemeClr val="bg1"/>
              </a:solidFill>
              <a:latin typeface="Cooper Black" panose="0208090404030B020404" pitchFamily="18" charset="0"/>
            </a:endParaRPr>
          </a:p>
        </p:txBody>
      </p:sp>
    </p:spTree>
    <p:extLst>
      <p:ext uri="{BB962C8B-B14F-4D97-AF65-F5344CB8AC3E}">
        <p14:creationId xmlns:p14="http://schemas.microsoft.com/office/powerpoint/2010/main" val="38849783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8B0D890-D711-4A36-AEE1-D18288C6FE79}"/>
              </a:ext>
            </a:extLst>
          </p:cNvPr>
          <p:cNvSpPr/>
          <p:nvPr/>
        </p:nvSpPr>
        <p:spPr>
          <a:xfrm>
            <a:off x="3139325" y="2967335"/>
            <a:ext cx="5913350" cy="923330"/>
          </a:xfrm>
          <a:prstGeom prst="rect">
            <a:avLst/>
          </a:prstGeom>
          <a:noFill/>
          <a:scene3d>
            <a:camera prst="isometricOffAxis1Right"/>
            <a:lightRig rig="threePt" dir="t"/>
          </a:scene3d>
        </p:spPr>
        <p:txBody>
          <a:bodyPr wrap="none" lIns="91440" tIns="45720" rIns="91440" bIns="45720">
            <a:spAutoFit/>
          </a:bodyPr>
          <a:lstStyle/>
          <a:p>
            <a:pPr algn="ctr"/>
            <a:r>
              <a:rPr lang="en-US" sz="5400" b="1" i="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latin typeface="Cooper Black" panose="0208090404030B020404" pitchFamily="18" charset="0"/>
              </a:rPr>
              <a:t>Thank You………</a:t>
            </a:r>
            <a:endParaRPr lang="en-US" sz="5400" b="1" cap="none" spc="0" dirty="0">
              <a:ln w="12700">
                <a:solidFill>
                  <a:schemeClr val="accent3">
                    <a:lumMod val="50000"/>
                  </a:schemeClr>
                </a:solidFill>
                <a:prstDash val="solid"/>
              </a:ln>
              <a:solidFill>
                <a:schemeClr val="bg1"/>
              </a:solidFill>
              <a:effectLst>
                <a:outerShdw blurRad="38100" dist="38100" dir="2700000" algn="tl">
                  <a:srgbClr val="000000">
                    <a:alpha val="43137"/>
                  </a:srgbClr>
                </a:outerShdw>
              </a:effectLst>
            </a:endParaRPr>
          </a:p>
        </p:txBody>
      </p:sp>
    </p:spTree>
    <p:extLst>
      <p:ext uri="{BB962C8B-B14F-4D97-AF65-F5344CB8AC3E}">
        <p14:creationId xmlns:p14="http://schemas.microsoft.com/office/powerpoint/2010/main" val="42799441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TM02900722[[fn=Ion Boardroom]]</Template>
  <TotalTime>1022</TotalTime>
  <Words>990</Words>
  <Application>Microsoft Office PowerPoint</Application>
  <PresentationFormat>Widescreen</PresentationFormat>
  <Paragraphs>75</Paragraphs>
  <Slides>20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20</vt:i4>
      </vt:variant>
    </vt:vector>
  </HeadingPairs>
  <TitlesOfParts>
    <vt:vector size="27" baseType="lpstr">
      <vt:lpstr>Arial</vt:lpstr>
      <vt:lpstr>Century Gothic</vt:lpstr>
      <vt:lpstr>Comic Sans MS</vt:lpstr>
      <vt:lpstr>Cooper Black</vt:lpstr>
      <vt:lpstr>Wingdings</vt:lpstr>
      <vt:lpstr>Wingdings 3</vt:lpstr>
      <vt:lpstr>Ion Boardroom</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rohit kachhal</dc:creator>
  <cp:lastModifiedBy>rohit kachhal</cp:lastModifiedBy>
  <cp:revision>111</cp:revision>
  <dcterms:created xsi:type="dcterms:W3CDTF">2022-01-23T10:41:27Z</dcterms:created>
  <dcterms:modified xsi:type="dcterms:W3CDTF">2022-02-23T14:24:58Z</dcterms:modified>
</cp:coreProperties>
</file>