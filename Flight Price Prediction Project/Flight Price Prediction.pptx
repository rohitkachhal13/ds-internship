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7" r:id="rId2"/>
    <p:sldId id="256" r:id="rId3"/>
    <p:sldId id="276" r:id="rId4"/>
    <p:sldId id="257" r:id="rId5"/>
    <p:sldId id="298" r:id="rId6"/>
    <p:sldId id="300" r:id="rId7"/>
    <p:sldId id="258" r:id="rId8"/>
    <p:sldId id="297" r:id="rId9"/>
    <p:sldId id="303" r:id="rId10"/>
    <p:sldId id="282" r:id="rId11"/>
    <p:sldId id="285" r:id="rId12"/>
    <p:sldId id="284" r:id="rId13"/>
    <p:sldId id="296" r:id="rId14"/>
    <p:sldId id="316" r:id="rId15"/>
    <p:sldId id="262" r:id="rId16"/>
    <p:sldId id="286" r:id="rId17"/>
    <p:sldId id="287" r:id="rId18"/>
    <p:sldId id="291" r:id="rId19"/>
    <p:sldId id="294" r:id="rId20"/>
    <p:sldId id="295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26-Mar-22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CC65F2B-0827-4778-9267-CC640BF8A202}"/>
              </a:ext>
            </a:extLst>
          </p:cNvPr>
          <p:cNvSpPr txBox="1"/>
          <p:nvPr/>
        </p:nvSpPr>
        <p:spPr>
          <a:xfrm>
            <a:off x="470325" y="4103446"/>
            <a:ext cx="11251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Flight </a:t>
            </a:r>
          </a:p>
          <a:p>
            <a:pPr algn="ctr"/>
            <a:r>
              <a:rPr lang="en-IN" sz="36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Price Prediction</a:t>
            </a:r>
            <a:endParaRPr lang="en-US" sz="3600" b="1" i="1" u="sng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DD962-81A8-4E2F-B65D-CB28F3CD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43000"/>
            <a:ext cx="5584874" cy="296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5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649901-9E01-427B-A949-C036963BBE31}"/>
              </a:ext>
            </a:extLst>
          </p:cNvPr>
          <p:cNvSpPr txBox="1"/>
          <p:nvPr/>
        </p:nvSpPr>
        <p:spPr>
          <a:xfrm>
            <a:off x="609600" y="1536174"/>
            <a:ext cx="10972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Cooper Black" panose="0208090404030B020404" pitchFamily="18" charset="0"/>
              </a:rPr>
              <a:t>Anyone who has booked a flight ticket knows how unexpectedly the prices vary. The cheapest available ticket on a given flight gets more and less expensive over time. This usually happens as an attempt to maximize revenue based on 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Cooper Black" panose="0208090404030B020404" pitchFamily="18" charset="0"/>
              </a:rPr>
              <a:t> Time of purchase patterns (making sure last-minute purchases are expensive)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Cooper Black" panose="0208090404030B020404" pitchFamily="18" charset="0"/>
              </a:rPr>
              <a:t> Keeping the flight as full as they want it (raising prices on a flight which is filling up in order to reduce sales and hold back inventory for those expensive last-minute expensive purchases)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Cooper Black" panose="0208090404030B020404" pitchFamily="18" charset="0"/>
              </a:rPr>
              <a:t>So, I have to work on a project where </a:t>
            </a:r>
            <a:r>
              <a:rPr lang="en-IN" sz="2000" dirty="0" err="1">
                <a:solidFill>
                  <a:schemeClr val="bg1"/>
                </a:solidFill>
                <a:latin typeface="Cooper Black" panose="0208090404030B020404" pitchFamily="18" charset="0"/>
              </a:rPr>
              <a:t>i</a:t>
            </a:r>
            <a:r>
              <a:rPr lang="en-IN" sz="2000" dirty="0">
                <a:solidFill>
                  <a:schemeClr val="bg1"/>
                </a:solidFill>
                <a:latin typeface="Cooper Black" panose="0208090404030B020404" pitchFamily="18" charset="0"/>
              </a:rPr>
              <a:t> collect data of flight fares with other features and work to make a model to predict fares of flights.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2EC31-14AB-4BDC-9434-9A1120EFBF68}"/>
              </a:ext>
            </a:extLst>
          </p:cNvPr>
          <p:cNvSpPr txBox="1"/>
          <p:nvPr/>
        </p:nvSpPr>
        <p:spPr>
          <a:xfrm>
            <a:off x="3670851" y="689113"/>
            <a:ext cx="4664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68057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35D087-26C0-4ABF-B1C9-499F78B02BBB}"/>
              </a:ext>
            </a:extLst>
          </p:cNvPr>
          <p:cNvSpPr txBox="1"/>
          <p:nvPr/>
        </p:nvSpPr>
        <p:spPr>
          <a:xfrm>
            <a:off x="612648" y="1536192"/>
            <a:ext cx="1097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Cooper Black" panose="0208090404030B020404" pitchFamily="18" charset="0"/>
              </a:rPr>
              <a:t>There are 9598 rows and 9 columns in the dataset.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Cooper Black" panose="0208090404030B020404" pitchFamily="18" charset="0"/>
              </a:rPr>
              <a:t>All columns are of object type.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Cooper Black" panose="0208090404030B020404" pitchFamily="18" charset="0"/>
              </a:rPr>
              <a:t>There are no null values in the dataset.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FCADB-A7A9-4916-A89B-435233D38131}"/>
              </a:ext>
            </a:extLst>
          </p:cNvPr>
          <p:cNvSpPr txBox="1"/>
          <p:nvPr/>
        </p:nvSpPr>
        <p:spPr>
          <a:xfrm>
            <a:off x="3749040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About Dataset</a:t>
            </a:r>
            <a:endParaRPr lang="en-US" sz="2000" b="1" i="1" u="sng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99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F53017-EE09-4E94-9328-740E511741D1}"/>
              </a:ext>
            </a:extLst>
          </p:cNvPr>
          <p:cNvSpPr txBox="1"/>
          <p:nvPr/>
        </p:nvSpPr>
        <p:spPr>
          <a:xfrm>
            <a:off x="3749040" y="685800"/>
            <a:ext cx="470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Exploratory Data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94385-502D-4552-9A19-2C768D54D27B}"/>
              </a:ext>
            </a:extLst>
          </p:cNvPr>
          <p:cNvSpPr txBox="1"/>
          <p:nvPr/>
        </p:nvSpPr>
        <p:spPr>
          <a:xfrm>
            <a:off x="536098" y="1332859"/>
            <a:ext cx="6976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a).Univariate Analysis</a:t>
            </a:r>
            <a:r>
              <a:rPr lang="en-US" sz="2400" b="1" i="1" dirty="0">
                <a:solidFill>
                  <a:schemeClr val="bg1"/>
                </a:solidFill>
                <a:latin typeface="Comic Sans MS" panose="030F0702030302020204" pitchFamily="66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B8192-0FAE-4CF1-9B19-3C1178E0B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97" y="1918363"/>
            <a:ext cx="11111951" cy="441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13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B1E9D0-4334-464E-AE0C-974764A0E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48" y="1223889"/>
            <a:ext cx="11057065" cy="50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6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E01E8D-21B1-4723-AB3D-B86F48761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02" y="1336430"/>
            <a:ext cx="11089280" cy="495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86CBD8B-ABA4-4565-B2B4-F6C288FF3F76}"/>
              </a:ext>
            </a:extLst>
          </p:cNvPr>
          <p:cNvSpPr txBox="1"/>
          <p:nvPr/>
        </p:nvSpPr>
        <p:spPr>
          <a:xfrm>
            <a:off x="1615694" y="1589650"/>
            <a:ext cx="8709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From these graph, it is observed that data is not normally distributed.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There is some skewness in the dataset.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Outliers is present in ‘Price’ which is target variable for this dataset.  </a:t>
            </a:r>
          </a:p>
        </p:txBody>
      </p:sp>
    </p:spTree>
    <p:extLst>
      <p:ext uri="{BB962C8B-B14F-4D97-AF65-F5344CB8AC3E}">
        <p14:creationId xmlns:p14="http://schemas.microsoft.com/office/powerpoint/2010/main" val="363341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061520-D551-4895-A6EF-CC89B971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63" y="1184372"/>
            <a:ext cx="5509336" cy="2557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E552EB-BCA9-4DCD-8339-B90B2405C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42006"/>
            <a:ext cx="5509337" cy="25576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B2725E-1BF4-4D0A-9F7B-25E928ED9606}"/>
              </a:ext>
            </a:extLst>
          </p:cNvPr>
          <p:cNvSpPr txBox="1"/>
          <p:nvPr/>
        </p:nvSpPr>
        <p:spPr>
          <a:xfrm>
            <a:off x="6471138" y="1786597"/>
            <a:ext cx="4684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bg1"/>
                </a:solidFill>
                <a:latin typeface="Cooper Black" panose="0208090404030B020404" pitchFamily="18" charset="0"/>
              </a:rPr>
              <a:t>Most of the flight in the dataset is of 'Vistara' followed by 'Air India'.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F8348-4F70-46A9-83C4-50CC943BC94B}"/>
              </a:ext>
            </a:extLst>
          </p:cNvPr>
          <p:cNvSpPr txBox="1"/>
          <p:nvPr/>
        </p:nvSpPr>
        <p:spPr>
          <a:xfrm>
            <a:off x="1139483" y="4684542"/>
            <a:ext cx="4445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The flight with Source location as 'Mumbai' are more in counting compare to 'Bengaluru'.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468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AD0EBE-E033-4260-8DE1-DE5671AC0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30" y="1252025"/>
            <a:ext cx="5537470" cy="2546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ED4B1F-2944-48E2-8DF1-D0FFA521A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98277"/>
            <a:ext cx="5537472" cy="2546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9E18D8-065D-4192-BB06-1774B9203A04}"/>
              </a:ext>
            </a:extLst>
          </p:cNvPr>
          <p:cNvSpPr txBox="1"/>
          <p:nvPr/>
        </p:nvSpPr>
        <p:spPr>
          <a:xfrm>
            <a:off x="6485206" y="1997612"/>
            <a:ext cx="4768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The flight with Destination location as 'Delhi' are most in counting.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DFD7A7-7E21-4E5A-A2EF-526334E53627}"/>
              </a:ext>
            </a:extLst>
          </p:cNvPr>
          <p:cNvSpPr txBox="1"/>
          <p:nvPr/>
        </p:nvSpPr>
        <p:spPr>
          <a:xfrm>
            <a:off x="914400" y="4656407"/>
            <a:ext cx="4290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The flight with 1 stop are most in counting.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64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FC4AA-D2EC-4554-8B03-93FB572E19DF}"/>
              </a:ext>
            </a:extLst>
          </p:cNvPr>
          <p:cNvSpPr txBox="1"/>
          <p:nvPr/>
        </p:nvSpPr>
        <p:spPr>
          <a:xfrm>
            <a:off x="536098" y="1332859"/>
            <a:ext cx="5559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b).bivariate Analysis:</a:t>
            </a:r>
            <a:r>
              <a:rPr lang="en-US" sz="2400" b="1" i="1" dirty="0">
                <a:solidFill>
                  <a:schemeClr val="bg1"/>
                </a:solidFill>
                <a:latin typeface="Comic Sans MS" panose="030F0702030302020204" pitchFamily="66" charset="0"/>
              </a:rPr>
              <a:t> </a:t>
            </a:r>
            <a:endParaRPr lang="en-US" sz="2400" b="1" i="1" u="sng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91749-8F0A-4938-A999-D21FE3D01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98" y="1794525"/>
            <a:ext cx="6552381" cy="45078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F8F517-2B7D-4C6A-9844-C0F59A95794F}"/>
              </a:ext>
            </a:extLst>
          </p:cNvPr>
          <p:cNvSpPr txBox="1"/>
          <p:nvPr/>
        </p:nvSpPr>
        <p:spPr>
          <a:xfrm>
            <a:off x="7371471" y="2912012"/>
            <a:ext cx="4107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>
                <a:solidFill>
                  <a:schemeClr val="bg1"/>
                </a:solidFill>
                <a:latin typeface="Cooper Black" panose="0208090404030B020404" pitchFamily="18" charset="0"/>
              </a:rPr>
              <a:t>'Vistara' flight price are high, followed by 'Air India'.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396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FCDBBA-038C-4174-93C6-DE1BB0445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59" y="1153551"/>
            <a:ext cx="5553642" cy="2560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DB32CC-E1ED-41C9-8A21-E53CD4776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13871"/>
            <a:ext cx="5553641" cy="256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685AAC-0631-48A9-81F0-AA3070F55A1D}"/>
              </a:ext>
            </a:extLst>
          </p:cNvPr>
          <p:cNvSpPr txBox="1"/>
          <p:nvPr/>
        </p:nvSpPr>
        <p:spPr>
          <a:xfrm>
            <a:off x="6625883" y="1814733"/>
            <a:ext cx="4642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Those flight which has Source as 'Bengaluru' having high price.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00170-24FB-4DCF-AF96-DBD69E5A5A78}"/>
              </a:ext>
            </a:extLst>
          </p:cNvPr>
          <p:cNvSpPr txBox="1"/>
          <p:nvPr/>
        </p:nvSpPr>
        <p:spPr>
          <a:xfrm>
            <a:off x="844062" y="4586067"/>
            <a:ext cx="4586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Those flight which has Destination as 'Pune' having high price.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6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4A1D4E-4EBA-412E-BB9A-81B74900B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66" y="1230904"/>
            <a:ext cx="5554934" cy="2563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5B6BAD-9FF1-4264-A81C-00D2DC59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94081"/>
            <a:ext cx="5554933" cy="2563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90ADD1-01A9-4D96-A97D-721422D6EB86}"/>
              </a:ext>
            </a:extLst>
          </p:cNvPr>
          <p:cNvSpPr txBox="1"/>
          <p:nvPr/>
        </p:nvSpPr>
        <p:spPr>
          <a:xfrm>
            <a:off x="6583680" y="2096086"/>
            <a:ext cx="4543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The flights with 2 and 3 stop having high price.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9950A-3FCB-46CE-B579-1701AA956997}"/>
              </a:ext>
            </a:extLst>
          </p:cNvPr>
          <p:cNvSpPr txBox="1"/>
          <p:nvPr/>
        </p:nvSpPr>
        <p:spPr>
          <a:xfrm>
            <a:off x="773723" y="4698609"/>
            <a:ext cx="4642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731DC-57EB-4175-937A-C976897F395D}"/>
              </a:ext>
            </a:extLst>
          </p:cNvPr>
          <p:cNvSpPr txBox="1"/>
          <p:nvPr/>
        </p:nvSpPr>
        <p:spPr>
          <a:xfrm>
            <a:off x="1181686" y="4600135"/>
            <a:ext cx="4107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Tickets are expensive on date 22.</a:t>
            </a:r>
          </a:p>
        </p:txBody>
      </p:sp>
    </p:spTree>
    <p:extLst>
      <p:ext uri="{BB962C8B-B14F-4D97-AF65-F5344CB8AC3E}">
        <p14:creationId xmlns:p14="http://schemas.microsoft.com/office/powerpoint/2010/main" val="48609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255146-3CCD-4883-9AD0-E20D0ECBF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66" y="1241370"/>
            <a:ext cx="5554934" cy="2561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C7924F-359B-45B8-AD69-3FFAFE2C591B}"/>
              </a:ext>
            </a:extLst>
          </p:cNvPr>
          <p:cNvSpPr txBox="1"/>
          <p:nvPr/>
        </p:nvSpPr>
        <p:spPr>
          <a:xfrm>
            <a:off x="6513342" y="1955409"/>
            <a:ext cx="4529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The prices are high if booking is done in same week of journey date.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1C7EC5-E368-4F44-8A1D-2035509B6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766123"/>
            <a:ext cx="5569225" cy="25613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5A6BE6-0561-4689-B57F-6458AB7D2036}"/>
              </a:ext>
            </a:extLst>
          </p:cNvPr>
          <p:cNvSpPr txBox="1"/>
          <p:nvPr/>
        </p:nvSpPr>
        <p:spPr>
          <a:xfrm>
            <a:off x="1378634" y="4684542"/>
            <a:ext cx="3573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In the Morning and Evening, flight tickets are expensive.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91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37F292-C312-4626-BC02-F3DFA5513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53" y="1256491"/>
            <a:ext cx="5569447" cy="2562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D7EBF-0466-45CC-A95D-096C03CA7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18768"/>
            <a:ext cx="5569447" cy="25622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CE9392-A011-4B1C-B6D2-7152B0F4277D}"/>
              </a:ext>
            </a:extLst>
          </p:cNvPr>
          <p:cNvSpPr txBox="1"/>
          <p:nvPr/>
        </p:nvSpPr>
        <p:spPr>
          <a:xfrm>
            <a:off x="6457071" y="1955409"/>
            <a:ext cx="4825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'Vistara' airline price is high when flight has 3 stop.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E6CFD-740E-4D4D-8617-82ED53018967}"/>
              </a:ext>
            </a:extLst>
          </p:cNvPr>
          <p:cNvSpPr txBox="1"/>
          <p:nvPr/>
        </p:nvSpPr>
        <p:spPr>
          <a:xfrm>
            <a:off x="942535" y="4656406"/>
            <a:ext cx="4459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Mumbai to Pune flight ticket are most expensive ticket.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59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F27EAD6-0488-4AFE-AF72-F37062B49B9A}"/>
              </a:ext>
            </a:extLst>
          </p:cNvPr>
          <p:cNvSpPr txBox="1"/>
          <p:nvPr/>
        </p:nvSpPr>
        <p:spPr>
          <a:xfrm>
            <a:off x="541359" y="685800"/>
            <a:ext cx="9685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Correlation matrix of train dataset using Heatmap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FA030B-ED2D-43DA-BFAD-B6368814035C}"/>
              </a:ext>
            </a:extLst>
          </p:cNvPr>
          <p:cNvSpPr txBox="1"/>
          <p:nvPr/>
        </p:nvSpPr>
        <p:spPr>
          <a:xfrm>
            <a:off x="8173330" y="2222695"/>
            <a:ext cx="32918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Cooper Black" panose="0208090404030B020404" pitchFamily="18" charset="0"/>
              </a:rPr>
              <a:t>Multicollinearity is not present in features of  dataset.</a:t>
            </a:r>
            <a:endParaRPr lang="en-US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2F02FF-41A8-4C26-A9AE-0D0314D1A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59" y="1209020"/>
            <a:ext cx="7631971" cy="510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85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2A0BAE-6939-4038-A9E6-80C833745D1E}"/>
              </a:ext>
            </a:extLst>
          </p:cNvPr>
          <p:cNvSpPr/>
          <p:nvPr/>
        </p:nvSpPr>
        <p:spPr>
          <a:xfrm>
            <a:off x="4465983" y="1536192"/>
            <a:ext cx="2782956" cy="649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Dealing with Outliers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1BA6B-47E6-4CC3-A0B5-458C677FA04B}"/>
              </a:ext>
            </a:extLst>
          </p:cNvPr>
          <p:cNvSpPr/>
          <p:nvPr/>
        </p:nvSpPr>
        <p:spPr>
          <a:xfrm>
            <a:off x="4465983" y="2846016"/>
            <a:ext cx="2782956" cy="649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Dealing with Skewness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8C724-6DA9-4C8C-8A07-57C13467CC92}"/>
              </a:ext>
            </a:extLst>
          </p:cNvPr>
          <p:cNvSpPr/>
          <p:nvPr/>
        </p:nvSpPr>
        <p:spPr>
          <a:xfrm>
            <a:off x="4465983" y="4269349"/>
            <a:ext cx="2782956" cy="649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Encoding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514CE0-3061-4B05-84EC-5606D5085901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5857461" y="2185547"/>
            <a:ext cx="0" cy="66046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BEEF51B-3FC1-486D-8A58-9D5231918164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5857461" y="3495371"/>
            <a:ext cx="0" cy="7739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CCD4738-8820-431B-909C-F05C92F8D0B4}"/>
              </a:ext>
            </a:extLst>
          </p:cNvPr>
          <p:cNvSpPr txBox="1"/>
          <p:nvPr/>
        </p:nvSpPr>
        <p:spPr>
          <a:xfrm>
            <a:off x="7659757" y="1700334"/>
            <a:ext cx="367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</a:rPr>
              <a:t>Only target has outliers. So, no need to worry about it.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C45FEB-2F54-410A-BF52-BAB9D167A453}"/>
              </a:ext>
            </a:extLst>
          </p:cNvPr>
          <p:cNvSpPr txBox="1"/>
          <p:nvPr/>
        </p:nvSpPr>
        <p:spPr>
          <a:xfrm>
            <a:off x="7659757" y="2939395"/>
            <a:ext cx="3670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</a:rPr>
              <a:t>Skewness is also not present in the dataset.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7F4091-E587-4C4C-9F2C-1770C98C581D}"/>
              </a:ext>
            </a:extLst>
          </p:cNvPr>
          <p:cNvSpPr txBox="1"/>
          <p:nvPr/>
        </p:nvSpPr>
        <p:spPr>
          <a:xfrm>
            <a:off x="3749040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Features Engineering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36DDC1-9D67-4DAA-A99C-BF07D5D36333}"/>
              </a:ext>
            </a:extLst>
          </p:cNvPr>
          <p:cNvSpPr txBox="1"/>
          <p:nvPr/>
        </p:nvSpPr>
        <p:spPr>
          <a:xfrm>
            <a:off x="7659757" y="4269349"/>
            <a:ext cx="3670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</a:rPr>
              <a:t>‘Label encoder’ is used for encoding the object column. </a:t>
            </a:r>
          </a:p>
        </p:txBody>
      </p:sp>
    </p:spTree>
    <p:extLst>
      <p:ext uri="{BB962C8B-B14F-4D97-AF65-F5344CB8AC3E}">
        <p14:creationId xmlns:p14="http://schemas.microsoft.com/office/powerpoint/2010/main" val="2934491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EEF448-B448-493F-BBBF-67682474F23C}"/>
              </a:ext>
            </a:extLst>
          </p:cNvPr>
          <p:cNvSpPr txBox="1"/>
          <p:nvPr/>
        </p:nvSpPr>
        <p:spPr>
          <a:xfrm>
            <a:off x="3666744" y="685800"/>
            <a:ext cx="4709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Model Initiating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AE0D5-2691-4560-B7CB-AEE17B3364BE}"/>
              </a:ext>
            </a:extLst>
          </p:cNvPr>
          <p:cNvSpPr/>
          <p:nvPr/>
        </p:nvSpPr>
        <p:spPr>
          <a:xfrm>
            <a:off x="4629846" y="1207447"/>
            <a:ext cx="2782956" cy="42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Find best Random State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476426-E32F-4BF3-A02A-5D91F2AD7ABA}"/>
              </a:ext>
            </a:extLst>
          </p:cNvPr>
          <p:cNvSpPr/>
          <p:nvPr/>
        </p:nvSpPr>
        <p:spPr>
          <a:xfrm>
            <a:off x="4629846" y="3670263"/>
            <a:ext cx="2782956" cy="502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Model Building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95E926-8D40-494D-A8E3-EB19048A818C}"/>
              </a:ext>
            </a:extLst>
          </p:cNvPr>
          <p:cNvSpPr/>
          <p:nvPr/>
        </p:nvSpPr>
        <p:spPr>
          <a:xfrm>
            <a:off x="4629846" y="4331428"/>
            <a:ext cx="2782956" cy="502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R2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B6DF1-E61E-4918-B9E4-C3601BB9045F}"/>
              </a:ext>
            </a:extLst>
          </p:cNvPr>
          <p:cNvSpPr/>
          <p:nvPr/>
        </p:nvSpPr>
        <p:spPr>
          <a:xfrm>
            <a:off x="4629846" y="5019364"/>
            <a:ext cx="2782956" cy="502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RMSE Score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EAD6C1-2B13-48DA-95DA-3BF2E75BD258}"/>
              </a:ext>
            </a:extLst>
          </p:cNvPr>
          <p:cNvSpPr/>
          <p:nvPr/>
        </p:nvSpPr>
        <p:spPr>
          <a:xfrm>
            <a:off x="4629846" y="5707300"/>
            <a:ext cx="2782956" cy="502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Cross-Validation 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01072B-4FBF-470F-8EF7-FE2896C53DBE}"/>
              </a:ext>
            </a:extLst>
          </p:cNvPr>
          <p:cNvSpPr/>
          <p:nvPr/>
        </p:nvSpPr>
        <p:spPr>
          <a:xfrm>
            <a:off x="4629846" y="1818722"/>
            <a:ext cx="2782956" cy="425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Split dataset using </a:t>
            </a:r>
            <a:r>
              <a:rPr lang="en-US" sz="1600" dirty="0" err="1">
                <a:solidFill>
                  <a:schemeClr val="bg1"/>
                </a:solidFill>
                <a:latin typeface="Cooper Black" panose="0208090404030B020404" pitchFamily="18" charset="0"/>
              </a:rPr>
              <a:t>Train_Test</a:t>
            </a:r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 Split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3EB430-A950-4B33-B752-2A1E59A45B52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6021324" y="1633112"/>
            <a:ext cx="0" cy="18561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F6D547-5796-41B3-90C9-7FC5D4FE1259}"/>
              </a:ext>
            </a:extLst>
          </p:cNvPr>
          <p:cNvCxnSpPr>
            <a:cxnSpLocks/>
          </p:cNvCxnSpPr>
          <p:nvPr/>
        </p:nvCxnSpPr>
        <p:spPr>
          <a:xfrm>
            <a:off x="5993540" y="2244387"/>
            <a:ext cx="0" cy="1782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AA16DD-827E-4E12-945A-88E1CC45842C}"/>
              </a:ext>
            </a:extLst>
          </p:cNvPr>
          <p:cNvCxnSpPr>
            <a:cxnSpLocks/>
          </p:cNvCxnSpPr>
          <p:nvPr/>
        </p:nvCxnSpPr>
        <p:spPr>
          <a:xfrm>
            <a:off x="5982075" y="3539831"/>
            <a:ext cx="0" cy="169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F1A9AD-FAE7-40A6-BEA7-95FAB56FF1EF}"/>
              </a:ext>
            </a:extLst>
          </p:cNvPr>
          <p:cNvCxnSpPr>
            <a:cxnSpLocks/>
          </p:cNvCxnSpPr>
          <p:nvPr/>
        </p:nvCxnSpPr>
        <p:spPr>
          <a:xfrm>
            <a:off x="5982075" y="4173183"/>
            <a:ext cx="0" cy="1643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41DFAC-6648-4ED4-A8D0-E227FA2894F5}"/>
              </a:ext>
            </a:extLst>
          </p:cNvPr>
          <p:cNvCxnSpPr>
            <a:cxnSpLocks/>
          </p:cNvCxnSpPr>
          <p:nvPr/>
        </p:nvCxnSpPr>
        <p:spPr>
          <a:xfrm flipH="1">
            <a:off x="5979471" y="4824180"/>
            <a:ext cx="2604" cy="18678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0FD48E9-AAA0-4291-B5F4-7F72F7EA1FCA}"/>
              </a:ext>
            </a:extLst>
          </p:cNvPr>
          <p:cNvSpPr/>
          <p:nvPr/>
        </p:nvSpPr>
        <p:spPr>
          <a:xfrm>
            <a:off x="4629846" y="2434423"/>
            <a:ext cx="2782956" cy="4156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Scaling the dataset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679627-7D80-4460-B98D-D2894B3C3F78}"/>
              </a:ext>
            </a:extLst>
          </p:cNvPr>
          <p:cNvCxnSpPr>
            <a:cxnSpLocks/>
          </p:cNvCxnSpPr>
          <p:nvPr/>
        </p:nvCxnSpPr>
        <p:spPr>
          <a:xfrm>
            <a:off x="5993540" y="2850025"/>
            <a:ext cx="0" cy="18688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F34BF54-A35A-420F-A5FC-B52C063BCF78}"/>
              </a:ext>
            </a:extLst>
          </p:cNvPr>
          <p:cNvSpPr/>
          <p:nvPr/>
        </p:nvSpPr>
        <p:spPr>
          <a:xfrm>
            <a:off x="4629846" y="3036911"/>
            <a:ext cx="2782956" cy="502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Removing Multicollinearity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956F069-32A2-4E7F-9D2B-70A87FBE1E11}"/>
              </a:ext>
            </a:extLst>
          </p:cNvPr>
          <p:cNvCxnSpPr>
            <a:cxnSpLocks/>
          </p:cNvCxnSpPr>
          <p:nvPr/>
        </p:nvCxnSpPr>
        <p:spPr>
          <a:xfrm>
            <a:off x="5965755" y="5521422"/>
            <a:ext cx="0" cy="18587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041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05EFEA-7B53-4F21-BC26-2099BD24EB45}"/>
              </a:ext>
            </a:extLst>
          </p:cNvPr>
          <p:cNvSpPr txBox="1"/>
          <p:nvPr/>
        </p:nvSpPr>
        <p:spPr>
          <a:xfrm>
            <a:off x="3666744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Scores of All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9E1A47-61BD-4D25-8D56-BEA0D2466D59}"/>
              </a:ext>
            </a:extLst>
          </p:cNvPr>
          <p:cNvSpPr txBox="1"/>
          <p:nvPr/>
        </p:nvSpPr>
        <p:spPr>
          <a:xfrm>
            <a:off x="1616765" y="4755682"/>
            <a:ext cx="9229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From the above figure, Random Forest Regressor &amp; XGB Regressor have best R2 Score. The RMSE of Random Forest Regressor is less in compare to all. Based on R2 score &amp; RMSE both model are good and also their cv score is better than other. CV score of XGB Regressor is less. So, I am choosing XGB Regressor as model for this data set because XGB Regressor has better r2 score, less RMSE score and good cross validation score.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F64624-8F04-4589-96B3-62AC7538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66" y="1485629"/>
            <a:ext cx="9229424" cy="290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82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8B7515-0F66-4938-8417-4A0A6615872E}"/>
              </a:ext>
            </a:extLst>
          </p:cNvPr>
          <p:cNvSpPr txBox="1"/>
          <p:nvPr/>
        </p:nvSpPr>
        <p:spPr>
          <a:xfrm>
            <a:off x="3666744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Hyperparameter Tuning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15761B-72BA-4824-AEED-FB3A248E983C}"/>
              </a:ext>
            </a:extLst>
          </p:cNvPr>
          <p:cNvSpPr txBox="1"/>
          <p:nvPr/>
        </p:nvSpPr>
        <p:spPr>
          <a:xfrm>
            <a:off x="2796209" y="5208105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After hyperparameter tuning, I am able to improve the performance of my model. So fitted the model using best parameter to improve the performance of model.</a:t>
            </a: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B4779E-EB30-409E-91CA-103CA0BAA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09" y="1350498"/>
            <a:ext cx="10072468" cy="360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28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A47F35-E022-4C78-9FA3-144D680DC022}"/>
              </a:ext>
            </a:extLst>
          </p:cNvPr>
          <p:cNvSpPr txBox="1"/>
          <p:nvPr/>
        </p:nvSpPr>
        <p:spPr>
          <a:xfrm>
            <a:off x="3666744" y="685800"/>
            <a:ext cx="470916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  <a:latin typeface="Comic Sans MS" panose="030F0702030302020204" pitchFamily="66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CA2B1B-97D4-4BEB-BFD8-9DCD8A3592EA}"/>
              </a:ext>
            </a:extLst>
          </p:cNvPr>
          <p:cNvSpPr txBox="1"/>
          <p:nvPr/>
        </p:nvSpPr>
        <p:spPr>
          <a:xfrm>
            <a:off x="1789044" y="1895061"/>
            <a:ext cx="96608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I used total 9 algorithm to build the best model on this dataset.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Random Forest Regressor and XGB Regressor out of 8 model performed best on this dataset.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ooper Black" panose="0208090404030B020404" pitchFamily="18" charset="0"/>
              </a:rPr>
              <a:t>Comparing both models based on different metrics, </a:t>
            </a: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XGB Regressor  is final model on this dataset.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XGB Regressor gives 89.75% accurate prediction on dataset.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Airfares change during the morning and evening time of the day.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Airfares move in large jumps in the morning and evening time of the day.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Airfares are smallest when flight depart at 3 AM, after that fares go up.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Early morning and late night time are the best time to buy cheapest ticket.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Price increase as customers booked the ticket near to departure date i.e. last minute ticket are most expensive one.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Indigo is cheaper than Vistara and Air India Airways. AirAsia is cheapest flight.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Cooper Black" panose="0208090404030B020404" pitchFamily="18" charset="0"/>
              </a:rPr>
              <a:t>Not all morning flights are expensive because 3 AM flights are smallest fare flights.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978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B0D890-D711-4A36-AEE1-D18288C6FE79}"/>
              </a:ext>
            </a:extLst>
          </p:cNvPr>
          <p:cNvSpPr/>
          <p:nvPr/>
        </p:nvSpPr>
        <p:spPr>
          <a:xfrm>
            <a:off x="3139325" y="2967335"/>
            <a:ext cx="5913350" cy="923330"/>
          </a:xfrm>
          <a:prstGeom prst="rect">
            <a:avLst/>
          </a:prstGeom>
          <a:noFill/>
          <a:scene3d>
            <a:camera prst="isometricOffAxis1Right"/>
            <a:lightRig rig="threePt" dir="t"/>
          </a:scene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Thank You………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9944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1483</TotalTime>
  <Words>743</Words>
  <Application>Microsoft Office PowerPoint</Application>
  <PresentationFormat>Widescreen</PresentationFormat>
  <Paragraphs>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Century Gothic</vt:lpstr>
      <vt:lpstr>Comic Sans MS</vt:lpstr>
      <vt:lpstr>Cooper Black</vt:lpstr>
      <vt:lpstr>Wingdings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rohit kachhal</dc:creator>
  <cp:lastModifiedBy>rohit kachhal</cp:lastModifiedBy>
  <cp:revision>147</cp:revision>
  <dcterms:created xsi:type="dcterms:W3CDTF">2022-01-23T10:41:27Z</dcterms:created>
  <dcterms:modified xsi:type="dcterms:W3CDTF">2022-03-26T17:52:01Z</dcterms:modified>
</cp:coreProperties>
</file>